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Region-2 tiles remain exchanged: the tile under the Photo-SLAM display position comes from Ours; the tile under the Ours display position comes from Photo-SLAM. Detail labels are intentionally omitted for manual annotation.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39801" y="1345844"/>
            <a:ext cx="5112091" cy="2657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8" b="1">
                <a:solidFill>
                  <a:srgbClr val="20282C"/>
                </a:solidFill>
                <a:latin typeface="DejaVu Sans"/>
              </a:rPr>
              <a:t>Real-data reconstruction and matched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3573" y="1810060"/>
            <a:ext cx="1160006" cy="2325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6" b="0">
                <a:solidFill>
                  <a:srgbClr val="20282C"/>
                </a:solidFill>
                <a:latin typeface="DejaVu Sans"/>
              </a:rPr>
              <a:t>Ground truth</a:t>
            </a:r>
          </a:p>
        </p:txBody>
      </p:sp>
      <p:pic>
        <p:nvPicPr>
          <p:cNvPr id="4" name="Picture 3" descr="desk_24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3" y="2182090"/>
            <a:ext cx="2713625" cy="20352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0044" y="344138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8002" y="3451685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0777" y="235169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8735" y="2361994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9510" y="1810060"/>
            <a:ext cx="1071159" cy="2325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6" b="0">
                <a:solidFill>
                  <a:srgbClr val="20282C"/>
                </a:solidFill>
                <a:latin typeface="DejaVu Sans"/>
              </a:rPr>
              <a:t>Photo-SLAM</a:t>
            </a:r>
          </a:p>
        </p:txBody>
      </p:sp>
      <p:pic>
        <p:nvPicPr>
          <p:cNvPr id="10" name="Picture 9" descr="desk_24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277" y="2182090"/>
            <a:ext cx="2713625" cy="20352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11558" y="344138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516" y="3451685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2291" y="235169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0249" y="2361994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6760" y="1810060"/>
            <a:ext cx="759689" cy="2325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6" b="0">
                <a:solidFill>
                  <a:srgbClr val="20282C"/>
                </a:solidFill>
                <a:latin typeface="DejaVu Sans"/>
              </a:rPr>
              <a:t>MonoGS</a:t>
            </a:r>
          </a:p>
        </p:txBody>
      </p:sp>
      <p:pic>
        <p:nvPicPr>
          <p:cNvPr id="16" name="Picture 15" descr="desk_24_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791" y="2182090"/>
            <a:ext cx="2713625" cy="203521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53072" y="344138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1030" y="3451685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3805" y="235169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763" y="2361994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5982" y="1810060"/>
            <a:ext cx="464272" cy="2325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6" b="0">
                <a:solidFill>
                  <a:srgbClr val="167568"/>
                </a:solidFill>
                <a:latin typeface="DejaVu Sans"/>
              </a:rPr>
              <a:t>Ours</a:t>
            </a:r>
          </a:p>
        </p:txBody>
      </p:sp>
      <p:pic>
        <p:nvPicPr>
          <p:cNvPr id="22" name="Picture 21" descr="desk_24_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05" y="2182090"/>
            <a:ext cx="2713625" cy="203521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094586" y="344138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2544" y="3451685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85319" y="2351692"/>
            <a:ext cx="678406" cy="508804"/>
          </a:xfrm>
          <a:prstGeom prst="rect">
            <a:avLst/>
          </a:prstGeom>
          <a:noFill/>
          <a:ln w="15541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277" y="2361994"/>
            <a:ext cx="447608" cy="1872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3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grpSp>
        <p:nvGrpSpPr>
          <p:cNvPr id="51" name="Detail 1: Ground truth (display slot gt)"/>
          <p:cNvGrpSpPr/>
          <p:nvPr/>
        </p:nvGrpSpPr>
        <p:grpSpPr>
          <a:xfrm>
            <a:off x="476763" y="4755839"/>
            <a:ext cx="1308854" cy="981641"/>
            <a:chOff x="476763" y="4755839"/>
            <a:chExt cx="1308854" cy="981641"/>
          </a:xfrm>
        </p:grpSpPr>
        <p:pic>
          <p:nvPicPr>
            <p:cNvPr id="27" name="Picture 26" descr="desk_24_gt.png"/>
            <p:cNvPicPr>
              <a:picLocks noChangeAspect="1"/>
            </p:cNvPicPr>
            <p:nvPr/>
          </p:nvPicPr>
          <p:blipFill>
            <a:blip r:embed="rId2"/>
            <a:srcRect l="3438" r="71562" t="61875" b="13125"/>
            <a:stretch>
              <a:fillRect/>
            </a:stretch>
          </p:blipFill>
          <p:spPr>
            <a:xfrm>
              <a:off x="476763" y="4755839"/>
              <a:ext cx="1308854" cy="981641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476763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2714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</p:grpSp>
      <p:grpSp>
        <p:nvGrpSpPr>
          <p:cNvPr id="52" name="Detail 2: Ground truth (display slot gt)"/>
          <p:cNvGrpSpPr/>
          <p:nvPr/>
        </p:nvGrpSpPr>
        <p:grpSpPr>
          <a:xfrm>
            <a:off x="1881534" y="4755839"/>
            <a:ext cx="1308854" cy="981641"/>
            <a:chOff x="1881534" y="4755839"/>
            <a:chExt cx="1308854" cy="981641"/>
          </a:xfrm>
        </p:grpSpPr>
        <p:pic>
          <p:nvPicPr>
            <p:cNvPr id="30" name="Picture 29" descr="desk_24_gt.png"/>
            <p:cNvPicPr>
              <a:picLocks noChangeAspect="1"/>
            </p:cNvPicPr>
            <p:nvPr/>
          </p:nvPicPr>
          <p:blipFill>
            <a:blip r:embed="rId2"/>
            <a:srcRect l="54688" r="20312" t="8333" b="66667"/>
            <a:stretch>
              <a:fillRect/>
            </a:stretch>
          </p:blipFill>
          <p:spPr>
            <a:xfrm>
              <a:off x="1881534" y="4755839"/>
              <a:ext cx="1308854" cy="981641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1881534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37485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</p:grpSp>
      <p:grpSp>
        <p:nvGrpSpPr>
          <p:cNvPr id="53" name="Detail 1: Photo-SLAM (display slot photo)"/>
          <p:cNvGrpSpPr/>
          <p:nvPr/>
        </p:nvGrpSpPr>
        <p:grpSpPr>
          <a:xfrm>
            <a:off x="3318277" y="4755839"/>
            <a:ext cx="1308854" cy="981641"/>
            <a:chOff x="3318277" y="4755839"/>
            <a:chExt cx="1308854" cy="981641"/>
          </a:xfrm>
        </p:grpSpPr>
        <p:pic>
          <p:nvPicPr>
            <p:cNvPr id="33" name="Picture 32" descr="desk_24_photo.png"/>
            <p:cNvPicPr>
              <a:picLocks noChangeAspect="1"/>
            </p:cNvPicPr>
            <p:nvPr/>
          </p:nvPicPr>
          <p:blipFill>
            <a:blip r:embed="rId3"/>
            <a:srcRect l="3438" r="71562" t="61875" b="13125"/>
            <a:stretch>
              <a:fillRect/>
            </a:stretch>
          </p:blipFill>
          <p:spPr>
            <a:xfrm>
              <a:off x="3318277" y="4755839"/>
              <a:ext cx="1308854" cy="981641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3318277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74228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</p:grpSp>
      <p:grpSp>
        <p:nvGrpSpPr>
          <p:cNvPr id="54" name="Detail 2: Ours (display slot photo)"/>
          <p:cNvGrpSpPr/>
          <p:nvPr/>
        </p:nvGrpSpPr>
        <p:grpSpPr>
          <a:xfrm>
            <a:off x="4723048" y="4755839"/>
            <a:ext cx="1308854" cy="981641"/>
            <a:chOff x="4723048" y="4755839"/>
            <a:chExt cx="1308854" cy="981641"/>
          </a:xfrm>
        </p:grpSpPr>
        <p:pic>
          <p:nvPicPr>
            <p:cNvPr id="36" name="Picture 35" descr="desk_24_ours.png"/>
            <p:cNvPicPr>
              <a:picLocks noChangeAspect="1"/>
            </p:cNvPicPr>
            <p:nvPr/>
          </p:nvPicPr>
          <p:blipFill>
            <a:blip r:embed="rId5"/>
            <a:srcRect l="54688" r="20312" t="8333" b="66667"/>
            <a:stretch>
              <a:fillRect/>
            </a:stretch>
          </p:blipFill>
          <p:spPr>
            <a:xfrm>
              <a:off x="4723048" y="4755839"/>
              <a:ext cx="1308854" cy="981641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4723048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78999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</p:grpSp>
      <p:grpSp>
        <p:nvGrpSpPr>
          <p:cNvPr id="55" name="Detail 1: MonoGS (display slot mono)"/>
          <p:cNvGrpSpPr/>
          <p:nvPr/>
        </p:nvGrpSpPr>
        <p:grpSpPr>
          <a:xfrm>
            <a:off x="6159791" y="4755839"/>
            <a:ext cx="1308854" cy="981641"/>
            <a:chOff x="6159791" y="4755839"/>
            <a:chExt cx="1308854" cy="981641"/>
          </a:xfrm>
        </p:grpSpPr>
        <p:pic>
          <p:nvPicPr>
            <p:cNvPr id="39" name="Picture 38" descr="desk_24_mono.png"/>
            <p:cNvPicPr>
              <a:picLocks noChangeAspect="1"/>
            </p:cNvPicPr>
            <p:nvPr/>
          </p:nvPicPr>
          <p:blipFill>
            <a:blip r:embed="rId4"/>
            <a:srcRect l="3438" r="71562" t="61875" b="13125"/>
            <a:stretch>
              <a:fillRect/>
            </a:stretch>
          </p:blipFill>
          <p:spPr>
            <a:xfrm>
              <a:off x="6159791" y="4755839"/>
              <a:ext cx="1308854" cy="981641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6159791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215742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</p:grpSp>
      <p:grpSp>
        <p:nvGrpSpPr>
          <p:cNvPr id="56" name="Detail 2: MonoGS (display slot mono)"/>
          <p:cNvGrpSpPr/>
          <p:nvPr/>
        </p:nvGrpSpPr>
        <p:grpSpPr>
          <a:xfrm>
            <a:off x="7564562" y="4755839"/>
            <a:ext cx="1308854" cy="981641"/>
            <a:chOff x="7564562" y="4755839"/>
            <a:chExt cx="1308854" cy="981641"/>
          </a:xfrm>
        </p:grpSpPr>
        <p:pic>
          <p:nvPicPr>
            <p:cNvPr id="42" name="Picture 41" descr="desk_24_mono.png"/>
            <p:cNvPicPr>
              <a:picLocks noChangeAspect="1"/>
            </p:cNvPicPr>
            <p:nvPr/>
          </p:nvPicPr>
          <p:blipFill>
            <a:blip r:embed="rId4"/>
            <a:srcRect l="54688" r="20312" t="8333" b="66667"/>
            <a:stretch>
              <a:fillRect/>
            </a:stretch>
          </p:blipFill>
          <p:spPr>
            <a:xfrm>
              <a:off x="7564562" y="4755839"/>
              <a:ext cx="1308854" cy="981641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7564562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620513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</p:grpSp>
      <p:grpSp>
        <p:nvGrpSpPr>
          <p:cNvPr id="57" name="Detail 1: Ours (display slot ours)"/>
          <p:cNvGrpSpPr/>
          <p:nvPr/>
        </p:nvGrpSpPr>
        <p:grpSpPr>
          <a:xfrm>
            <a:off x="9001305" y="4755839"/>
            <a:ext cx="1308854" cy="981641"/>
            <a:chOff x="9001305" y="4755839"/>
            <a:chExt cx="1308854" cy="981641"/>
          </a:xfrm>
        </p:grpSpPr>
        <p:pic>
          <p:nvPicPr>
            <p:cNvPr id="45" name="Picture 44" descr="desk_24_ours.png"/>
            <p:cNvPicPr>
              <a:picLocks noChangeAspect="1"/>
            </p:cNvPicPr>
            <p:nvPr/>
          </p:nvPicPr>
          <p:blipFill>
            <a:blip r:embed="rId5"/>
            <a:srcRect l="3438" r="71562" t="61875" b="13125"/>
            <a:stretch>
              <a:fillRect/>
            </a:stretch>
          </p:blipFill>
          <p:spPr>
            <a:xfrm>
              <a:off x="9001305" y="4755839"/>
              <a:ext cx="1308854" cy="981641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9001305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57256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</p:grpSp>
      <p:grpSp>
        <p:nvGrpSpPr>
          <p:cNvPr id="58" name="Detail 2: Photo-SLAM (display slot ours)"/>
          <p:cNvGrpSpPr/>
          <p:nvPr/>
        </p:nvGrpSpPr>
        <p:grpSpPr>
          <a:xfrm>
            <a:off x="10406076" y="4755839"/>
            <a:ext cx="1308854" cy="981641"/>
            <a:chOff x="10406076" y="4755839"/>
            <a:chExt cx="1308854" cy="981641"/>
          </a:xfrm>
        </p:grpSpPr>
        <p:pic>
          <p:nvPicPr>
            <p:cNvPr id="48" name="Picture 47" descr="desk_24_photo.png"/>
            <p:cNvPicPr>
              <a:picLocks noChangeAspect="1"/>
            </p:cNvPicPr>
            <p:nvPr/>
          </p:nvPicPr>
          <p:blipFill>
            <a:blip r:embed="rId3"/>
            <a:srcRect l="54688" r="20312" t="8333" b="66667"/>
            <a:stretch>
              <a:fillRect/>
            </a:stretch>
          </p:blipFill>
          <p:spPr>
            <a:xfrm>
              <a:off x="10406076" y="4755839"/>
              <a:ext cx="1308854" cy="981641"/>
            </a:xfrm>
            <a:prstGeom prst="rect">
              <a:avLst/>
            </a:prstGeom>
          </p:spPr>
        </p:pic>
        <p:sp>
          <p:nvSpPr>
            <p:cNvPr id="49" name="Rectangle 48"/>
            <p:cNvSpPr/>
            <p:nvPr/>
          </p:nvSpPr>
          <p:spPr>
            <a:xfrm>
              <a:off x="10406076" y="4755839"/>
              <a:ext cx="1308854" cy="981641"/>
            </a:xfrm>
            <a:prstGeom prst="rect">
              <a:avLst/>
            </a:prstGeom>
            <a:noFill/>
            <a:ln w="14431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62027" y="4774134"/>
              <a:ext cx="447608" cy="1872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83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layout with exchanged region-2 tiles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