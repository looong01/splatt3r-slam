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2000" y="439020"/>
            <a:ext cx="1274335" cy="276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2" b="1">
                <a:solidFill>
                  <a:srgbClr val="20282C"/>
                </a:solidFill>
                <a:latin typeface="DejaVu Sans"/>
              </a:rPr>
              <a:t>(a) Predict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2000" y="803967"/>
            <a:ext cx="1516752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Sec. III-A · Eq.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3199" y="439020"/>
            <a:ext cx="1273890" cy="276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2" b="1">
                <a:solidFill>
                  <a:srgbClr val="20282C"/>
                </a:solidFill>
                <a:latin typeface="DejaVu Sans"/>
              </a:rPr>
              <a:t>(b)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93199" y="803967"/>
            <a:ext cx="1795825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Sec. III-B · Eqs. (2–4)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9954" y="439020"/>
            <a:ext cx="1160024" cy="276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2" b="1">
                <a:solidFill>
                  <a:srgbClr val="20282C"/>
                </a:solidFill>
                <a:latin typeface="DejaVu Sans"/>
              </a:rPr>
              <a:t>(c) Refine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39954" y="803967"/>
            <a:ext cx="1522899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Sec. III-C · Eq. (5)</a:t>
            </a:r>
          </a:p>
        </p:txBody>
      </p:sp>
      <p:sp>
        <p:nvSpPr>
          <p:cNvPr id="8" name="Freeform 7"/>
          <p:cNvSpPr/>
          <p:nvPr/>
        </p:nvSpPr>
        <p:spPr>
          <a:xfrm>
            <a:off x="372000" y="1114647"/>
            <a:ext cx="11444951" cy="0"/>
          </a:xfrm>
          <a:custGeom>
            <a:avLst/>
            <a:gdLst/>
            <a:ahLst/>
            <a:cxnLst/>
            <a:rect l="l" t="t" r="r" b="b"/>
            <a:pathLst>
              <a:path w="11444951" h="0">
                <a:moveTo>
                  <a:pt x="0" y="0"/>
                </a:moveTo>
                <a:lnTo>
                  <a:pt x="11444951" y="0"/>
                </a:lnTo>
              </a:path>
            </a:pathLst>
          </a:custGeom>
          <a:noFill/>
          <a:ln w="11305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00" y="1489090"/>
            <a:ext cx="1107050" cy="830287"/>
          </a:xfrm>
          <a:prstGeom prst="rect">
            <a:avLst/>
          </a:prstGeom>
        </p:spPr>
      </p:pic>
      <p:pic>
        <p:nvPicPr>
          <p:cNvPr id="10" name="Picture 9" descr="view1_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00" y="2579861"/>
            <a:ext cx="1107050" cy="8302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2202" y="1173798"/>
            <a:ext cx="1014086" cy="23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8" b="0">
                <a:solidFill>
                  <a:srgbClr val="20282C"/>
                </a:solidFill>
                <a:latin typeface="DejaVu Sans"/>
              </a:rPr>
              <a:t>Image pair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0016" y="1993775"/>
            <a:ext cx="1530334" cy="1123330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4991" y="2112982"/>
            <a:ext cx="1040385" cy="5104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Shared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predictor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0531" y="2803351"/>
            <a:ext cx="809305" cy="2367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59636A"/>
                </a:solidFill>
                <a:latin typeface="DejaVu Sans"/>
              </a:rPr>
              <a:t>Splatt3R</a:t>
            </a:r>
          </a:p>
        </p:txBody>
      </p:sp>
      <p:sp>
        <p:nvSpPr>
          <p:cNvPr id="15" name="Freeform 14"/>
          <p:cNvSpPr/>
          <p:nvPr/>
        </p:nvSpPr>
        <p:spPr>
          <a:xfrm>
            <a:off x="1479051" y="1896094"/>
            <a:ext cx="520965" cy="374444"/>
          </a:xfrm>
          <a:custGeom>
            <a:avLst/>
            <a:gdLst/>
            <a:ahLst/>
            <a:cxnLst/>
            <a:rect l="l" t="t" r="r" b="b"/>
            <a:pathLst>
              <a:path w="520965" h="374444">
                <a:moveTo>
                  <a:pt x="0" y="0"/>
                </a:moveTo>
                <a:lnTo>
                  <a:pt x="276763" y="0"/>
                </a:lnTo>
                <a:lnTo>
                  <a:pt x="276763" y="374444"/>
                </a:lnTo>
                <a:lnTo>
                  <a:pt x="520965" y="374444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79051" y="2986865"/>
            <a:ext cx="520965" cy="0"/>
          </a:xfrm>
          <a:custGeom>
            <a:avLst/>
            <a:gdLst/>
            <a:ahLst/>
            <a:cxnLst/>
            <a:rect l="l" t="t" r="r" b="b"/>
            <a:pathLst>
              <a:path w="520965" h="0">
                <a:moveTo>
                  <a:pt x="0" y="0"/>
                </a:moveTo>
                <a:lnTo>
                  <a:pt x="520965" y="0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3199" y="1456530"/>
            <a:ext cx="2686225" cy="65120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9653" y="1656052"/>
            <a:ext cx="2293318" cy="2521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9" b="1">
                <a:solidFill>
                  <a:srgbClr val="20282C"/>
                </a:solidFill>
                <a:latin typeface="DejaVu Sans"/>
              </a:rPr>
              <a:t>Tracker + pose graph</a:t>
            </a:r>
          </a:p>
        </p:txBody>
      </p:sp>
      <p:sp>
        <p:nvSpPr>
          <p:cNvPr id="19" name="Freeform 18"/>
          <p:cNvSpPr/>
          <p:nvPr/>
        </p:nvSpPr>
        <p:spPr>
          <a:xfrm>
            <a:off x="3530351" y="1782133"/>
            <a:ext cx="862848" cy="488405"/>
          </a:xfrm>
          <a:custGeom>
            <a:avLst/>
            <a:gdLst/>
            <a:ahLst/>
            <a:cxnLst/>
            <a:rect l="l" t="t" r="r" b="b"/>
            <a:pathLst>
              <a:path w="862848" h="488405">
                <a:moveTo>
                  <a:pt x="0" y="488405"/>
                </a:moveTo>
                <a:lnTo>
                  <a:pt x="374443" y="488405"/>
                </a:lnTo>
                <a:lnTo>
                  <a:pt x="374443" y="0"/>
                </a:lnTo>
                <a:lnTo>
                  <a:pt x="862848" y="0"/>
                </a:lnTo>
              </a:path>
            </a:pathLst>
          </a:custGeom>
          <a:noFill/>
          <a:ln w="18089">
            <a:solidFill>
              <a:srgbClr val="376687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62485" y="1422613"/>
            <a:ext cx="912446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376687"/>
                </a:solidFill>
                <a:latin typeface="DejaVu Sans"/>
              </a:rPr>
              <a:t>Geometry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3199" y="2710102"/>
            <a:ext cx="2686225" cy="1514054"/>
          </a:xfrm>
          <a:prstGeom prst="rect">
            <a:avLst/>
          </a:prstGeom>
          <a:solidFill>
            <a:srgbClr val="FFFFFF"/>
          </a:solidFill>
          <a:ln w="15827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3440" y="2326614"/>
            <a:ext cx="1569904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Anchor k: T_WCₖ</a:t>
            </a:r>
          </a:p>
        </p:txBody>
      </p:sp>
      <p:sp>
        <p:nvSpPr>
          <p:cNvPr id="23" name="Freeform 22"/>
          <p:cNvSpPr/>
          <p:nvPr/>
        </p:nvSpPr>
        <p:spPr>
          <a:xfrm>
            <a:off x="6786382" y="2107736"/>
            <a:ext cx="0" cy="602366"/>
          </a:xfrm>
          <a:custGeom>
            <a:avLst/>
            <a:gdLst/>
            <a:ahLst/>
            <a:cxnLst/>
            <a:rect l="l" t="t" r="r" b="b"/>
            <a:pathLst>
              <a:path w="0" h="602366">
                <a:moveTo>
                  <a:pt x="0" y="0"/>
                </a:moveTo>
                <a:lnTo>
                  <a:pt x="0" y="602366"/>
                </a:lnTo>
              </a:path>
            </a:pathLst>
          </a:custGeom>
          <a:noFill/>
          <a:ln w="18089">
            <a:solidFill>
              <a:srgbClr val="376687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20100000">
            <a:off x="4557303" y="3026588"/>
            <a:ext cx="270901" cy="109402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 rot="1200000">
            <a:off x="4744851" y="2943234"/>
            <a:ext cx="270901" cy="109402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20700000">
            <a:off x="4911559" y="3068266"/>
            <a:ext cx="270901" cy="109402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1080000">
            <a:off x="4671915" y="3162039"/>
            <a:ext cx="270901" cy="109402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18849" y="3010381"/>
            <a:ext cx="1255183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Local map Gₖ</a:t>
            </a:r>
          </a:p>
        </p:txBody>
      </p:sp>
      <p:sp>
        <p:nvSpPr>
          <p:cNvPr id="29" name="Freeform 28"/>
          <p:cNvSpPr/>
          <p:nvPr/>
        </p:nvSpPr>
        <p:spPr>
          <a:xfrm>
            <a:off x="4572281" y="3708401"/>
            <a:ext cx="262436" cy="282624"/>
          </a:xfrm>
          <a:custGeom>
            <a:avLst/>
            <a:gdLst/>
            <a:ahLst/>
            <a:cxnLst/>
            <a:rect l="l" t="t" r="r" b="b"/>
            <a:pathLst>
              <a:path w="262436" h="282624">
                <a:moveTo>
                  <a:pt x="0" y="141312"/>
                </a:moveTo>
                <a:lnTo>
                  <a:pt x="262436" y="0"/>
                </a:lnTo>
                <a:lnTo>
                  <a:pt x="262436" y="282624"/>
                </a:lnTo>
                <a:lnTo>
                  <a:pt x="0" y="141312"/>
                </a:lnTo>
              </a:path>
            </a:pathLst>
          </a:custGeom>
          <a:noFill/>
          <a:ln w="18089">
            <a:solidFill>
              <a:srgbClr val="3766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834717" y="3647839"/>
            <a:ext cx="141312" cy="403748"/>
          </a:xfrm>
          <a:custGeom>
            <a:avLst/>
            <a:gdLst/>
            <a:ahLst/>
            <a:cxnLst/>
            <a:rect l="l" t="t" r="r" b="b"/>
            <a:pathLst>
              <a:path w="141312" h="403748">
                <a:moveTo>
                  <a:pt x="0" y="60562"/>
                </a:moveTo>
                <a:lnTo>
                  <a:pt x="141312" y="0"/>
                </a:lnTo>
                <a:lnTo>
                  <a:pt x="141312" y="403748"/>
                </a:lnTo>
                <a:lnTo>
                  <a:pt x="0" y="343186"/>
                </a:lnTo>
              </a:path>
            </a:pathLst>
          </a:custGeom>
          <a:noFill/>
          <a:ln w="13566">
            <a:solidFill>
              <a:srgbClr val="3766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8849" y="3599541"/>
            <a:ext cx="1360071" cy="23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8" b="0">
                <a:solidFill>
                  <a:srgbClr val="20282C"/>
                </a:solidFill>
                <a:latin typeface="DejaVu Sans"/>
              </a:rPr>
              <a:t>RGB + relative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8849" y="3892584"/>
            <a:ext cx="1204564" cy="23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8" b="0">
                <a:solidFill>
                  <a:srgbClr val="20282C"/>
                </a:solidFill>
                <a:latin typeface="DejaVu Sans"/>
              </a:rPr>
              <a:t>camera pose</a:t>
            </a:r>
          </a:p>
        </p:txBody>
      </p:sp>
      <p:sp>
        <p:nvSpPr>
          <p:cNvPr id="33" name="Freeform 32"/>
          <p:cNvSpPr/>
          <p:nvPr/>
        </p:nvSpPr>
        <p:spPr>
          <a:xfrm>
            <a:off x="3530351" y="2775223"/>
            <a:ext cx="862848" cy="358163"/>
          </a:xfrm>
          <a:custGeom>
            <a:avLst/>
            <a:gdLst/>
            <a:ahLst/>
            <a:cxnLst/>
            <a:rect l="l" t="t" r="r" b="b"/>
            <a:pathLst>
              <a:path w="862848" h="358163">
                <a:moveTo>
                  <a:pt x="0" y="0"/>
                </a:moveTo>
                <a:lnTo>
                  <a:pt x="325603" y="0"/>
                </a:lnTo>
                <a:lnTo>
                  <a:pt x="325603" y="358163"/>
                </a:lnTo>
                <a:lnTo>
                  <a:pt x="862848" y="358163"/>
                </a:lnTo>
              </a:path>
            </a:pathLst>
          </a:custGeom>
          <a:noFill/>
          <a:ln w="18089">
            <a:solidFill>
              <a:srgbClr val="16756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57347" y="3260733"/>
            <a:ext cx="941275" cy="2337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3" b="0">
                <a:solidFill>
                  <a:srgbClr val="167568"/>
                </a:solidFill>
                <a:latin typeface="DejaVu Sans"/>
              </a:rPr>
              <a:t>Gaussians</a:t>
            </a:r>
          </a:p>
        </p:txBody>
      </p:sp>
      <p:sp>
        <p:nvSpPr>
          <p:cNvPr id="35" name="Freeform 34"/>
          <p:cNvSpPr/>
          <p:nvPr/>
        </p:nvSpPr>
        <p:spPr>
          <a:xfrm>
            <a:off x="1479051" y="3231067"/>
            <a:ext cx="2914148" cy="667486"/>
          </a:xfrm>
          <a:custGeom>
            <a:avLst/>
            <a:gdLst/>
            <a:ahLst/>
            <a:cxnLst/>
            <a:rect l="l" t="t" r="r" b="b"/>
            <a:pathLst>
              <a:path w="2914148" h="667486">
                <a:moveTo>
                  <a:pt x="0" y="0"/>
                </a:moveTo>
                <a:lnTo>
                  <a:pt x="162802" y="0"/>
                </a:lnTo>
                <a:lnTo>
                  <a:pt x="162802" y="667486"/>
                </a:lnTo>
                <a:lnTo>
                  <a:pt x="2914148" y="667486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79363" y="3620434"/>
            <a:ext cx="1139081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Tracked RGB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39954" y="2791503"/>
            <a:ext cx="1448933" cy="68376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2815" y="3005768"/>
            <a:ext cx="823211" cy="2552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Render</a:t>
            </a:r>
          </a:p>
        </p:txBody>
      </p:sp>
      <p:sp>
        <p:nvSpPr>
          <p:cNvPr id="39" name="Freeform 38"/>
          <p:cNvSpPr/>
          <p:nvPr/>
        </p:nvSpPr>
        <p:spPr>
          <a:xfrm>
            <a:off x="7079425" y="3133386"/>
            <a:ext cx="960529" cy="0"/>
          </a:xfrm>
          <a:custGeom>
            <a:avLst/>
            <a:gdLst/>
            <a:ahLst/>
            <a:cxnLst/>
            <a:rect l="l" t="t" r="r" b="b"/>
            <a:pathLst>
              <a:path w="960529" h="0">
                <a:moveTo>
                  <a:pt x="0" y="0"/>
                </a:moveTo>
                <a:lnTo>
                  <a:pt x="960529" y="0"/>
                </a:lnTo>
              </a:path>
            </a:pathLst>
          </a:custGeom>
          <a:noFill/>
          <a:ln w="18089">
            <a:solidFill>
              <a:srgbClr val="16756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39954" y="3817153"/>
            <a:ext cx="1709416" cy="65120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7548" y="4019750"/>
            <a:ext cx="1214228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Sample view</a:t>
            </a:r>
          </a:p>
        </p:txBody>
      </p:sp>
      <p:sp>
        <p:nvSpPr>
          <p:cNvPr id="42" name="Freeform 41"/>
          <p:cNvSpPr/>
          <p:nvPr/>
        </p:nvSpPr>
        <p:spPr>
          <a:xfrm>
            <a:off x="7079425" y="3947394"/>
            <a:ext cx="960529" cy="195362"/>
          </a:xfrm>
          <a:custGeom>
            <a:avLst/>
            <a:gdLst/>
            <a:ahLst/>
            <a:cxnLst/>
            <a:rect l="l" t="t" r="r" b="b"/>
            <a:pathLst>
              <a:path w="960529" h="195362">
                <a:moveTo>
                  <a:pt x="0" y="0"/>
                </a:moveTo>
                <a:lnTo>
                  <a:pt x="504685" y="0"/>
                </a:lnTo>
                <a:lnTo>
                  <a:pt x="504685" y="195362"/>
                </a:lnTo>
                <a:lnTo>
                  <a:pt x="960529" y="195362"/>
                </a:lnTo>
              </a:path>
            </a:pathLst>
          </a:custGeom>
          <a:noFill/>
          <a:ln w="18089">
            <a:solidFill>
              <a:srgbClr val="376687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8756281" y="3475269"/>
            <a:ext cx="0" cy="341884"/>
          </a:xfrm>
          <a:custGeom>
            <a:avLst/>
            <a:gdLst/>
            <a:ahLst/>
            <a:cxnLst/>
            <a:rect l="l" t="t" r="r" b="b"/>
            <a:pathLst>
              <a:path w="0" h="341884">
                <a:moveTo>
                  <a:pt x="0" y="341884"/>
                </a:moveTo>
                <a:lnTo>
                  <a:pt x="0" y="0"/>
                </a:lnTo>
              </a:path>
            </a:pathLst>
          </a:custGeom>
          <a:noFill/>
          <a:ln w="18089">
            <a:solidFill>
              <a:srgbClr val="376687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335456" y="2791503"/>
            <a:ext cx="1448933" cy="68376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96331" y="3005768"/>
            <a:ext cx="527185" cy="2552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Loss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77625" y="3552238"/>
            <a:ext cx="934308" cy="2367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59636A"/>
                </a:solidFill>
                <a:latin typeface="DejaVu Sans"/>
              </a:rPr>
              <a:t>L1 + SSIM</a:t>
            </a:r>
          </a:p>
        </p:txBody>
      </p:sp>
      <p:sp>
        <p:nvSpPr>
          <p:cNvPr id="47" name="Freeform 46"/>
          <p:cNvSpPr/>
          <p:nvPr/>
        </p:nvSpPr>
        <p:spPr>
          <a:xfrm>
            <a:off x="9488888" y="3133386"/>
            <a:ext cx="846568" cy="0"/>
          </a:xfrm>
          <a:custGeom>
            <a:avLst/>
            <a:gdLst/>
            <a:ahLst/>
            <a:cxnLst/>
            <a:rect l="l" t="t" r="r" b="b"/>
            <a:pathLst>
              <a:path w="846568" h="0">
                <a:moveTo>
                  <a:pt x="0" y="0"/>
                </a:moveTo>
                <a:lnTo>
                  <a:pt x="846568" y="0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84250" y="2782458"/>
            <a:ext cx="455844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Î</a:t>
            </a:r>
          </a:p>
        </p:txBody>
      </p:sp>
      <p:sp>
        <p:nvSpPr>
          <p:cNvPr id="49" name="Freeform 48"/>
          <p:cNvSpPr/>
          <p:nvPr/>
        </p:nvSpPr>
        <p:spPr>
          <a:xfrm>
            <a:off x="9749371" y="3475269"/>
            <a:ext cx="1921058" cy="667487"/>
          </a:xfrm>
          <a:custGeom>
            <a:avLst/>
            <a:gdLst/>
            <a:ahLst/>
            <a:cxnLst/>
            <a:rect l="l" t="t" r="r" b="b"/>
            <a:pathLst>
              <a:path w="1921058" h="667487">
                <a:moveTo>
                  <a:pt x="0" y="667487"/>
                </a:moveTo>
                <a:lnTo>
                  <a:pt x="1921058" y="667487"/>
                </a:lnTo>
                <a:lnTo>
                  <a:pt x="1921058" y="0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47052" y="3791828"/>
            <a:ext cx="455844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35456" y="1456530"/>
            <a:ext cx="1448933" cy="65120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26202" y="1654515"/>
            <a:ext cx="667442" cy="2552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Adam</a:t>
            </a:r>
          </a:p>
        </p:txBody>
      </p:sp>
      <p:sp>
        <p:nvSpPr>
          <p:cNvPr id="53" name="Freeform 52"/>
          <p:cNvSpPr/>
          <p:nvPr/>
        </p:nvSpPr>
        <p:spPr>
          <a:xfrm>
            <a:off x="11059923" y="2107736"/>
            <a:ext cx="0" cy="683767"/>
          </a:xfrm>
          <a:custGeom>
            <a:avLst/>
            <a:gdLst/>
            <a:ahLst/>
            <a:cxnLst/>
            <a:rect l="l" t="t" r="r" b="b"/>
            <a:pathLst>
              <a:path w="0" h="683767">
                <a:moveTo>
                  <a:pt x="0" y="683767"/>
                </a:moveTo>
                <a:lnTo>
                  <a:pt x="0" y="0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36672" y="2326614"/>
            <a:ext cx="470909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∇θ L</a:t>
            </a:r>
          </a:p>
        </p:txBody>
      </p:sp>
      <p:sp>
        <p:nvSpPr>
          <p:cNvPr id="55" name="Freeform 54"/>
          <p:cNvSpPr/>
          <p:nvPr/>
        </p:nvSpPr>
        <p:spPr>
          <a:xfrm>
            <a:off x="7079425" y="1782133"/>
            <a:ext cx="3256031" cy="1041930"/>
          </a:xfrm>
          <a:custGeom>
            <a:avLst/>
            <a:gdLst/>
            <a:ahLst/>
            <a:cxnLst/>
            <a:rect l="l" t="t" r="r" b="b"/>
            <a:pathLst>
              <a:path w="3256031" h="1041930">
                <a:moveTo>
                  <a:pt x="3256031" y="0"/>
                </a:moveTo>
                <a:lnTo>
                  <a:pt x="407004" y="0"/>
                </a:lnTo>
                <a:lnTo>
                  <a:pt x="407004" y="1041930"/>
                </a:lnTo>
                <a:lnTo>
                  <a:pt x="0" y="1041930"/>
                </a:lnTo>
              </a:path>
            </a:pathLst>
          </a:custGeom>
          <a:noFill/>
          <a:ln w="18089">
            <a:solidFill>
              <a:srgbClr val="16756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3011" y="1431205"/>
            <a:ext cx="879100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167568"/>
                </a:solidFill>
                <a:latin typeface="DejaVu Sans"/>
              </a:rPr>
              <a:t>Update θ</a:t>
            </a:r>
          </a:p>
        </p:txBody>
      </p:sp>
      <p:sp>
        <p:nvSpPr>
          <p:cNvPr id="57" name="Freeform 56"/>
          <p:cNvSpPr/>
          <p:nvPr/>
        </p:nvSpPr>
        <p:spPr>
          <a:xfrm>
            <a:off x="372000" y="4680001"/>
            <a:ext cx="11444951" cy="0"/>
          </a:xfrm>
          <a:custGeom>
            <a:avLst/>
            <a:gdLst/>
            <a:ahLst/>
            <a:cxnLst/>
            <a:rect l="l" t="t" r="r" b="b"/>
            <a:pathLst>
              <a:path w="11444951" h="0">
                <a:moveTo>
                  <a:pt x="0" y="0"/>
                </a:moveTo>
                <a:lnTo>
                  <a:pt x="11444951" y="0"/>
                </a:lnTo>
              </a:path>
            </a:pathLst>
          </a:custGeom>
          <a:noFill/>
          <a:ln w="11305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bef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00" y="5021884"/>
            <a:ext cx="1530334" cy="114775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36396" y="4743765"/>
            <a:ext cx="1601544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20282C"/>
                </a:solidFill>
                <a:latin typeface="DejaVu Sans"/>
              </a:rPr>
              <a:t>Before refinement</a:t>
            </a:r>
          </a:p>
        </p:txBody>
      </p:sp>
      <p:pic>
        <p:nvPicPr>
          <p:cNvPr id="60" name="Picture 59" descr="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8903" y="5021884"/>
            <a:ext cx="1530334" cy="1147751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779264" y="4743765"/>
            <a:ext cx="1469612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20282C"/>
                </a:solidFill>
                <a:latin typeface="DejaVu Sans"/>
              </a:rPr>
              <a:t>After refinement</a:t>
            </a:r>
          </a:p>
        </p:txBody>
      </p:sp>
      <p:sp>
        <p:nvSpPr>
          <p:cNvPr id="62" name="Freeform 61"/>
          <p:cNvSpPr/>
          <p:nvPr/>
        </p:nvSpPr>
        <p:spPr>
          <a:xfrm>
            <a:off x="1902335" y="5575410"/>
            <a:ext cx="846568" cy="0"/>
          </a:xfrm>
          <a:custGeom>
            <a:avLst/>
            <a:gdLst/>
            <a:ahLst/>
            <a:cxnLst/>
            <a:rect l="l" t="t" r="r" b="b"/>
            <a:pathLst>
              <a:path w="846568" h="0">
                <a:moveTo>
                  <a:pt x="0" y="0"/>
                </a:moveTo>
                <a:lnTo>
                  <a:pt x="846568" y="0"/>
                </a:lnTo>
              </a:path>
            </a:pathLst>
          </a:custGeom>
          <a:noFill/>
          <a:ln w="18089">
            <a:solidFill>
              <a:srgbClr val="16756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39767" y="4848501"/>
            <a:ext cx="2441797" cy="2490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20282C"/>
                </a:solidFill>
                <a:latin typeface="DejaVu Sans"/>
              </a:rPr>
              <a:t>Shared-anchor relation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767" y="5193730"/>
            <a:ext cx="3549342" cy="3075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20282C"/>
                </a:solidFill>
                <a:latin typeface="DejaVu Sans"/>
              </a:rPr>
              <a:t>T</a:t>
            </a:r>
            <a:r>
              <a:rPr sz="1246" b="0" baseline="-25000">
                <a:solidFill>
                  <a:srgbClr val="20282C"/>
                </a:solidFill>
                <a:latin typeface="DejaVu Sans"/>
              </a:rPr>
              <a:t>WCf</a:t>
            </a:r>
            <a:r>
              <a:rPr sz="1246" b="0" baseline="35000">
                <a:solidFill>
                  <a:srgbClr val="20282C"/>
                </a:solidFill>
                <a:latin typeface="DejaVu Sans"/>
              </a:rPr>
              <a:t>−1</a:t>
            </a:r>
            <a:r>
              <a:rPr sz="1780" b="0">
                <a:solidFill>
                  <a:srgbClr val="20282C"/>
                </a:solidFill>
                <a:latin typeface="DejaVu Sans"/>
              </a:rPr>
              <a:t> T</a:t>
            </a:r>
            <a:r>
              <a:rPr sz="1246" b="0" baseline="-25000">
                <a:solidFill>
                  <a:srgbClr val="20282C"/>
                </a:solidFill>
                <a:latin typeface="DejaVu Sans"/>
              </a:rPr>
              <a:t>WCk</a:t>
            </a:r>
            <a:r>
              <a:rPr sz="1780" b="0">
                <a:solidFill>
                  <a:srgbClr val="20282C"/>
                </a:solidFill>
                <a:latin typeface="DejaVu Sans"/>
              </a:rPr>
              <a:t> = T</a:t>
            </a:r>
            <a:r>
              <a:rPr sz="1246" b="0" baseline="-25000">
                <a:solidFill>
                  <a:srgbClr val="20282C"/>
                </a:solidFill>
                <a:latin typeface="DejaVu Sans"/>
              </a:rPr>
              <a:t>CkCf</a:t>
            </a:r>
            <a:r>
              <a:rPr sz="1246" b="0" baseline="35000">
                <a:solidFill>
                  <a:srgbClr val="20282C"/>
                </a:solidFill>
                <a:latin typeface="DejaVu Sans"/>
              </a:rPr>
              <a:t>−1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9767" y="5634561"/>
            <a:ext cx="4541370" cy="23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8" b="0">
                <a:solidFill>
                  <a:srgbClr val="20282C"/>
                </a:solidFill>
                <a:latin typeface="DejaVu Sans"/>
              </a:rPr>
              <a:t>Pose corrections move map and cameras together.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39767" y="5997337"/>
            <a:ext cx="3730259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Optional initialisation: Sec. III-D · Eqs. (7–8)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2000" y="439020"/>
            <a:ext cx="1274335" cy="276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2" b="1">
                <a:solidFill>
                  <a:srgbClr val="20282C"/>
                </a:solidFill>
                <a:latin typeface="DejaVu Sans"/>
              </a:rPr>
              <a:t>(a) Predict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2000" y="803967"/>
            <a:ext cx="1385217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Ch. 2 · Eq. (2.7)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3199" y="439020"/>
            <a:ext cx="1273890" cy="276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2" b="1">
                <a:solidFill>
                  <a:srgbClr val="20282C"/>
                </a:solidFill>
                <a:latin typeface="DejaVu Sans"/>
              </a:rPr>
              <a:t>(b)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93199" y="803967"/>
            <a:ext cx="1828046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Ch. 4 · Eqs. (4.1–4.3)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9954" y="439020"/>
            <a:ext cx="1160024" cy="276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2" b="1">
                <a:solidFill>
                  <a:srgbClr val="20282C"/>
                </a:solidFill>
                <a:latin typeface="DejaVu Sans"/>
              </a:rPr>
              <a:t>(c) Refine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39954" y="803967"/>
            <a:ext cx="1385217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Ch. 7 · Eq. (7.1)</a:t>
            </a:r>
          </a:p>
        </p:txBody>
      </p:sp>
      <p:sp>
        <p:nvSpPr>
          <p:cNvPr id="8" name="Freeform 7"/>
          <p:cNvSpPr/>
          <p:nvPr/>
        </p:nvSpPr>
        <p:spPr>
          <a:xfrm>
            <a:off x="372000" y="1114647"/>
            <a:ext cx="11444951" cy="0"/>
          </a:xfrm>
          <a:custGeom>
            <a:avLst/>
            <a:gdLst/>
            <a:ahLst/>
            <a:cxnLst/>
            <a:rect l="l" t="t" r="r" b="b"/>
            <a:pathLst>
              <a:path w="11444951" h="0">
                <a:moveTo>
                  <a:pt x="0" y="0"/>
                </a:moveTo>
                <a:lnTo>
                  <a:pt x="11444951" y="0"/>
                </a:lnTo>
              </a:path>
            </a:pathLst>
          </a:custGeom>
          <a:noFill/>
          <a:ln w="11305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00" y="1489090"/>
            <a:ext cx="1107050" cy="830287"/>
          </a:xfrm>
          <a:prstGeom prst="rect">
            <a:avLst/>
          </a:prstGeom>
        </p:spPr>
      </p:pic>
      <p:pic>
        <p:nvPicPr>
          <p:cNvPr id="10" name="Picture 9" descr="view1_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00" y="2579861"/>
            <a:ext cx="1107050" cy="8302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2202" y="1173798"/>
            <a:ext cx="1014086" cy="23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8" b="0">
                <a:solidFill>
                  <a:srgbClr val="20282C"/>
                </a:solidFill>
                <a:latin typeface="DejaVu Sans"/>
              </a:rPr>
              <a:t>Image pair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0016" y="1993775"/>
            <a:ext cx="1530334" cy="1123330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4991" y="2112982"/>
            <a:ext cx="1040385" cy="5104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Shared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predictor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0531" y="2803351"/>
            <a:ext cx="809305" cy="2367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59636A"/>
                </a:solidFill>
                <a:latin typeface="DejaVu Sans"/>
              </a:rPr>
              <a:t>Splatt3R</a:t>
            </a:r>
          </a:p>
        </p:txBody>
      </p:sp>
      <p:sp>
        <p:nvSpPr>
          <p:cNvPr id="15" name="Freeform 14"/>
          <p:cNvSpPr/>
          <p:nvPr/>
        </p:nvSpPr>
        <p:spPr>
          <a:xfrm>
            <a:off x="1479051" y="1896094"/>
            <a:ext cx="520965" cy="374444"/>
          </a:xfrm>
          <a:custGeom>
            <a:avLst/>
            <a:gdLst/>
            <a:ahLst/>
            <a:cxnLst/>
            <a:rect l="l" t="t" r="r" b="b"/>
            <a:pathLst>
              <a:path w="520965" h="374444">
                <a:moveTo>
                  <a:pt x="0" y="0"/>
                </a:moveTo>
                <a:lnTo>
                  <a:pt x="276763" y="0"/>
                </a:lnTo>
                <a:lnTo>
                  <a:pt x="276763" y="374444"/>
                </a:lnTo>
                <a:lnTo>
                  <a:pt x="520965" y="374444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79051" y="2986865"/>
            <a:ext cx="520965" cy="0"/>
          </a:xfrm>
          <a:custGeom>
            <a:avLst/>
            <a:gdLst/>
            <a:ahLst/>
            <a:cxnLst/>
            <a:rect l="l" t="t" r="r" b="b"/>
            <a:pathLst>
              <a:path w="520965" h="0">
                <a:moveTo>
                  <a:pt x="0" y="0"/>
                </a:moveTo>
                <a:lnTo>
                  <a:pt x="520965" y="0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3199" y="1456530"/>
            <a:ext cx="2686225" cy="65120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9653" y="1656052"/>
            <a:ext cx="2293318" cy="2521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9" b="1">
                <a:solidFill>
                  <a:srgbClr val="20282C"/>
                </a:solidFill>
                <a:latin typeface="DejaVu Sans"/>
              </a:rPr>
              <a:t>Tracker + pose graph</a:t>
            </a:r>
          </a:p>
        </p:txBody>
      </p:sp>
      <p:sp>
        <p:nvSpPr>
          <p:cNvPr id="19" name="Freeform 18"/>
          <p:cNvSpPr/>
          <p:nvPr/>
        </p:nvSpPr>
        <p:spPr>
          <a:xfrm>
            <a:off x="3530351" y="1782133"/>
            <a:ext cx="862848" cy="488405"/>
          </a:xfrm>
          <a:custGeom>
            <a:avLst/>
            <a:gdLst/>
            <a:ahLst/>
            <a:cxnLst/>
            <a:rect l="l" t="t" r="r" b="b"/>
            <a:pathLst>
              <a:path w="862848" h="488405">
                <a:moveTo>
                  <a:pt x="0" y="488405"/>
                </a:moveTo>
                <a:lnTo>
                  <a:pt x="374443" y="488405"/>
                </a:lnTo>
                <a:lnTo>
                  <a:pt x="374443" y="0"/>
                </a:lnTo>
                <a:lnTo>
                  <a:pt x="862848" y="0"/>
                </a:lnTo>
              </a:path>
            </a:pathLst>
          </a:custGeom>
          <a:noFill/>
          <a:ln w="18089">
            <a:solidFill>
              <a:srgbClr val="376687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62485" y="1422613"/>
            <a:ext cx="912446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376687"/>
                </a:solidFill>
                <a:latin typeface="DejaVu Sans"/>
              </a:rPr>
              <a:t>Geometry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3199" y="2710102"/>
            <a:ext cx="2686225" cy="1514054"/>
          </a:xfrm>
          <a:prstGeom prst="rect">
            <a:avLst/>
          </a:prstGeom>
          <a:solidFill>
            <a:srgbClr val="FFFFFF"/>
          </a:solidFill>
          <a:ln w="15827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3440" y="2326614"/>
            <a:ext cx="1569904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Anchor k: T_WCₖ</a:t>
            </a:r>
          </a:p>
        </p:txBody>
      </p:sp>
      <p:sp>
        <p:nvSpPr>
          <p:cNvPr id="23" name="Freeform 22"/>
          <p:cNvSpPr/>
          <p:nvPr/>
        </p:nvSpPr>
        <p:spPr>
          <a:xfrm>
            <a:off x="6786382" y="2107736"/>
            <a:ext cx="0" cy="602366"/>
          </a:xfrm>
          <a:custGeom>
            <a:avLst/>
            <a:gdLst/>
            <a:ahLst/>
            <a:cxnLst/>
            <a:rect l="l" t="t" r="r" b="b"/>
            <a:pathLst>
              <a:path w="0" h="602366">
                <a:moveTo>
                  <a:pt x="0" y="0"/>
                </a:moveTo>
                <a:lnTo>
                  <a:pt x="0" y="602366"/>
                </a:lnTo>
              </a:path>
            </a:pathLst>
          </a:custGeom>
          <a:noFill/>
          <a:ln w="18089">
            <a:solidFill>
              <a:srgbClr val="376687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20100000">
            <a:off x="4557303" y="3026588"/>
            <a:ext cx="270901" cy="109402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 rot="1200000">
            <a:off x="4744851" y="2943234"/>
            <a:ext cx="270901" cy="109402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20700000">
            <a:off x="4911559" y="3068266"/>
            <a:ext cx="270901" cy="109402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1080000">
            <a:off x="4671915" y="3162039"/>
            <a:ext cx="270901" cy="109402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18849" y="3010381"/>
            <a:ext cx="1255183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Local map Gₖ</a:t>
            </a:r>
          </a:p>
        </p:txBody>
      </p:sp>
      <p:sp>
        <p:nvSpPr>
          <p:cNvPr id="29" name="Freeform 28"/>
          <p:cNvSpPr/>
          <p:nvPr/>
        </p:nvSpPr>
        <p:spPr>
          <a:xfrm>
            <a:off x="4572281" y="3708401"/>
            <a:ext cx="262436" cy="282624"/>
          </a:xfrm>
          <a:custGeom>
            <a:avLst/>
            <a:gdLst/>
            <a:ahLst/>
            <a:cxnLst/>
            <a:rect l="l" t="t" r="r" b="b"/>
            <a:pathLst>
              <a:path w="262436" h="282624">
                <a:moveTo>
                  <a:pt x="0" y="141312"/>
                </a:moveTo>
                <a:lnTo>
                  <a:pt x="262436" y="0"/>
                </a:lnTo>
                <a:lnTo>
                  <a:pt x="262436" y="282624"/>
                </a:lnTo>
                <a:lnTo>
                  <a:pt x="0" y="141312"/>
                </a:lnTo>
              </a:path>
            </a:pathLst>
          </a:custGeom>
          <a:noFill/>
          <a:ln w="18089">
            <a:solidFill>
              <a:srgbClr val="3766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834717" y="3647839"/>
            <a:ext cx="141312" cy="403748"/>
          </a:xfrm>
          <a:custGeom>
            <a:avLst/>
            <a:gdLst/>
            <a:ahLst/>
            <a:cxnLst/>
            <a:rect l="l" t="t" r="r" b="b"/>
            <a:pathLst>
              <a:path w="141312" h="403748">
                <a:moveTo>
                  <a:pt x="0" y="60562"/>
                </a:moveTo>
                <a:lnTo>
                  <a:pt x="141312" y="0"/>
                </a:lnTo>
                <a:lnTo>
                  <a:pt x="141312" y="403748"/>
                </a:lnTo>
                <a:lnTo>
                  <a:pt x="0" y="343186"/>
                </a:lnTo>
              </a:path>
            </a:pathLst>
          </a:custGeom>
          <a:noFill/>
          <a:ln w="13566">
            <a:solidFill>
              <a:srgbClr val="3766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8849" y="3599541"/>
            <a:ext cx="1360071" cy="23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8" b="0">
                <a:solidFill>
                  <a:srgbClr val="20282C"/>
                </a:solidFill>
                <a:latin typeface="DejaVu Sans"/>
              </a:rPr>
              <a:t>RGB + relative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8849" y="3892584"/>
            <a:ext cx="1204564" cy="23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8" b="0">
                <a:solidFill>
                  <a:srgbClr val="20282C"/>
                </a:solidFill>
                <a:latin typeface="DejaVu Sans"/>
              </a:rPr>
              <a:t>camera pose</a:t>
            </a:r>
          </a:p>
        </p:txBody>
      </p:sp>
      <p:sp>
        <p:nvSpPr>
          <p:cNvPr id="33" name="Freeform 32"/>
          <p:cNvSpPr/>
          <p:nvPr/>
        </p:nvSpPr>
        <p:spPr>
          <a:xfrm>
            <a:off x="3530351" y="2775223"/>
            <a:ext cx="862848" cy="358163"/>
          </a:xfrm>
          <a:custGeom>
            <a:avLst/>
            <a:gdLst/>
            <a:ahLst/>
            <a:cxnLst/>
            <a:rect l="l" t="t" r="r" b="b"/>
            <a:pathLst>
              <a:path w="862848" h="358163">
                <a:moveTo>
                  <a:pt x="0" y="0"/>
                </a:moveTo>
                <a:lnTo>
                  <a:pt x="325603" y="0"/>
                </a:lnTo>
                <a:lnTo>
                  <a:pt x="325603" y="358163"/>
                </a:lnTo>
                <a:lnTo>
                  <a:pt x="862848" y="358163"/>
                </a:lnTo>
              </a:path>
            </a:pathLst>
          </a:custGeom>
          <a:noFill/>
          <a:ln w="18089">
            <a:solidFill>
              <a:srgbClr val="16756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57347" y="3260733"/>
            <a:ext cx="941275" cy="2337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3" b="0">
                <a:solidFill>
                  <a:srgbClr val="167568"/>
                </a:solidFill>
                <a:latin typeface="DejaVu Sans"/>
              </a:rPr>
              <a:t>Gaussians</a:t>
            </a:r>
          </a:p>
        </p:txBody>
      </p:sp>
      <p:sp>
        <p:nvSpPr>
          <p:cNvPr id="35" name="Freeform 34"/>
          <p:cNvSpPr/>
          <p:nvPr/>
        </p:nvSpPr>
        <p:spPr>
          <a:xfrm>
            <a:off x="1479051" y="3231067"/>
            <a:ext cx="2914148" cy="667486"/>
          </a:xfrm>
          <a:custGeom>
            <a:avLst/>
            <a:gdLst/>
            <a:ahLst/>
            <a:cxnLst/>
            <a:rect l="l" t="t" r="r" b="b"/>
            <a:pathLst>
              <a:path w="2914148" h="667486">
                <a:moveTo>
                  <a:pt x="0" y="0"/>
                </a:moveTo>
                <a:lnTo>
                  <a:pt x="162802" y="0"/>
                </a:lnTo>
                <a:lnTo>
                  <a:pt x="162802" y="667486"/>
                </a:lnTo>
                <a:lnTo>
                  <a:pt x="2914148" y="667486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79363" y="3620434"/>
            <a:ext cx="1139081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Tracked RGB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39954" y="2791503"/>
            <a:ext cx="1448933" cy="68376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2815" y="3005768"/>
            <a:ext cx="823211" cy="2552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Render</a:t>
            </a:r>
          </a:p>
        </p:txBody>
      </p:sp>
      <p:sp>
        <p:nvSpPr>
          <p:cNvPr id="39" name="Freeform 38"/>
          <p:cNvSpPr/>
          <p:nvPr/>
        </p:nvSpPr>
        <p:spPr>
          <a:xfrm>
            <a:off x="7079425" y="3133386"/>
            <a:ext cx="960529" cy="0"/>
          </a:xfrm>
          <a:custGeom>
            <a:avLst/>
            <a:gdLst/>
            <a:ahLst/>
            <a:cxnLst/>
            <a:rect l="l" t="t" r="r" b="b"/>
            <a:pathLst>
              <a:path w="960529" h="0">
                <a:moveTo>
                  <a:pt x="0" y="0"/>
                </a:moveTo>
                <a:lnTo>
                  <a:pt x="960529" y="0"/>
                </a:lnTo>
              </a:path>
            </a:pathLst>
          </a:custGeom>
          <a:noFill/>
          <a:ln w="18089">
            <a:solidFill>
              <a:srgbClr val="16756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39954" y="3817153"/>
            <a:ext cx="1709416" cy="65120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7548" y="4019750"/>
            <a:ext cx="1214228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Sample view</a:t>
            </a:r>
          </a:p>
        </p:txBody>
      </p:sp>
      <p:sp>
        <p:nvSpPr>
          <p:cNvPr id="42" name="Freeform 41"/>
          <p:cNvSpPr/>
          <p:nvPr/>
        </p:nvSpPr>
        <p:spPr>
          <a:xfrm>
            <a:off x="7079425" y="3947394"/>
            <a:ext cx="960529" cy="195362"/>
          </a:xfrm>
          <a:custGeom>
            <a:avLst/>
            <a:gdLst/>
            <a:ahLst/>
            <a:cxnLst/>
            <a:rect l="l" t="t" r="r" b="b"/>
            <a:pathLst>
              <a:path w="960529" h="195362">
                <a:moveTo>
                  <a:pt x="0" y="0"/>
                </a:moveTo>
                <a:lnTo>
                  <a:pt x="504685" y="0"/>
                </a:lnTo>
                <a:lnTo>
                  <a:pt x="504685" y="195362"/>
                </a:lnTo>
                <a:lnTo>
                  <a:pt x="960529" y="195362"/>
                </a:lnTo>
              </a:path>
            </a:pathLst>
          </a:custGeom>
          <a:noFill/>
          <a:ln w="18089">
            <a:solidFill>
              <a:srgbClr val="376687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8756281" y="3475269"/>
            <a:ext cx="0" cy="341884"/>
          </a:xfrm>
          <a:custGeom>
            <a:avLst/>
            <a:gdLst/>
            <a:ahLst/>
            <a:cxnLst/>
            <a:rect l="l" t="t" r="r" b="b"/>
            <a:pathLst>
              <a:path w="0" h="341884">
                <a:moveTo>
                  <a:pt x="0" y="341884"/>
                </a:moveTo>
                <a:lnTo>
                  <a:pt x="0" y="0"/>
                </a:lnTo>
              </a:path>
            </a:pathLst>
          </a:custGeom>
          <a:noFill/>
          <a:ln w="18089">
            <a:solidFill>
              <a:srgbClr val="376687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335456" y="2791503"/>
            <a:ext cx="1448933" cy="68376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96331" y="3005768"/>
            <a:ext cx="527185" cy="2552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Loss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77625" y="3552238"/>
            <a:ext cx="934308" cy="2367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59636A"/>
                </a:solidFill>
                <a:latin typeface="DejaVu Sans"/>
              </a:rPr>
              <a:t>L1 + SSIM</a:t>
            </a:r>
          </a:p>
        </p:txBody>
      </p:sp>
      <p:sp>
        <p:nvSpPr>
          <p:cNvPr id="47" name="Freeform 46"/>
          <p:cNvSpPr/>
          <p:nvPr/>
        </p:nvSpPr>
        <p:spPr>
          <a:xfrm>
            <a:off x="9488888" y="3133386"/>
            <a:ext cx="846568" cy="0"/>
          </a:xfrm>
          <a:custGeom>
            <a:avLst/>
            <a:gdLst/>
            <a:ahLst/>
            <a:cxnLst/>
            <a:rect l="l" t="t" r="r" b="b"/>
            <a:pathLst>
              <a:path w="846568" h="0">
                <a:moveTo>
                  <a:pt x="0" y="0"/>
                </a:moveTo>
                <a:lnTo>
                  <a:pt x="846568" y="0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84250" y="2782458"/>
            <a:ext cx="455844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Î</a:t>
            </a:r>
          </a:p>
        </p:txBody>
      </p:sp>
      <p:sp>
        <p:nvSpPr>
          <p:cNvPr id="49" name="Freeform 48"/>
          <p:cNvSpPr/>
          <p:nvPr/>
        </p:nvSpPr>
        <p:spPr>
          <a:xfrm>
            <a:off x="9749371" y="3475269"/>
            <a:ext cx="1921058" cy="667487"/>
          </a:xfrm>
          <a:custGeom>
            <a:avLst/>
            <a:gdLst/>
            <a:ahLst/>
            <a:cxnLst/>
            <a:rect l="l" t="t" r="r" b="b"/>
            <a:pathLst>
              <a:path w="1921058" h="667487">
                <a:moveTo>
                  <a:pt x="0" y="667487"/>
                </a:moveTo>
                <a:lnTo>
                  <a:pt x="1921058" y="667487"/>
                </a:lnTo>
                <a:lnTo>
                  <a:pt x="1921058" y="0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47052" y="3791828"/>
            <a:ext cx="455844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35456" y="1456530"/>
            <a:ext cx="1448933" cy="65120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26202" y="1654515"/>
            <a:ext cx="667442" cy="2552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Adam</a:t>
            </a:r>
          </a:p>
        </p:txBody>
      </p:sp>
      <p:sp>
        <p:nvSpPr>
          <p:cNvPr id="53" name="Freeform 52"/>
          <p:cNvSpPr/>
          <p:nvPr/>
        </p:nvSpPr>
        <p:spPr>
          <a:xfrm>
            <a:off x="11059923" y="2107736"/>
            <a:ext cx="0" cy="683767"/>
          </a:xfrm>
          <a:custGeom>
            <a:avLst/>
            <a:gdLst/>
            <a:ahLst/>
            <a:cxnLst/>
            <a:rect l="l" t="t" r="r" b="b"/>
            <a:pathLst>
              <a:path w="0" h="683767">
                <a:moveTo>
                  <a:pt x="0" y="683767"/>
                </a:moveTo>
                <a:lnTo>
                  <a:pt x="0" y="0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36672" y="2326614"/>
            <a:ext cx="470909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∇θ L</a:t>
            </a:r>
          </a:p>
        </p:txBody>
      </p:sp>
      <p:sp>
        <p:nvSpPr>
          <p:cNvPr id="55" name="Freeform 54"/>
          <p:cNvSpPr/>
          <p:nvPr/>
        </p:nvSpPr>
        <p:spPr>
          <a:xfrm>
            <a:off x="7079425" y="1782133"/>
            <a:ext cx="3256031" cy="1041930"/>
          </a:xfrm>
          <a:custGeom>
            <a:avLst/>
            <a:gdLst/>
            <a:ahLst/>
            <a:cxnLst/>
            <a:rect l="l" t="t" r="r" b="b"/>
            <a:pathLst>
              <a:path w="3256031" h="1041930">
                <a:moveTo>
                  <a:pt x="3256031" y="0"/>
                </a:moveTo>
                <a:lnTo>
                  <a:pt x="407004" y="0"/>
                </a:lnTo>
                <a:lnTo>
                  <a:pt x="407004" y="1041930"/>
                </a:lnTo>
                <a:lnTo>
                  <a:pt x="0" y="1041930"/>
                </a:lnTo>
              </a:path>
            </a:pathLst>
          </a:custGeom>
          <a:noFill/>
          <a:ln w="18089">
            <a:solidFill>
              <a:srgbClr val="16756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3011" y="1431205"/>
            <a:ext cx="879100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167568"/>
                </a:solidFill>
                <a:latin typeface="DejaVu Sans"/>
              </a:rPr>
              <a:t>Update θ</a:t>
            </a:r>
          </a:p>
        </p:txBody>
      </p:sp>
      <p:sp>
        <p:nvSpPr>
          <p:cNvPr id="57" name="Freeform 56"/>
          <p:cNvSpPr/>
          <p:nvPr/>
        </p:nvSpPr>
        <p:spPr>
          <a:xfrm>
            <a:off x="372000" y="4680001"/>
            <a:ext cx="11444951" cy="0"/>
          </a:xfrm>
          <a:custGeom>
            <a:avLst/>
            <a:gdLst/>
            <a:ahLst/>
            <a:cxnLst/>
            <a:rect l="l" t="t" r="r" b="b"/>
            <a:pathLst>
              <a:path w="11444951" h="0">
                <a:moveTo>
                  <a:pt x="0" y="0"/>
                </a:moveTo>
                <a:lnTo>
                  <a:pt x="11444951" y="0"/>
                </a:lnTo>
              </a:path>
            </a:pathLst>
          </a:custGeom>
          <a:noFill/>
          <a:ln w="11305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bef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00" y="5021884"/>
            <a:ext cx="1530334" cy="114775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36396" y="4743765"/>
            <a:ext cx="1601544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20282C"/>
                </a:solidFill>
                <a:latin typeface="DejaVu Sans"/>
              </a:rPr>
              <a:t>Before refinement</a:t>
            </a:r>
          </a:p>
        </p:txBody>
      </p:sp>
      <p:pic>
        <p:nvPicPr>
          <p:cNvPr id="60" name="Picture 59" descr="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8903" y="5021884"/>
            <a:ext cx="1530334" cy="1147751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779264" y="4743765"/>
            <a:ext cx="1469612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20282C"/>
                </a:solidFill>
                <a:latin typeface="DejaVu Sans"/>
              </a:rPr>
              <a:t>After refinement</a:t>
            </a:r>
          </a:p>
        </p:txBody>
      </p:sp>
      <p:sp>
        <p:nvSpPr>
          <p:cNvPr id="62" name="Freeform 61"/>
          <p:cNvSpPr/>
          <p:nvPr/>
        </p:nvSpPr>
        <p:spPr>
          <a:xfrm>
            <a:off x="1902335" y="5575410"/>
            <a:ext cx="846568" cy="0"/>
          </a:xfrm>
          <a:custGeom>
            <a:avLst/>
            <a:gdLst/>
            <a:ahLst/>
            <a:cxnLst/>
            <a:rect l="l" t="t" r="r" b="b"/>
            <a:pathLst>
              <a:path w="846568" h="0">
                <a:moveTo>
                  <a:pt x="0" y="0"/>
                </a:moveTo>
                <a:lnTo>
                  <a:pt x="846568" y="0"/>
                </a:lnTo>
              </a:path>
            </a:pathLst>
          </a:custGeom>
          <a:noFill/>
          <a:ln w="18089">
            <a:solidFill>
              <a:srgbClr val="16756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39767" y="4848501"/>
            <a:ext cx="2441797" cy="2490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20282C"/>
                </a:solidFill>
                <a:latin typeface="DejaVu Sans"/>
              </a:rPr>
              <a:t>Shared-anchor relation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767" y="5193730"/>
            <a:ext cx="3549342" cy="3075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20282C"/>
                </a:solidFill>
                <a:latin typeface="DejaVu Sans"/>
              </a:rPr>
              <a:t>T</a:t>
            </a:r>
            <a:r>
              <a:rPr sz="1246" b="0" baseline="-25000">
                <a:solidFill>
                  <a:srgbClr val="20282C"/>
                </a:solidFill>
                <a:latin typeface="DejaVu Sans"/>
              </a:rPr>
              <a:t>WCf</a:t>
            </a:r>
            <a:r>
              <a:rPr sz="1246" b="0" baseline="35000">
                <a:solidFill>
                  <a:srgbClr val="20282C"/>
                </a:solidFill>
                <a:latin typeface="DejaVu Sans"/>
              </a:rPr>
              <a:t>−1</a:t>
            </a:r>
            <a:r>
              <a:rPr sz="1780" b="0">
                <a:solidFill>
                  <a:srgbClr val="20282C"/>
                </a:solidFill>
                <a:latin typeface="DejaVu Sans"/>
              </a:rPr>
              <a:t> T</a:t>
            </a:r>
            <a:r>
              <a:rPr sz="1246" b="0" baseline="-25000">
                <a:solidFill>
                  <a:srgbClr val="20282C"/>
                </a:solidFill>
                <a:latin typeface="DejaVu Sans"/>
              </a:rPr>
              <a:t>WCk</a:t>
            </a:r>
            <a:r>
              <a:rPr sz="1780" b="0">
                <a:solidFill>
                  <a:srgbClr val="20282C"/>
                </a:solidFill>
                <a:latin typeface="DejaVu Sans"/>
              </a:rPr>
              <a:t> = T</a:t>
            </a:r>
            <a:r>
              <a:rPr sz="1246" b="0" baseline="-25000">
                <a:solidFill>
                  <a:srgbClr val="20282C"/>
                </a:solidFill>
                <a:latin typeface="DejaVu Sans"/>
              </a:rPr>
              <a:t>CkCf</a:t>
            </a:r>
            <a:r>
              <a:rPr sz="1246" b="0" baseline="35000">
                <a:solidFill>
                  <a:srgbClr val="20282C"/>
                </a:solidFill>
                <a:latin typeface="DejaVu Sans"/>
              </a:rPr>
              <a:t>−1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9767" y="5634561"/>
            <a:ext cx="4541370" cy="23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8" b="0">
                <a:solidFill>
                  <a:srgbClr val="20282C"/>
                </a:solidFill>
                <a:latin typeface="DejaVu Sans"/>
              </a:rPr>
              <a:t>Pose corrections move map and cameras together.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39767" y="5997337"/>
            <a:ext cx="3578746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Optional initialisation: Chs. 5–6 · Eq. (6.1)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Why the supervision camera shares the anchor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Coordinate control and refinement loop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" y="822960"/>
            <a:ext cx="3337560" cy="2084831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96112"/>
            <a:ext cx="311810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Before a loop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79576"/>
            <a:ext cx="3118104" cy="167335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Local map and camera use keyframe k.
Their relative transform is fixed.</a:t>
            </a:r>
          </a:p>
        </p:txBody>
      </p:sp>
      <p:sp>
        <p:nvSpPr>
          <p:cNvPr id="8" name="Trapezoid 7"/>
          <p:cNvSpPr/>
          <p:nvPr/>
        </p:nvSpPr>
        <p:spPr>
          <a:xfrm rot="5400000">
            <a:off x="786384" y="2029968"/>
            <a:ext cx="435254" cy="307238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04011" y="2183587"/>
            <a:ext cx="332841" cy="0"/>
          </a:xfrm>
          <a:prstGeom prst="line">
            <a:avLst/>
          </a:prstGeom>
          <a:ln w="1270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1286560" y="2133295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900000">
            <a:off x="1892807" y="2115007"/>
            <a:ext cx="419709" cy="185166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20400000">
            <a:off x="2238451" y="1917496"/>
            <a:ext cx="370332" cy="172821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600000">
            <a:off x="2361895" y="2263139"/>
            <a:ext cx="444398" cy="197510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20880000">
            <a:off x="2732227" y="2040940"/>
            <a:ext cx="333298" cy="160477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325880" y="2212848"/>
            <a:ext cx="594360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1869948" y="216255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523744"/>
            <a:ext cx="2724912" cy="2286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8323F"/>
                </a:solidFill>
                <a:latin typeface="Arial"/>
              </a:rPr>
              <a:t>T_WCf^-1 T_WCk = T_CkCf^-1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67328" y="1847088"/>
            <a:ext cx="393192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4110228" y="1796796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87952" y="822960"/>
            <a:ext cx="3310128" cy="2084831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896112"/>
            <a:ext cx="3090672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Pose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179576"/>
            <a:ext cx="3090672" cy="167335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The pose graph changes T_WCk.
The map and camera move together.</a:t>
            </a:r>
          </a:p>
        </p:txBody>
      </p:sp>
      <p:sp>
        <p:nvSpPr>
          <p:cNvPr id="23" name="Trapezoid 22"/>
          <p:cNvSpPr/>
          <p:nvPr/>
        </p:nvSpPr>
        <p:spPr>
          <a:xfrm rot="5400000">
            <a:off x="4681728" y="1856231"/>
            <a:ext cx="435254" cy="307238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899355" y="2009851"/>
            <a:ext cx="332841" cy="0"/>
          </a:xfrm>
          <a:prstGeom prst="line">
            <a:avLst/>
          </a:prstGeom>
          <a:ln w="1270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5181904" y="1959559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900000">
            <a:off x="5742432" y="1831543"/>
            <a:ext cx="419709" cy="185166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20400000">
            <a:off x="6088075" y="1634032"/>
            <a:ext cx="370332" cy="172821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 rot="600000">
            <a:off x="6211519" y="1979676"/>
            <a:ext cx="444398" cy="197510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 rot="20880000">
            <a:off x="6581851" y="1757476"/>
            <a:ext cx="333298" cy="160477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2523744"/>
            <a:ext cx="2770632" cy="2286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C36B31"/>
                </a:solidFill>
                <a:latin typeface="Arial"/>
              </a:rPr>
              <a:t>shared anchor: relation preserved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562088" y="1847088"/>
            <a:ext cx="393191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7904988" y="1796796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82712" y="822960"/>
            <a:ext cx="3794760" cy="2084831"/>
          </a:xfrm>
          <a:prstGeom prst="roundRect">
            <a:avLst>
              <a:gd name="adj" fmla="val 8000"/>
            </a:avLst>
          </a:prstGeom>
          <a:solidFill>
            <a:srgbClr val="F8EDF3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896112"/>
            <a:ext cx="357530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Controlled 6% scale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1179576"/>
            <a:ext cx="3575304" cy="167335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Fixed world camera: refinement reverses the correction.
Shared anchor: correction remains after about 500 steps.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2286000"/>
            <a:ext cx="3337560" cy="3840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A14D78"/>
                </a:solidFill>
                <a:latin typeface="Arial"/>
              </a:rPr>
              <a:t>Desk + room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273552"/>
            <a:ext cx="31089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68077"/>
                </a:solidFill>
                <a:latin typeface="Arial"/>
              </a:rPr>
              <a:t>REFINEMENT LOOP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sample RGB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304288" y="4224528"/>
            <a:ext cx="246888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2500884" y="4174236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43200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52928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compose pose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636008" y="4224528"/>
            <a:ext cx="246888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4832604" y="4174236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74920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render map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967727" y="4224528"/>
            <a:ext cx="246889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7164324" y="417423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406640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F8EDF3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16367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L1 + SSIM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299448" y="4224528"/>
            <a:ext cx="246888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9496044" y="4174236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738359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48087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Adam update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029200"/>
            <a:ext cx="10972800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Only Gaussian scale, rotation, opacity, and DC color receive gradients.</a:t>
            </a:r>
          </a:p>
        </p:txBody>
      </p:sp>
      <p:pic>
        <p:nvPicPr>
          <p:cNvPr id="57" name="Picture 56" descr="before.png"/>
          <p:cNvPicPr>
            <a:picLocks noChangeAspect="1"/>
          </p:cNvPicPr>
          <p:nvPr/>
        </p:nvPicPr>
        <p:blipFill>
          <a:blip r:embed="rId2"/>
          <a:srcRect t="18783" b="18783"/>
          <a:stretch>
            <a:fillRect/>
          </a:stretch>
        </p:blipFill>
        <p:spPr>
          <a:xfrm>
            <a:off x="1938528" y="5486400"/>
            <a:ext cx="2304288" cy="1078992"/>
          </a:xfrm>
          <a:prstGeom prst="rect">
            <a:avLst/>
          </a:prstGeom>
          <a:ln w="10160">
            <a:solidFill>
              <a:srgbClr val="607681"/>
            </a:solidFill>
          </a:ln>
        </p:spPr>
      </p:pic>
      <p:pic>
        <p:nvPicPr>
          <p:cNvPr id="58" name="Picture 57" descr="after.png"/>
          <p:cNvPicPr>
            <a:picLocks noChangeAspect="1"/>
          </p:cNvPicPr>
          <p:nvPr/>
        </p:nvPicPr>
        <p:blipFill>
          <a:blip r:embed="rId3"/>
          <a:srcRect t="18783" b="18783"/>
          <a:stretch>
            <a:fillRect/>
          </a:stretch>
        </p:blipFill>
        <p:spPr>
          <a:xfrm>
            <a:off x="7955279" y="5486400"/>
            <a:ext cx="2304288" cy="1078992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cxnSp>
        <p:nvCxnSpPr>
          <p:cNvPr id="59" name="Connector 58"/>
          <p:cNvCxnSpPr/>
          <p:nvPr/>
        </p:nvCxnSpPr>
        <p:spPr>
          <a:xfrm>
            <a:off x="4325112" y="6025896"/>
            <a:ext cx="3538728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7813548" y="5975604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Qualitative reconstruction at common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Measured renders; identical crops and scales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94944"/>
            <a:ext cx="274320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Ground truth</a:t>
            </a:r>
          </a:p>
        </p:txBody>
      </p:sp>
      <p:pic>
        <p:nvPicPr>
          <p:cNvPr id="6" name="Picture 5" descr="target.png"/>
          <p:cNvPicPr>
            <a:picLocks noChangeAspect="1"/>
          </p:cNvPicPr>
          <p:nvPr/>
        </p:nvPicPr>
        <p:blipFill>
          <a:blip r:embed="rId2"/>
          <a:srcRect t="11778" b="11778"/>
          <a:stretch>
            <a:fillRect/>
          </a:stretch>
        </p:blipFill>
        <p:spPr>
          <a:xfrm>
            <a:off x="365760" y="1005840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7" name="Picture 6" descr="target.png"/>
          <p:cNvPicPr>
            <a:picLocks noChangeAspect="1"/>
          </p:cNvPicPr>
          <p:nvPr/>
        </p:nvPicPr>
        <p:blipFill>
          <a:blip r:embed="rId2"/>
          <a:srcRect l="30273" r="26758" t="29167" b="45833"/>
          <a:stretch>
            <a:fillRect/>
          </a:stretch>
        </p:blipFill>
        <p:spPr>
          <a:xfrm>
            <a:off x="365760" y="2615184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pic>
        <p:nvPicPr>
          <p:cNvPr id="8" name="Picture 7" descr="view1_gt.png"/>
          <p:cNvPicPr>
            <a:picLocks noChangeAspect="1"/>
          </p:cNvPicPr>
          <p:nvPr/>
        </p:nvPicPr>
        <p:blipFill>
          <a:blip r:embed="rId3"/>
          <a:srcRect t="11778" b="11778"/>
          <a:stretch>
            <a:fillRect/>
          </a:stretch>
        </p:blipFill>
        <p:spPr>
          <a:xfrm>
            <a:off x="365760" y="3493008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9" name="Picture 8" descr="view1_gt.png"/>
          <p:cNvPicPr>
            <a:picLocks noChangeAspect="1"/>
          </p:cNvPicPr>
          <p:nvPr/>
        </p:nvPicPr>
        <p:blipFill>
          <a:blip r:embed="rId3"/>
          <a:srcRect l="11328" r="45703" t="10417" b="64583"/>
          <a:stretch>
            <a:fillRect/>
          </a:stretch>
        </p:blipFill>
        <p:spPr>
          <a:xfrm>
            <a:off x="365760" y="5102352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273552" y="694944"/>
            <a:ext cx="274320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Photo-SLAM</a:t>
            </a:r>
          </a:p>
        </p:txBody>
      </p:sp>
      <p:pic>
        <p:nvPicPr>
          <p:cNvPr id="11" name="Picture 10" descr="view0_photo.png"/>
          <p:cNvPicPr>
            <a:picLocks noChangeAspect="1"/>
          </p:cNvPicPr>
          <p:nvPr/>
        </p:nvPicPr>
        <p:blipFill>
          <a:blip r:embed="rId4"/>
          <a:srcRect t="11778" b="11778"/>
          <a:stretch>
            <a:fillRect/>
          </a:stretch>
        </p:blipFill>
        <p:spPr>
          <a:xfrm>
            <a:off x="3273552" y="1005840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2" name="Picture 11" descr="view0_photo.png"/>
          <p:cNvPicPr>
            <a:picLocks noChangeAspect="1"/>
          </p:cNvPicPr>
          <p:nvPr/>
        </p:nvPicPr>
        <p:blipFill>
          <a:blip r:embed="rId4"/>
          <a:srcRect l="30273" r="26758" t="29167" b="45833"/>
          <a:stretch>
            <a:fillRect/>
          </a:stretch>
        </p:blipFill>
        <p:spPr>
          <a:xfrm>
            <a:off x="3273552" y="2615184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pic>
        <p:nvPicPr>
          <p:cNvPr id="13" name="Picture 12" descr="view1_photo.png"/>
          <p:cNvPicPr>
            <a:picLocks noChangeAspect="1"/>
          </p:cNvPicPr>
          <p:nvPr/>
        </p:nvPicPr>
        <p:blipFill>
          <a:blip r:embed="rId5"/>
          <a:srcRect t="11778" b="11778"/>
          <a:stretch>
            <a:fillRect/>
          </a:stretch>
        </p:blipFill>
        <p:spPr>
          <a:xfrm>
            <a:off x="3273552" y="3493008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4" name="Picture 13" descr="view1_photo.png"/>
          <p:cNvPicPr>
            <a:picLocks noChangeAspect="1"/>
          </p:cNvPicPr>
          <p:nvPr/>
        </p:nvPicPr>
        <p:blipFill>
          <a:blip r:embed="rId5"/>
          <a:srcRect l="11328" r="45703" t="10417" b="64583"/>
          <a:stretch>
            <a:fillRect/>
          </a:stretch>
        </p:blipFill>
        <p:spPr>
          <a:xfrm>
            <a:off x="3273552" y="5102352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181344" y="694944"/>
            <a:ext cx="274320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MonoGS</a:t>
            </a:r>
          </a:p>
        </p:txBody>
      </p:sp>
      <p:pic>
        <p:nvPicPr>
          <p:cNvPr id="16" name="Picture 15" descr="view0_mono.png"/>
          <p:cNvPicPr>
            <a:picLocks noChangeAspect="1"/>
          </p:cNvPicPr>
          <p:nvPr/>
        </p:nvPicPr>
        <p:blipFill>
          <a:blip r:embed="rId6"/>
          <a:srcRect t="11778" b="11778"/>
          <a:stretch>
            <a:fillRect/>
          </a:stretch>
        </p:blipFill>
        <p:spPr>
          <a:xfrm>
            <a:off x="6181344" y="1005840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7" name="Picture 16" descr="view0_mono.png"/>
          <p:cNvPicPr>
            <a:picLocks noChangeAspect="1"/>
          </p:cNvPicPr>
          <p:nvPr/>
        </p:nvPicPr>
        <p:blipFill>
          <a:blip r:embed="rId6"/>
          <a:srcRect l="30273" r="26758" t="29167" b="45833"/>
          <a:stretch>
            <a:fillRect/>
          </a:stretch>
        </p:blipFill>
        <p:spPr>
          <a:xfrm>
            <a:off x="6181344" y="2615184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pic>
        <p:nvPicPr>
          <p:cNvPr id="18" name="Picture 17" descr="view1_mono.png"/>
          <p:cNvPicPr>
            <a:picLocks noChangeAspect="1"/>
          </p:cNvPicPr>
          <p:nvPr/>
        </p:nvPicPr>
        <p:blipFill>
          <a:blip r:embed="rId7"/>
          <a:srcRect t="11778" b="11778"/>
          <a:stretch>
            <a:fillRect/>
          </a:stretch>
        </p:blipFill>
        <p:spPr>
          <a:xfrm>
            <a:off x="6181344" y="3493008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9" name="Picture 18" descr="view1_mono.png"/>
          <p:cNvPicPr>
            <a:picLocks noChangeAspect="1"/>
          </p:cNvPicPr>
          <p:nvPr/>
        </p:nvPicPr>
        <p:blipFill>
          <a:blip r:embed="rId7"/>
          <a:srcRect l="11328" r="45703" t="10417" b="64583"/>
          <a:stretch>
            <a:fillRect/>
          </a:stretch>
        </p:blipFill>
        <p:spPr>
          <a:xfrm>
            <a:off x="6181344" y="5102352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9089136" y="694944"/>
            <a:ext cx="274320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68077"/>
                </a:solidFill>
                <a:latin typeface="Arial"/>
              </a:rPr>
              <a:t>Ours</a:t>
            </a:r>
          </a:p>
        </p:txBody>
      </p:sp>
      <p:pic>
        <p:nvPicPr>
          <p:cNvPr id="21" name="Picture 20" descr="after.png"/>
          <p:cNvPicPr>
            <a:picLocks noChangeAspect="1"/>
          </p:cNvPicPr>
          <p:nvPr/>
        </p:nvPicPr>
        <p:blipFill>
          <a:blip r:embed="rId8"/>
          <a:srcRect t="11778" b="11778"/>
          <a:stretch>
            <a:fillRect/>
          </a:stretch>
        </p:blipFill>
        <p:spPr>
          <a:xfrm>
            <a:off x="9089136" y="1005840"/>
            <a:ext cx="2743200" cy="1572768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pic>
        <p:nvPicPr>
          <p:cNvPr id="22" name="Picture 21" descr="after.png"/>
          <p:cNvPicPr>
            <a:picLocks noChangeAspect="1"/>
          </p:cNvPicPr>
          <p:nvPr/>
        </p:nvPicPr>
        <p:blipFill>
          <a:blip r:embed="rId8"/>
          <a:srcRect l="30273" r="26758" t="29167" b="45833"/>
          <a:stretch>
            <a:fillRect/>
          </a:stretch>
        </p:blipFill>
        <p:spPr>
          <a:xfrm>
            <a:off x="9089136" y="2615184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pic>
        <p:nvPicPr>
          <p:cNvPr id="23" name="Picture 22" descr="view1_ours.png"/>
          <p:cNvPicPr>
            <a:picLocks noChangeAspect="1"/>
          </p:cNvPicPr>
          <p:nvPr/>
        </p:nvPicPr>
        <p:blipFill>
          <a:blip r:embed="rId9"/>
          <a:srcRect t="11778" b="11778"/>
          <a:stretch>
            <a:fillRect/>
          </a:stretch>
        </p:blipFill>
        <p:spPr>
          <a:xfrm>
            <a:off x="9089136" y="3493008"/>
            <a:ext cx="2743200" cy="1572768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pic>
        <p:nvPicPr>
          <p:cNvPr id="24" name="Picture 23" descr="view1_ours.png"/>
          <p:cNvPicPr>
            <a:picLocks noChangeAspect="1"/>
          </p:cNvPicPr>
          <p:nvPr/>
        </p:nvPicPr>
        <p:blipFill>
          <a:blip r:embed="rId9"/>
          <a:srcRect l="11328" r="45703" t="10417" b="64583"/>
          <a:stretch>
            <a:fillRect/>
          </a:stretch>
        </p:blipFill>
        <p:spPr>
          <a:xfrm>
            <a:off x="9089136" y="5102352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365760" y="5925312"/>
            <a:ext cx="1147572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50" b="0">
                <a:solidFill>
                  <a:srgbClr val="607681"/>
                </a:solidFill>
                <a:latin typeface="Arial"/>
              </a:rPr>
              <a:t>TUM desk: two middle-ranked Ours-minus-MonoGS PSNR 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72784"/>
            <a:ext cx="1147572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C36B31"/>
                </a:solidFill>
                <a:latin typeface="Arial"/>
              </a:rPr>
              <a:t>Orange panels are identical pixel crops across all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Replica reconstruction across scenes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No monocular MonoGS artifact was available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31720" y="667512"/>
            <a:ext cx="30175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667512"/>
            <a:ext cx="30175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Photo-SLAM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59" y="667512"/>
            <a:ext cx="30175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68077"/>
                </a:solidFill>
                <a:latin typeface="Arial"/>
              </a:rPr>
              <a:t>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16002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478A5"/>
                </a:solidFill>
                <a:latin typeface="Arial"/>
              </a:rPr>
              <a:t>office0</a:t>
            </a:r>
          </a:p>
        </p:txBody>
      </p:sp>
      <p:pic>
        <p:nvPicPr>
          <p:cNvPr id="9" name="Picture 8" descr="view0_gt.png"/>
          <p:cNvPicPr>
            <a:picLocks noChangeAspect="1"/>
          </p:cNvPicPr>
          <p:nvPr/>
        </p:nvPicPr>
        <p:blipFill>
          <a:blip r:embed="rId2"/>
          <a:srcRect t="14983" b="14983"/>
          <a:stretch>
            <a:fillRect/>
          </a:stretch>
        </p:blipFill>
        <p:spPr>
          <a:xfrm>
            <a:off x="2331720" y="987552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0" name="Picture 9" descr="view0_photo.png"/>
          <p:cNvPicPr>
            <a:picLocks noChangeAspect="1"/>
          </p:cNvPicPr>
          <p:nvPr/>
        </p:nvPicPr>
        <p:blipFill>
          <a:blip r:embed="rId3"/>
          <a:srcRect t="14983" b="14983"/>
          <a:stretch>
            <a:fillRect/>
          </a:stretch>
        </p:blipFill>
        <p:spPr>
          <a:xfrm>
            <a:off x="5577840" y="987552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1" name="Picture 10" descr="view0_ours.png"/>
          <p:cNvPicPr>
            <a:picLocks noChangeAspect="1"/>
          </p:cNvPicPr>
          <p:nvPr/>
        </p:nvPicPr>
        <p:blipFill>
          <a:blip r:embed="rId4"/>
          <a:srcRect t="14983" b="14983"/>
          <a:stretch>
            <a:fillRect/>
          </a:stretch>
        </p:blipFill>
        <p:spPr>
          <a:xfrm>
            <a:off x="8823959" y="987552"/>
            <a:ext cx="3017520" cy="11887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11480" y="2770632"/>
            <a:ext cx="16002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478A5"/>
                </a:solidFill>
                <a:latin typeface="Arial"/>
              </a:rPr>
              <a:t>office2</a:t>
            </a:r>
          </a:p>
        </p:txBody>
      </p:sp>
      <p:pic>
        <p:nvPicPr>
          <p:cNvPr id="13" name="Picture 12" descr="view0_gt.png"/>
          <p:cNvPicPr>
            <a:picLocks noChangeAspect="1"/>
          </p:cNvPicPr>
          <p:nvPr/>
        </p:nvPicPr>
        <p:blipFill>
          <a:blip r:embed="rId5"/>
          <a:srcRect t="14983" b="14983"/>
          <a:stretch>
            <a:fillRect/>
          </a:stretch>
        </p:blipFill>
        <p:spPr>
          <a:xfrm>
            <a:off x="2331720" y="2340864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4" name="Picture 13" descr="view0_photo.png"/>
          <p:cNvPicPr>
            <a:picLocks noChangeAspect="1"/>
          </p:cNvPicPr>
          <p:nvPr/>
        </p:nvPicPr>
        <p:blipFill>
          <a:blip r:embed="rId6"/>
          <a:srcRect t="14983" b="14983"/>
          <a:stretch>
            <a:fillRect/>
          </a:stretch>
        </p:blipFill>
        <p:spPr>
          <a:xfrm>
            <a:off x="5577840" y="2340864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5" name="Picture 14" descr="view0_ours.png"/>
          <p:cNvPicPr>
            <a:picLocks noChangeAspect="1"/>
          </p:cNvPicPr>
          <p:nvPr/>
        </p:nvPicPr>
        <p:blipFill>
          <a:blip r:embed="rId7"/>
          <a:srcRect t="14983" b="14983"/>
          <a:stretch>
            <a:fillRect/>
          </a:stretch>
        </p:blipFill>
        <p:spPr>
          <a:xfrm>
            <a:off x="8823959" y="2340864"/>
            <a:ext cx="3017520" cy="11887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11480" y="4123944"/>
            <a:ext cx="16002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478A5"/>
                </a:solidFill>
                <a:latin typeface="Arial"/>
              </a:rPr>
              <a:t>room0</a:t>
            </a:r>
          </a:p>
        </p:txBody>
      </p:sp>
      <p:pic>
        <p:nvPicPr>
          <p:cNvPr id="17" name="Picture 16" descr="view0_gt.png"/>
          <p:cNvPicPr>
            <a:picLocks noChangeAspect="1"/>
          </p:cNvPicPr>
          <p:nvPr/>
        </p:nvPicPr>
        <p:blipFill>
          <a:blip r:embed="rId8"/>
          <a:srcRect t="14983" b="14983"/>
          <a:stretch>
            <a:fillRect/>
          </a:stretch>
        </p:blipFill>
        <p:spPr>
          <a:xfrm>
            <a:off x="2331720" y="3694176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8" name="Picture 17" descr="view0_photo.png"/>
          <p:cNvPicPr>
            <a:picLocks noChangeAspect="1"/>
          </p:cNvPicPr>
          <p:nvPr/>
        </p:nvPicPr>
        <p:blipFill>
          <a:blip r:embed="rId9"/>
          <a:srcRect t="14983" b="14983"/>
          <a:stretch>
            <a:fillRect/>
          </a:stretch>
        </p:blipFill>
        <p:spPr>
          <a:xfrm>
            <a:off x="5577840" y="3694176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9" name="Picture 18" descr="view0_ours.png"/>
          <p:cNvPicPr>
            <a:picLocks noChangeAspect="1"/>
          </p:cNvPicPr>
          <p:nvPr/>
        </p:nvPicPr>
        <p:blipFill>
          <a:blip r:embed="rId10"/>
          <a:srcRect t="14983" b="14983"/>
          <a:stretch>
            <a:fillRect/>
          </a:stretch>
        </p:blipFill>
        <p:spPr>
          <a:xfrm>
            <a:off x="8823959" y="3694176"/>
            <a:ext cx="3017520" cy="11887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411480" y="5477255"/>
            <a:ext cx="16002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478A5"/>
                </a:solidFill>
                <a:latin typeface="Arial"/>
              </a:rPr>
              <a:t>room2</a:t>
            </a:r>
          </a:p>
        </p:txBody>
      </p:sp>
      <p:pic>
        <p:nvPicPr>
          <p:cNvPr id="21" name="Picture 20" descr="view0_gt.png"/>
          <p:cNvPicPr>
            <a:picLocks noChangeAspect="1"/>
          </p:cNvPicPr>
          <p:nvPr/>
        </p:nvPicPr>
        <p:blipFill>
          <a:blip r:embed="rId11"/>
          <a:srcRect t="14983" b="14983"/>
          <a:stretch>
            <a:fillRect/>
          </a:stretch>
        </p:blipFill>
        <p:spPr>
          <a:xfrm>
            <a:off x="2331720" y="5047488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22" name="Picture 21" descr="view0_photo.png"/>
          <p:cNvPicPr>
            <a:picLocks noChangeAspect="1"/>
          </p:cNvPicPr>
          <p:nvPr/>
        </p:nvPicPr>
        <p:blipFill>
          <a:blip r:embed="rId12"/>
          <a:srcRect t="14983" b="14983"/>
          <a:stretch>
            <a:fillRect/>
          </a:stretch>
        </p:blipFill>
        <p:spPr>
          <a:xfrm>
            <a:off x="5577840" y="5047488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23" name="Picture 22" descr="view0_ours.png"/>
          <p:cNvPicPr>
            <a:picLocks noChangeAspect="1"/>
          </p:cNvPicPr>
          <p:nvPr/>
        </p:nvPicPr>
        <p:blipFill>
          <a:blip r:embed="rId13"/>
          <a:srcRect t="14983" b="14983"/>
          <a:stretch>
            <a:fillRect/>
          </a:stretch>
        </p:blipFill>
        <p:spPr>
          <a:xfrm>
            <a:off x="8823959" y="5047488"/>
            <a:ext cx="3017520" cy="11887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607681"/>
                </a:solidFill>
                <a:latin typeface="Arial"/>
              </a:rPr>
              <a:t>All images use the same selected camera within each scene.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Component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All recorded attenuation cells and refinement controls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94944"/>
            <a:ext cx="557784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Opacity attenuation: relative LPIPS change (%)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32120" y="1097280"/>
            <a:ext cx="0" cy="4709160"/>
          </a:xfrm>
          <a:prstGeom prst="line">
            <a:avLst/>
          </a:prstGeom>
          <a:ln w="12700">
            <a:solidFill>
              <a:srgbClr val="60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8912" y="1143000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o3</a:t>
            </a:r>
          </a:p>
        </p:txBody>
      </p:sp>
      <p:sp>
        <p:nvSpPr>
          <p:cNvPr id="8" name="Rectangle 7"/>
          <p:cNvSpPr/>
          <p:nvPr/>
        </p:nvSpPr>
        <p:spPr>
          <a:xfrm>
            <a:off x="1932127" y="1161288"/>
            <a:ext cx="3599992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65199" y="1143000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517904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0473" y="1536192"/>
            <a:ext cx="3571646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3545" y="1517904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892807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40787" y="1911095"/>
            <a:ext cx="2891332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73859" y="1892807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267712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r0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9290" y="2286000"/>
            <a:ext cx="2522829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2362" y="2267712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-8.9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42615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r1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9525" y="2660903"/>
            <a:ext cx="2012594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2597" y="2642615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-7.1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017520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8577" y="3035808"/>
            <a:ext cx="453542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1649" y="3017520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392424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o0-k.9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9760" y="3410712"/>
            <a:ext cx="1502359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62832" y="3392424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-5.3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3767327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o0-k.6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1884" y="3785615"/>
            <a:ext cx="510235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4956" y="3767327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4142231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TUM-rel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17950" y="4160519"/>
            <a:ext cx="1814169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51022" y="4142231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-6.4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517136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TUM-adapt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62041" y="4535423"/>
            <a:ext cx="170078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95113" y="4517136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-0.6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892040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EuRoC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44721" y="4910327"/>
            <a:ext cx="1587398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77793" y="4892040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-5.6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5266944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7S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5285231"/>
            <a:ext cx="45720" cy="182880"/>
          </a:xfrm>
          <a:prstGeom prst="rect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59" y="5266944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800" b="1">
                <a:solidFill>
                  <a:srgbClr val="C36B31"/>
                </a:solidFill>
                <a:latin typeface="Arial"/>
              </a:rPr>
              <a:t>+0.16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694944"/>
            <a:ext cx="5468112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Refiner on vs. off: PSNR gain (dB)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1234440"/>
            <a:ext cx="148132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681"/>
                </a:solidFill>
                <a:latin typeface="Arial"/>
              </a:rPr>
              <a:t>ETH3D sofa_1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45552" y="1234440"/>
            <a:ext cx="3416838" cy="274320"/>
          </a:xfrm>
          <a:prstGeom prst="rect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53830" y="1234440"/>
            <a:ext cx="5943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3478A5"/>
                </a:solidFill>
                <a:latin typeface="Arial"/>
              </a:rPr>
              <a:t>+8.69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648" y="2075688"/>
            <a:ext cx="148132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681"/>
                </a:solidFill>
                <a:latin typeface="Arial"/>
              </a:rPr>
              <a:t>Replica office0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45552" y="2075688"/>
            <a:ext cx="1816547" cy="274320"/>
          </a:xfrm>
          <a:prstGeom prst="rect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53539" y="2075688"/>
            <a:ext cx="5943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3478A5"/>
                </a:solidFill>
                <a:latin typeface="Arial"/>
              </a:rPr>
              <a:t>+4.62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7648" y="2916936"/>
            <a:ext cx="148132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681"/>
                </a:solidFill>
                <a:latin typeface="Arial"/>
              </a:rPr>
              <a:t>TUM desk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45552" y="2916936"/>
            <a:ext cx="1384035" cy="274320"/>
          </a:xfrm>
          <a:prstGeom prst="rect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1027" y="2916936"/>
            <a:ext cx="5943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3478A5"/>
                </a:solidFill>
                <a:latin typeface="Arial"/>
              </a:rPr>
              <a:t>+3.52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3758184"/>
            <a:ext cx="148132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681"/>
                </a:solidFill>
                <a:latin typeface="Arial"/>
              </a:rPr>
              <a:t>EuRoC V1_01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45552" y="3758184"/>
            <a:ext cx="393192" cy="274320"/>
          </a:xfrm>
          <a:prstGeom prst="rect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0183" y="3758184"/>
            <a:ext cx="5943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3478A5"/>
                </a:solidFill>
                <a:latin typeface="Arial"/>
              </a:rPr>
              <a:t>+1.00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480060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0528" y="4873752"/>
            <a:ext cx="497433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Interpretation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0528" y="5157216"/>
            <a:ext cx="4974336" cy="54864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Refinement gives the largest controlled gain.
Opacity reduction is robust; confidence allocation is not.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199632"/>
            <a:ext cx="1129284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323F"/>
                </a:solidFill>
                <a:latin typeface="Arial"/>
              </a:rPr>
              <a:t>External baseline comparison uses the released head with attenuation 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2000" y="1662308"/>
            <a:ext cx="2129043" cy="276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2" b="1">
                <a:solidFill>
                  <a:srgbClr val="20282C"/>
                </a:solidFill>
                <a:latin typeface="DejaVu Sans"/>
              </a:rPr>
              <a:t>(a) Shared anchor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9915" y="1662308"/>
            <a:ext cx="3765199" cy="276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2" b="1">
                <a:solidFill>
                  <a:srgbClr val="20282C"/>
                </a:solidFill>
                <a:latin typeface="DejaVu Sans"/>
              </a:rPr>
              <a:t>(b) Same-camera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7487" y="1662308"/>
            <a:ext cx="1263301" cy="276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2" b="1">
                <a:solidFill>
                  <a:srgbClr val="20282C"/>
                </a:solidFill>
                <a:latin typeface="DejaVu Sans"/>
              </a:rPr>
              <a:t>(c) Replica</a:t>
            </a:r>
          </a:p>
        </p:txBody>
      </p:sp>
      <p:sp>
        <p:nvSpPr>
          <p:cNvPr id="5" name="Freeform 4"/>
          <p:cNvSpPr/>
          <p:nvPr/>
        </p:nvSpPr>
        <p:spPr>
          <a:xfrm>
            <a:off x="3741993" y="1654168"/>
            <a:ext cx="0" cy="3418833"/>
          </a:xfrm>
          <a:custGeom>
            <a:avLst/>
            <a:gdLst/>
            <a:ahLst/>
            <a:cxnLst/>
            <a:rect l="l" t="t" r="r" b="b"/>
            <a:pathLst>
              <a:path w="0" h="3418833">
                <a:moveTo>
                  <a:pt x="0" y="0"/>
                </a:moveTo>
                <a:lnTo>
                  <a:pt x="0" y="3418833"/>
                </a:lnTo>
              </a:path>
            </a:pathLst>
          </a:custGeom>
          <a:noFill/>
          <a:ln w="11305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9212125" y="1654168"/>
            <a:ext cx="0" cy="3418833"/>
          </a:xfrm>
          <a:custGeom>
            <a:avLst/>
            <a:gdLst/>
            <a:ahLst/>
            <a:cxnLst/>
            <a:rect l="l" t="t" r="r" b="b"/>
            <a:pathLst>
              <a:path w="0" h="3418833">
                <a:moveTo>
                  <a:pt x="0" y="0"/>
                </a:moveTo>
                <a:lnTo>
                  <a:pt x="0" y="3418833"/>
                </a:lnTo>
              </a:path>
            </a:pathLst>
          </a:custGeom>
          <a:noFill/>
          <a:ln w="11305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724" y="2875180"/>
            <a:ext cx="700047" cy="504685"/>
          </a:xfrm>
          <a:custGeom>
            <a:avLst/>
            <a:gdLst/>
            <a:ahLst/>
            <a:cxnLst/>
            <a:rect l="l" t="t" r="r" b="b"/>
            <a:pathLst>
              <a:path w="700047" h="504685">
                <a:moveTo>
                  <a:pt x="0" y="0"/>
                </a:moveTo>
                <a:lnTo>
                  <a:pt x="700047" y="504685"/>
                </a:lnTo>
              </a:path>
            </a:pathLst>
          </a:custGeom>
          <a:noFill/>
          <a:ln w="15827">
            <a:solidFill>
              <a:srgbClr val="9DA8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99923" y="2875180"/>
            <a:ext cx="162801" cy="1269852"/>
          </a:xfrm>
          <a:custGeom>
            <a:avLst/>
            <a:gdLst/>
            <a:ahLst/>
            <a:cxnLst/>
            <a:rect l="l" t="t" r="r" b="b"/>
            <a:pathLst>
              <a:path w="162801" h="1269852">
                <a:moveTo>
                  <a:pt x="162801" y="0"/>
                </a:moveTo>
                <a:lnTo>
                  <a:pt x="0" y="1269852"/>
                </a:lnTo>
              </a:path>
            </a:pathLst>
          </a:custGeom>
          <a:noFill/>
          <a:ln w="15827">
            <a:solidFill>
              <a:srgbClr val="9DA8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9463" y="2801919"/>
            <a:ext cx="146521" cy="146521"/>
          </a:xfrm>
          <a:prstGeom prst="rect">
            <a:avLst/>
          </a:prstGeom>
          <a:solidFill>
            <a:srgbClr val="FFFFFF"/>
          </a:solidFill>
          <a:ln w="15827">
            <a:solidFill>
              <a:srgbClr val="9DA8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599923" y="3980928"/>
            <a:ext cx="304764" cy="328208"/>
          </a:xfrm>
          <a:custGeom>
            <a:avLst/>
            <a:gdLst/>
            <a:ahLst/>
            <a:cxnLst/>
            <a:rect l="l" t="t" r="r" b="b"/>
            <a:pathLst>
              <a:path w="304764" h="328208">
                <a:moveTo>
                  <a:pt x="0" y="164104"/>
                </a:moveTo>
                <a:lnTo>
                  <a:pt x="304764" y="0"/>
                </a:lnTo>
                <a:lnTo>
                  <a:pt x="304764" y="328208"/>
                </a:lnTo>
                <a:lnTo>
                  <a:pt x="0" y="164104"/>
                </a:lnTo>
              </a:path>
            </a:pathLst>
          </a:custGeom>
          <a:noFill/>
          <a:ln w="18089">
            <a:solidFill>
              <a:srgbClr val="9DA8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687" y="3910598"/>
            <a:ext cx="164104" cy="468869"/>
          </a:xfrm>
          <a:custGeom>
            <a:avLst/>
            <a:gdLst/>
            <a:ahLst/>
            <a:cxnLst/>
            <a:rect l="l" t="t" r="r" b="b"/>
            <a:pathLst>
              <a:path w="164104" h="468869">
                <a:moveTo>
                  <a:pt x="0" y="70330"/>
                </a:moveTo>
                <a:lnTo>
                  <a:pt x="164104" y="0"/>
                </a:lnTo>
                <a:lnTo>
                  <a:pt x="164104" y="468869"/>
                </a:lnTo>
                <a:lnTo>
                  <a:pt x="0" y="398538"/>
                </a:lnTo>
              </a:path>
            </a:pathLst>
          </a:custGeom>
          <a:noFill/>
          <a:ln w="13566">
            <a:solidFill>
              <a:srgbClr val="9DA8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20100000">
            <a:off x="1161914" y="3269730"/>
            <a:ext cx="279367" cy="112821"/>
          </a:xfrm>
          <a:prstGeom prst="ellipse">
            <a:avLst/>
          </a:prstGeom>
          <a:solidFill>
            <a:srgbClr val="FFFFFF"/>
          </a:solidFill>
          <a:ln w="15827">
            <a:solidFill>
              <a:srgbClr val="9DA8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1200000">
            <a:off x="1355322" y="3183770"/>
            <a:ext cx="279367" cy="112821"/>
          </a:xfrm>
          <a:prstGeom prst="ellipse">
            <a:avLst/>
          </a:prstGeom>
          <a:solidFill>
            <a:srgbClr val="FFFFFF"/>
          </a:solidFill>
          <a:ln w="15827">
            <a:solidFill>
              <a:srgbClr val="9DA8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20700000">
            <a:off x="1527240" y="3312709"/>
            <a:ext cx="279367" cy="112821"/>
          </a:xfrm>
          <a:prstGeom prst="ellipse">
            <a:avLst/>
          </a:prstGeom>
          <a:solidFill>
            <a:srgbClr val="FFFFFF"/>
          </a:solidFill>
          <a:ln w="15827">
            <a:solidFill>
              <a:srgbClr val="9DA8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1080000">
            <a:off x="1280108" y="3409413"/>
            <a:ext cx="279367" cy="112821"/>
          </a:xfrm>
          <a:prstGeom prst="ellipse">
            <a:avLst/>
          </a:prstGeom>
          <a:solidFill>
            <a:srgbClr val="FFFFFF"/>
          </a:solidFill>
          <a:ln w="15827">
            <a:solidFill>
              <a:srgbClr val="9DA8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358" y="2589373"/>
            <a:ext cx="455844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9DA8AE"/>
                </a:solidFill>
                <a:latin typeface="DejaVu Sans"/>
              </a:rPr>
              <a:t>k</a:t>
            </a:r>
          </a:p>
        </p:txBody>
      </p:sp>
      <p:sp>
        <p:nvSpPr>
          <p:cNvPr id="17" name="Freeform 16"/>
          <p:cNvSpPr/>
          <p:nvPr/>
        </p:nvSpPr>
        <p:spPr>
          <a:xfrm>
            <a:off x="2227938" y="2484456"/>
            <a:ext cx="700047" cy="504685"/>
          </a:xfrm>
          <a:custGeom>
            <a:avLst/>
            <a:gdLst/>
            <a:ahLst/>
            <a:cxnLst/>
            <a:rect l="l" t="t" r="r" b="b"/>
            <a:pathLst>
              <a:path w="700047" h="504685">
                <a:moveTo>
                  <a:pt x="0" y="0"/>
                </a:moveTo>
                <a:lnTo>
                  <a:pt x="700047" y="504685"/>
                </a:lnTo>
              </a:path>
            </a:pathLst>
          </a:custGeom>
          <a:noFill/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065137" y="2484456"/>
            <a:ext cx="162801" cy="1269852"/>
          </a:xfrm>
          <a:custGeom>
            <a:avLst/>
            <a:gdLst/>
            <a:ahLst/>
            <a:cxnLst/>
            <a:rect l="l" t="t" r="r" b="b"/>
            <a:pathLst>
              <a:path w="162801" h="1269852">
                <a:moveTo>
                  <a:pt x="162801" y="0"/>
                </a:moveTo>
                <a:lnTo>
                  <a:pt x="0" y="1269852"/>
                </a:lnTo>
              </a:path>
            </a:pathLst>
          </a:custGeom>
          <a:noFill/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4678" y="2411196"/>
            <a:ext cx="146521" cy="146521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065137" y="3590205"/>
            <a:ext cx="304764" cy="328207"/>
          </a:xfrm>
          <a:custGeom>
            <a:avLst/>
            <a:gdLst/>
            <a:ahLst/>
            <a:cxnLst/>
            <a:rect l="l" t="t" r="r" b="b"/>
            <a:pathLst>
              <a:path w="304764" h="328207">
                <a:moveTo>
                  <a:pt x="0" y="164103"/>
                </a:moveTo>
                <a:lnTo>
                  <a:pt x="304764" y="0"/>
                </a:lnTo>
                <a:lnTo>
                  <a:pt x="304764" y="328207"/>
                </a:lnTo>
                <a:lnTo>
                  <a:pt x="0" y="164103"/>
                </a:lnTo>
              </a:path>
            </a:pathLst>
          </a:custGeom>
          <a:noFill/>
          <a:ln w="18089">
            <a:solidFill>
              <a:srgbClr val="3766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369901" y="3519874"/>
            <a:ext cx="164104" cy="468869"/>
          </a:xfrm>
          <a:custGeom>
            <a:avLst/>
            <a:gdLst/>
            <a:ahLst/>
            <a:cxnLst/>
            <a:rect l="l" t="t" r="r" b="b"/>
            <a:pathLst>
              <a:path w="164104" h="468869">
                <a:moveTo>
                  <a:pt x="0" y="70331"/>
                </a:moveTo>
                <a:lnTo>
                  <a:pt x="164104" y="0"/>
                </a:lnTo>
                <a:lnTo>
                  <a:pt x="164104" y="468869"/>
                </a:lnTo>
                <a:lnTo>
                  <a:pt x="0" y="398538"/>
                </a:lnTo>
              </a:path>
            </a:pathLst>
          </a:custGeom>
          <a:noFill/>
          <a:ln w="13566">
            <a:solidFill>
              <a:srgbClr val="3766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 rot="20100000">
            <a:off x="2627128" y="2879006"/>
            <a:ext cx="279367" cy="112821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200000">
            <a:off x="2820536" y="2793047"/>
            <a:ext cx="279367" cy="112821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20700000">
            <a:off x="2992454" y="2921985"/>
            <a:ext cx="279367" cy="112821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 rot="1080000">
            <a:off x="2745322" y="3018690"/>
            <a:ext cx="279367" cy="112821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5573" y="2198649"/>
            <a:ext cx="455844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k′</a:t>
            </a:r>
          </a:p>
        </p:txBody>
      </p:sp>
      <p:sp>
        <p:nvSpPr>
          <p:cNvPr id="27" name="Freeform 26"/>
          <p:cNvSpPr/>
          <p:nvPr/>
        </p:nvSpPr>
        <p:spPr>
          <a:xfrm>
            <a:off x="835985" y="2503992"/>
            <a:ext cx="1318693" cy="351652"/>
          </a:xfrm>
          <a:custGeom>
            <a:avLst/>
            <a:gdLst/>
            <a:ahLst/>
            <a:cxnLst/>
            <a:rect l="l" t="t" r="r" b="b"/>
            <a:pathLst>
              <a:path w="1318693" h="351652">
                <a:moveTo>
                  <a:pt x="0" y="351652"/>
                </a:moveTo>
                <a:lnTo>
                  <a:pt x="1318693" y="0"/>
                </a:lnTo>
              </a:path>
            </a:pathLst>
          </a:custGeom>
          <a:noFill/>
          <a:ln w="22611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4561" y="2100968"/>
            <a:ext cx="1433614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Pose correction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35838" y="3345948"/>
            <a:ext cx="881974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167568"/>
                </a:solidFill>
                <a:latin typeface="DejaVu Sans"/>
              </a:rPr>
              <a:t>local 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3644" y="4176236"/>
            <a:ext cx="696994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376687"/>
                </a:solidFill>
                <a:latin typeface="DejaVu Sans"/>
              </a:rPr>
              <a:t>camera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890" y="4710406"/>
            <a:ext cx="3085131" cy="2367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1">
                <a:solidFill>
                  <a:srgbClr val="20282C"/>
                </a:solidFill>
                <a:latin typeface="DejaVu Sans"/>
              </a:rPr>
              <a:t>Map + cameras move together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3267" y="2149809"/>
            <a:ext cx="1130198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Photo-SLAM</a:t>
            </a:r>
          </a:p>
        </p:txBody>
      </p:sp>
      <p:pic>
        <p:nvPicPr>
          <p:cNvPr id="33" name="Picture 32" descr="view0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915" y="2517017"/>
            <a:ext cx="2376902" cy="1337007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322737" y="2906977"/>
            <a:ext cx="1392716" cy="519947"/>
          </a:xfrm>
          <a:prstGeom prst="rect">
            <a:avLst/>
          </a:prstGeom>
          <a:noFill/>
          <a:ln w="1469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view0_photo.png"/>
          <p:cNvPicPr>
            <a:picLocks noChangeAspect="1"/>
          </p:cNvPicPr>
          <p:nvPr/>
        </p:nvPicPr>
        <p:blipFill>
          <a:blip r:embed="rId2"/>
          <a:srcRect l="14844" r="26562" t="29167" b="31944"/>
          <a:stretch>
            <a:fillRect/>
          </a:stretch>
        </p:blipFill>
        <p:spPr>
          <a:xfrm>
            <a:off x="3969915" y="4014791"/>
            <a:ext cx="2376902" cy="88737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073758" y="2149809"/>
            <a:ext cx="1574228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1">
                <a:solidFill>
                  <a:srgbClr val="167568"/>
                </a:solidFill>
                <a:latin typeface="DejaVu Sans"/>
              </a:rPr>
              <a:t>Splatt3R-SLAM</a:t>
            </a:r>
          </a:p>
        </p:txBody>
      </p:sp>
      <p:pic>
        <p:nvPicPr>
          <p:cNvPr id="37" name="Picture 36" descr="view0_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421" y="2517017"/>
            <a:ext cx="2376902" cy="133700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7025243" y="2906977"/>
            <a:ext cx="1392716" cy="519947"/>
          </a:xfrm>
          <a:prstGeom prst="rect">
            <a:avLst/>
          </a:prstGeom>
          <a:noFill/>
          <a:ln w="1469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view0_ours.png"/>
          <p:cNvPicPr>
            <a:picLocks noChangeAspect="1"/>
          </p:cNvPicPr>
          <p:nvPr/>
        </p:nvPicPr>
        <p:blipFill>
          <a:blip r:embed="rId3"/>
          <a:srcRect l="14844" r="26562" t="29167" b="31944"/>
          <a:stretch>
            <a:fillRect/>
          </a:stretch>
        </p:blipFill>
        <p:spPr>
          <a:xfrm>
            <a:off x="6672421" y="4014791"/>
            <a:ext cx="2376902" cy="88737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701311" y="4944478"/>
            <a:ext cx="3584057" cy="2244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9" b="0">
                <a:solidFill>
                  <a:srgbClr val="59636A"/>
                </a:solidFill>
                <a:latin typeface="DejaVu Sans"/>
              </a:rPr>
              <a:t>Identical crop · representative office0 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72608" y="2152884"/>
            <a:ext cx="1667723" cy="23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8" b="0">
                <a:solidFill>
                  <a:srgbClr val="20282C"/>
                </a:solidFill>
                <a:latin typeface="DejaVu Sans"/>
              </a:rPr>
              <a:t>Mean PSNR (dB) ↑</a:t>
            </a:r>
          </a:p>
        </p:txBody>
      </p:sp>
      <p:sp>
        <p:nvSpPr>
          <p:cNvPr id="42" name="Freeform 41"/>
          <p:cNvSpPr/>
          <p:nvPr/>
        </p:nvSpPr>
        <p:spPr>
          <a:xfrm>
            <a:off x="9895892" y="4324114"/>
            <a:ext cx="1855938" cy="0"/>
          </a:xfrm>
          <a:custGeom>
            <a:avLst/>
            <a:gdLst/>
            <a:ahLst/>
            <a:cxnLst/>
            <a:rect l="l" t="t" r="r" b="b"/>
            <a:pathLst>
              <a:path w="1855938" h="0">
                <a:moveTo>
                  <a:pt x="0" y="0"/>
                </a:moveTo>
                <a:lnTo>
                  <a:pt x="1855938" y="0"/>
                </a:lnTo>
              </a:path>
            </a:pathLst>
          </a:custGeom>
          <a:noFill/>
          <a:ln w="10175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087" y="4210334"/>
            <a:ext cx="455844" cy="227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17" b="0">
                <a:solidFill>
                  <a:srgbClr val="59636A"/>
                </a:solidFill>
                <a:latin typeface="DejaVu Sans"/>
              </a:rPr>
              <a:t>0</a:t>
            </a:r>
          </a:p>
        </p:txBody>
      </p:sp>
      <p:sp>
        <p:nvSpPr>
          <p:cNvPr id="44" name="Freeform 43"/>
          <p:cNvSpPr/>
          <p:nvPr/>
        </p:nvSpPr>
        <p:spPr>
          <a:xfrm>
            <a:off x="9895892" y="3727175"/>
            <a:ext cx="1855938" cy="0"/>
          </a:xfrm>
          <a:custGeom>
            <a:avLst/>
            <a:gdLst/>
            <a:ahLst/>
            <a:cxnLst/>
            <a:rect l="l" t="t" r="r" b="b"/>
            <a:pathLst>
              <a:path w="1855938" h="0">
                <a:moveTo>
                  <a:pt x="0" y="0"/>
                </a:moveTo>
                <a:lnTo>
                  <a:pt x="1855938" y="0"/>
                </a:lnTo>
              </a:path>
            </a:pathLst>
          </a:custGeom>
          <a:noFill/>
          <a:ln w="10175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087" y="3613395"/>
            <a:ext cx="455844" cy="227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17" b="0">
                <a:solidFill>
                  <a:srgbClr val="59636A"/>
                </a:solidFill>
                <a:latin typeface="DejaVu Sans"/>
              </a:rPr>
              <a:t>10</a:t>
            </a:r>
          </a:p>
        </p:txBody>
      </p:sp>
      <p:sp>
        <p:nvSpPr>
          <p:cNvPr id="46" name="Freeform 45"/>
          <p:cNvSpPr/>
          <p:nvPr/>
        </p:nvSpPr>
        <p:spPr>
          <a:xfrm>
            <a:off x="9895892" y="3130236"/>
            <a:ext cx="1855938" cy="0"/>
          </a:xfrm>
          <a:custGeom>
            <a:avLst/>
            <a:gdLst/>
            <a:ahLst/>
            <a:cxnLst/>
            <a:rect l="l" t="t" r="r" b="b"/>
            <a:pathLst>
              <a:path w="1855938" h="0">
                <a:moveTo>
                  <a:pt x="0" y="0"/>
                </a:moveTo>
                <a:lnTo>
                  <a:pt x="1855938" y="0"/>
                </a:lnTo>
              </a:path>
            </a:pathLst>
          </a:custGeom>
          <a:noFill/>
          <a:ln w="10175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087" y="3016456"/>
            <a:ext cx="455844" cy="227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17" b="0">
                <a:solidFill>
                  <a:srgbClr val="59636A"/>
                </a:solidFill>
                <a:latin typeface="DejaVu Sans"/>
              </a:rPr>
              <a:t>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74974" y="3161098"/>
            <a:ext cx="488404" cy="1163016"/>
          </a:xfrm>
          <a:prstGeom prst="rect">
            <a:avLst/>
          </a:prstGeom>
          <a:solidFill>
            <a:srgbClr val="59636A"/>
          </a:solidFill>
          <a:ln w="2261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91322" y="2867603"/>
            <a:ext cx="655707" cy="2613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3" b="1">
                <a:solidFill>
                  <a:srgbClr val="59636A"/>
                </a:solidFill>
                <a:latin typeface="DejaVu Sans"/>
              </a:rPr>
              <a:t>19.48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43458" y="4401083"/>
            <a:ext cx="551435" cy="2367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20282C"/>
                </a:solidFill>
                <a:latin typeface="DejaVu Sans"/>
              </a:rPr>
              <a:t>Photo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035503" y="2950007"/>
            <a:ext cx="488404" cy="1374106"/>
          </a:xfrm>
          <a:prstGeom prst="rect">
            <a:avLst/>
          </a:prstGeom>
          <a:solidFill>
            <a:srgbClr val="167568"/>
          </a:solidFill>
          <a:ln w="2261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50996" y="2656512"/>
            <a:ext cx="657419" cy="2613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3" b="1">
                <a:solidFill>
                  <a:srgbClr val="167568"/>
                </a:solidFill>
                <a:latin typeface="DejaVu Sans"/>
              </a:rPr>
              <a:t>23.02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43298" y="4401083"/>
            <a:ext cx="472815" cy="2367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20282C"/>
                </a:solidFill>
                <a:latin typeface="DejaVu Sans"/>
              </a:rPr>
              <a:t>Ours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95043" y="4675042"/>
            <a:ext cx="1201792" cy="3075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167568"/>
                </a:solidFill>
                <a:latin typeface="DejaVu Sans"/>
              </a:rPr>
              <a:t>+3.54 dB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7498" y="4954608"/>
            <a:ext cx="1876881" cy="2367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20282C"/>
                </a:solidFill>
                <a:latin typeface="DejaVu Sans"/>
              </a:rPr>
              <a:t>8/8 scene PSNR wins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