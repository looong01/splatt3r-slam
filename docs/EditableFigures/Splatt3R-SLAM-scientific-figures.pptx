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Predict, anchor, refine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RA-L method navigation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20040" y="658368"/>
            <a:ext cx="182880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3478A5"/>
                </a:solidFill>
                <a:latin typeface="Arial"/>
              </a:rPr>
              <a:t>1  IMAGE PAIR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2"/>
          <a:srcRect t="211" b="211"/>
          <a:stretch>
            <a:fillRect/>
          </a:stretch>
        </p:blipFill>
        <p:spPr>
          <a:xfrm>
            <a:off x="320040" y="941832"/>
            <a:ext cx="1444752" cy="1078992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7" name="Picture 6" descr="view1_gt.png"/>
          <p:cNvPicPr>
            <a:picLocks noChangeAspect="1"/>
          </p:cNvPicPr>
          <p:nvPr/>
        </p:nvPicPr>
        <p:blipFill>
          <a:blip r:embed="rId3"/>
          <a:srcRect t="211" b="211"/>
          <a:stretch>
            <a:fillRect/>
          </a:stretch>
        </p:blipFill>
        <p:spPr>
          <a:xfrm>
            <a:off x="658368" y="1490472"/>
            <a:ext cx="1444752" cy="10789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20040" y="2670048"/>
            <a:ext cx="178308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current frame + keyframe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1691640"/>
            <a:ext cx="292608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2418588" y="164134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941832"/>
            <a:ext cx="1938528" cy="14813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014984"/>
            <a:ext cx="17190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298448"/>
            <a:ext cx="1719072" cy="10698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Frozen MASt3R features
Pointmap + matching
Gaussian DPT 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2514600"/>
            <a:ext cx="178308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3478A5"/>
                </a:solidFill>
                <a:latin typeface="Arial"/>
              </a:rPr>
              <a:t>Sec. III-A / Eq. (1)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25696" y="1344168"/>
            <a:ext cx="31089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86300" y="129387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841248"/>
            <a:ext cx="2057400" cy="10241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914400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Geometry 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1197864"/>
            <a:ext cx="1837943" cy="6126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tracking -&gt; keyframes -&gt; pose graph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25696" y="2084831"/>
            <a:ext cx="310896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686300" y="2034539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1965960"/>
            <a:ext cx="2057400" cy="9875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2039112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Gaussian lane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2322576"/>
            <a:ext cx="1837943" cy="5760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means, shape, color, opacity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39712" y="1417320"/>
            <a:ext cx="283464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072884" y="136702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50608" y="841248"/>
            <a:ext cx="1901952" cy="2112264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0336" y="914400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keyframe anchor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1197864"/>
            <a:ext cx="168249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Current pose moves both:
  local Gaussian map
  supervision cameras</a:t>
            </a:r>
          </a:p>
        </p:txBody>
      </p:sp>
      <p:sp>
        <p:nvSpPr>
          <p:cNvPr id="30" name="Trapezoid 29"/>
          <p:cNvSpPr/>
          <p:nvPr/>
        </p:nvSpPr>
        <p:spPr>
          <a:xfrm rot="5400000">
            <a:off x="7406640" y="2139696"/>
            <a:ext cx="295351" cy="208483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554315" y="2243937"/>
            <a:ext cx="225857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729880" y="219364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900000">
            <a:off x="7936992" y="2197303"/>
            <a:ext cx="264261" cy="11658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20400000">
            <a:off x="8154619" y="2072944"/>
            <a:ext cx="233172" cy="108813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600000">
            <a:off x="8232343" y="2290572"/>
            <a:ext cx="279806" cy="124358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20880000">
            <a:off x="8465515" y="2150668"/>
            <a:ext cx="209854" cy="101041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2048" y="3044952"/>
            <a:ext cx="1719072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Sec. III-B / Eqs. (2-4)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12280" y="2441448"/>
            <a:ext cx="320040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7082028" y="239115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070848" y="180136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9322308" y="175107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400032" y="841248"/>
            <a:ext cx="2450592" cy="2112264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59" y="914400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Photometric refinement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1197864"/>
            <a:ext cx="223113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sample tracked RGB
render current map
L1 + SSIM loss
Adam update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3044952"/>
            <a:ext cx="2212848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A14D78"/>
                </a:solidFill>
                <a:latin typeface="Arial"/>
              </a:rPr>
              <a:t>Sec. III-C / Eq. (5)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3346704"/>
            <a:ext cx="256032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2  REAL DATA FLOW</a:t>
            </a:r>
          </a:p>
        </p:txBody>
      </p:sp>
      <p:pic>
        <p:nvPicPr>
          <p:cNvPr id="47" name="Picture 46" descr="before.png"/>
          <p:cNvPicPr>
            <a:picLocks noChangeAspect="1"/>
          </p:cNvPicPr>
          <p:nvPr/>
        </p:nvPicPr>
        <p:blipFill>
          <a:blip r:embed="rId4"/>
          <a:srcRect t="6219" b="6219"/>
          <a:stretch>
            <a:fillRect/>
          </a:stretch>
        </p:blipFill>
        <p:spPr>
          <a:xfrm>
            <a:off x="320040" y="3675887"/>
            <a:ext cx="3063240" cy="2011680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48" name="Picture 47" descr="after.png"/>
          <p:cNvPicPr>
            <a:picLocks noChangeAspect="1"/>
          </p:cNvPicPr>
          <p:nvPr/>
        </p:nvPicPr>
        <p:blipFill>
          <a:blip r:embed="rId5"/>
          <a:srcRect t="6219" b="6219"/>
          <a:stretch>
            <a:fillRect/>
          </a:stretch>
        </p:blipFill>
        <p:spPr>
          <a:xfrm>
            <a:off x="3675887" y="3675887"/>
            <a:ext cx="3063240" cy="201168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9" name="TextBox 48"/>
          <p:cNvSpPr txBox="1"/>
          <p:nvPr/>
        </p:nvSpPr>
        <p:spPr>
          <a:xfrm>
            <a:off x="320040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607681"/>
                </a:solidFill>
                <a:latin typeface="Arial"/>
              </a:rPr>
              <a:t>predicted map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75887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68077"/>
                </a:solidFill>
                <a:latin typeface="Arial"/>
              </a:rPr>
              <a:t>same camera after refinement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01568" y="4681728"/>
            <a:ext cx="2468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3598164" y="46314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150608" y="3675887"/>
            <a:ext cx="1901952" cy="201168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0336" y="3749039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Supervision sampler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032503"/>
            <a:ext cx="168249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200-frame reservoir
64 recent frames
30% recent sampling</a:t>
            </a:r>
          </a:p>
        </p:txBody>
      </p:sp>
      <p:sp>
        <p:nvSpPr>
          <p:cNvPr id="56" name="Trapezoid 55"/>
          <p:cNvSpPr/>
          <p:nvPr/>
        </p:nvSpPr>
        <p:spPr>
          <a:xfrm rot="5400000">
            <a:off x="7452360" y="4983480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623352" y="5104180"/>
            <a:ext cx="261519" cy="0"/>
          </a:xfrm>
          <a:prstGeom prst="line">
            <a:avLst/>
          </a:prstGeom>
          <a:ln w="127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7834579" y="505388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rapezoid 58"/>
          <p:cNvSpPr/>
          <p:nvPr/>
        </p:nvSpPr>
        <p:spPr>
          <a:xfrm rot="5400000">
            <a:off x="8001000" y="4910328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171992" y="5031028"/>
            <a:ext cx="261519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83219" y="49807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070848" y="468172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9322308" y="46314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400032" y="3675887"/>
            <a:ext cx="2450592" cy="2011680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759" y="3749039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Optional initialisation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09759" y="4032503"/>
            <a:ext cx="223113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head-only adaptation
opacity attenuation
External comparison:
released head; attenuation off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5742432"/>
            <a:ext cx="2212848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Sec. III-D / Eqs. (7-8)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" y="6327648"/>
            <a:ext cx="1152144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Pose updates change anchors; appearance gradients never update the tracker.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Predict, anchor, refine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MSc method navigation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20040" y="658368"/>
            <a:ext cx="182880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3478A5"/>
                </a:solidFill>
                <a:latin typeface="Arial"/>
              </a:rPr>
              <a:t>1  IMAGE PAIR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2"/>
          <a:srcRect t="211" b="211"/>
          <a:stretch>
            <a:fillRect/>
          </a:stretch>
        </p:blipFill>
        <p:spPr>
          <a:xfrm>
            <a:off x="320040" y="941832"/>
            <a:ext cx="1444752" cy="1078992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7" name="Picture 6" descr="view1_gt.png"/>
          <p:cNvPicPr>
            <a:picLocks noChangeAspect="1"/>
          </p:cNvPicPr>
          <p:nvPr/>
        </p:nvPicPr>
        <p:blipFill>
          <a:blip r:embed="rId3"/>
          <a:srcRect t="211" b="211"/>
          <a:stretch>
            <a:fillRect/>
          </a:stretch>
        </p:blipFill>
        <p:spPr>
          <a:xfrm>
            <a:off x="658368" y="1490472"/>
            <a:ext cx="1444752" cy="10789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20040" y="2670048"/>
            <a:ext cx="178308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current frame + keyframe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1691640"/>
            <a:ext cx="292608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2418588" y="164134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941832"/>
            <a:ext cx="1938528" cy="14813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014984"/>
            <a:ext cx="17190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298448"/>
            <a:ext cx="1719072" cy="10698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Frozen MASt3R features
Pointmap + matching
Gaussian DPT 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2514600"/>
            <a:ext cx="178308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3478A5"/>
                </a:solidFill>
                <a:latin typeface="Arial"/>
              </a:rPr>
              <a:t>Ch. 2 / Eq. (2.7)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25696" y="1344168"/>
            <a:ext cx="31089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86300" y="129387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841248"/>
            <a:ext cx="2057400" cy="10241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914400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Geometry 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1197864"/>
            <a:ext cx="1837943" cy="6126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tracking -&gt; keyframes -&gt; pose graph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25696" y="2084831"/>
            <a:ext cx="310896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686300" y="2034539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1965960"/>
            <a:ext cx="2057400" cy="9875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2039112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Gaussian lane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2322576"/>
            <a:ext cx="1837943" cy="5760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means, shape, color, opacity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39712" y="1417320"/>
            <a:ext cx="283464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072884" y="136702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50608" y="841248"/>
            <a:ext cx="1901952" cy="2112264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0336" y="914400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keyframe anchor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1197864"/>
            <a:ext cx="168249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Current pose moves both:
  local Gaussian map
  supervision cameras</a:t>
            </a:r>
          </a:p>
        </p:txBody>
      </p:sp>
      <p:sp>
        <p:nvSpPr>
          <p:cNvPr id="30" name="Trapezoid 29"/>
          <p:cNvSpPr/>
          <p:nvPr/>
        </p:nvSpPr>
        <p:spPr>
          <a:xfrm rot="5400000">
            <a:off x="7406640" y="2139696"/>
            <a:ext cx="295351" cy="208483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554315" y="2243937"/>
            <a:ext cx="225857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729880" y="219364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900000">
            <a:off x="7936992" y="2197303"/>
            <a:ext cx="264261" cy="11658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20400000">
            <a:off x="8154619" y="2072944"/>
            <a:ext cx="233172" cy="108813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600000">
            <a:off x="8232343" y="2290572"/>
            <a:ext cx="279806" cy="124358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20880000">
            <a:off x="8465515" y="2150668"/>
            <a:ext cx="209854" cy="101041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2048" y="3044952"/>
            <a:ext cx="1719072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Ch. 4 / Eqs. (4.1-4.3)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12280" y="2441448"/>
            <a:ext cx="320040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7082028" y="239115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070848" y="180136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9322308" y="175107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400032" y="841248"/>
            <a:ext cx="2450592" cy="2112264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59" y="914400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Photometric refinement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1197864"/>
            <a:ext cx="223113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sample tracked RGB
render current map
L1 + SSIM loss
Adam update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3044952"/>
            <a:ext cx="2212848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A14D78"/>
                </a:solidFill>
                <a:latin typeface="Arial"/>
              </a:rPr>
              <a:t>Ch. 7 / Eq. (7.1)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3346704"/>
            <a:ext cx="256032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2  REAL DATA FLOW</a:t>
            </a:r>
          </a:p>
        </p:txBody>
      </p:sp>
      <p:pic>
        <p:nvPicPr>
          <p:cNvPr id="47" name="Picture 46" descr="before.png"/>
          <p:cNvPicPr>
            <a:picLocks noChangeAspect="1"/>
          </p:cNvPicPr>
          <p:nvPr/>
        </p:nvPicPr>
        <p:blipFill>
          <a:blip r:embed="rId4"/>
          <a:srcRect t="6219" b="6219"/>
          <a:stretch>
            <a:fillRect/>
          </a:stretch>
        </p:blipFill>
        <p:spPr>
          <a:xfrm>
            <a:off x="320040" y="3675887"/>
            <a:ext cx="3063240" cy="2011680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48" name="Picture 47" descr="after.png"/>
          <p:cNvPicPr>
            <a:picLocks noChangeAspect="1"/>
          </p:cNvPicPr>
          <p:nvPr/>
        </p:nvPicPr>
        <p:blipFill>
          <a:blip r:embed="rId5"/>
          <a:srcRect t="6219" b="6219"/>
          <a:stretch>
            <a:fillRect/>
          </a:stretch>
        </p:blipFill>
        <p:spPr>
          <a:xfrm>
            <a:off x="3675887" y="3675887"/>
            <a:ext cx="3063240" cy="201168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9" name="TextBox 48"/>
          <p:cNvSpPr txBox="1"/>
          <p:nvPr/>
        </p:nvSpPr>
        <p:spPr>
          <a:xfrm>
            <a:off x="320040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607681"/>
                </a:solidFill>
                <a:latin typeface="Arial"/>
              </a:rPr>
              <a:t>predicted map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75887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68077"/>
                </a:solidFill>
                <a:latin typeface="Arial"/>
              </a:rPr>
              <a:t>same camera after refinement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01568" y="4681728"/>
            <a:ext cx="2468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3598164" y="46314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150608" y="3675887"/>
            <a:ext cx="1901952" cy="201168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0336" y="3749039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Supervision sampler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032503"/>
            <a:ext cx="168249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200-frame reservoir
64 recent frames
30% recent sampling</a:t>
            </a:r>
          </a:p>
        </p:txBody>
      </p:sp>
      <p:sp>
        <p:nvSpPr>
          <p:cNvPr id="56" name="Trapezoid 55"/>
          <p:cNvSpPr/>
          <p:nvPr/>
        </p:nvSpPr>
        <p:spPr>
          <a:xfrm rot="5400000">
            <a:off x="7452360" y="4983480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623352" y="5104180"/>
            <a:ext cx="261519" cy="0"/>
          </a:xfrm>
          <a:prstGeom prst="line">
            <a:avLst/>
          </a:prstGeom>
          <a:ln w="127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7834579" y="505388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rapezoid 58"/>
          <p:cNvSpPr/>
          <p:nvPr/>
        </p:nvSpPr>
        <p:spPr>
          <a:xfrm rot="5400000">
            <a:off x="8001000" y="4910328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171992" y="5031028"/>
            <a:ext cx="261519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83219" y="49807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070848" y="468172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9322308" y="46314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400032" y="3675887"/>
            <a:ext cx="2450592" cy="2011680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759" y="3749039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Optional initialisation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09759" y="4032503"/>
            <a:ext cx="223113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head-only adaptation
opacity attenuation
External comparison:
released head; attenuation off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5742432"/>
            <a:ext cx="2212848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Chs. 5-6 / Eq. (6.1)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" y="6327648"/>
            <a:ext cx="1152144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Pose updates change anchors; appearance gradients never update the tracker.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Why the supervision camera shares the anchor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Coordinate control and refinement loop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" y="822960"/>
            <a:ext cx="3337560" cy="2084831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96112"/>
            <a:ext cx="31181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Before a loop closure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79576"/>
            <a:ext cx="3118104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map and camera use keyframe k.
Their relative transform is fixed.</a:t>
            </a:r>
          </a:p>
        </p:txBody>
      </p:sp>
      <p:sp>
        <p:nvSpPr>
          <p:cNvPr id="8" name="Trapezoid 7"/>
          <p:cNvSpPr/>
          <p:nvPr/>
        </p:nvSpPr>
        <p:spPr>
          <a:xfrm rot="5400000">
            <a:off x="786384" y="2029968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04011" y="2183587"/>
            <a:ext cx="332841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1286560" y="2133295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900000">
            <a:off x="1892807" y="2115007"/>
            <a:ext cx="419709" cy="18516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20400000">
            <a:off x="2238451" y="1917496"/>
            <a:ext cx="370332" cy="172821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600000">
            <a:off x="2361895" y="2263139"/>
            <a:ext cx="444398" cy="19751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0880000">
            <a:off x="2732227" y="2040940"/>
            <a:ext cx="333298" cy="160477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325880" y="2212848"/>
            <a:ext cx="594360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1869948" y="216255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523744"/>
            <a:ext cx="2724912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T_WCf^-1 T_WCk = T_CkCf^-1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7328" y="1847088"/>
            <a:ext cx="393192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110228" y="179679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87952" y="822960"/>
            <a:ext cx="3310128" cy="2084831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896112"/>
            <a:ext cx="30906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Pose correction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1179576"/>
            <a:ext cx="3090672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The pose graph changes T_WCk.
The map and camera move together.</a:t>
            </a:r>
          </a:p>
        </p:txBody>
      </p:sp>
      <p:sp>
        <p:nvSpPr>
          <p:cNvPr id="23" name="Trapezoid 22"/>
          <p:cNvSpPr/>
          <p:nvPr/>
        </p:nvSpPr>
        <p:spPr>
          <a:xfrm rot="5400000">
            <a:off x="4681728" y="1856231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899355" y="2009851"/>
            <a:ext cx="332841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5181904" y="1959559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900000">
            <a:off x="5742432" y="1831543"/>
            <a:ext cx="419709" cy="18516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20400000">
            <a:off x="6088075" y="1634032"/>
            <a:ext cx="370332" cy="172821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600000">
            <a:off x="6211519" y="1979676"/>
            <a:ext cx="444398" cy="19751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20880000">
            <a:off x="6581851" y="1757476"/>
            <a:ext cx="333298" cy="160477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128" y="2523744"/>
            <a:ext cx="2770632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shared anchor: relation preserved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62088" y="1847088"/>
            <a:ext cx="393191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904988" y="179679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82712" y="822960"/>
            <a:ext cx="3794760" cy="2084831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896112"/>
            <a:ext cx="35753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Controlled 6% scale 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179576"/>
            <a:ext cx="3575304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Fixed world camera: refinement reverses the correction.
Shared anchor: correction remains after about 500 steps.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2286000"/>
            <a:ext cx="33375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A14D78"/>
                </a:solidFill>
                <a:latin typeface="Arial"/>
              </a:rPr>
              <a:t>Desk + room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273552"/>
            <a:ext cx="31089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REFINEMENT LOOP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sample RGB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304288" y="4224528"/>
            <a:ext cx="2468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2500884" y="41742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74320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5292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compose pose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636008" y="4224528"/>
            <a:ext cx="246888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4832604" y="417423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7492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render map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967727" y="4224528"/>
            <a:ext cx="246889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164324" y="41742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40664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6367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L1 + SSIM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299448" y="4224528"/>
            <a:ext cx="246888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9496044" y="41742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738359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48087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Adam update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029200"/>
            <a:ext cx="10972800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Only Gaussian scale, rotation, opacity, and DC color receive gradients.</a:t>
            </a:r>
          </a:p>
        </p:txBody>
      </p:sp>
      <p:pic>
        <p:nvPicPr>
          <p:cNvPr id="57" name="Picture 56" descr="before.png"/>
          <p:cNvPicPr>
            <a:picLocks noChangeAspect="1"/>
          </p:cNvPicPr>
          <p:nvPr/>
        </p:nvPicPr>
        <p:blipFill>
          <a:blip r:embed="rId2"/>
          <a:srcRect t="18783" b="18783"/>
          <a:stretch>
            <a:fillRect/>
          </a:stretch>
        </p:blipFill>
        <p:spPr>
          <a:xfrm>
            <a:off x="1938528" y="5486400"/>
            <a:ext cx="2304288" cy="1078992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58" name="Picture 57" descr="after.png"/>
          <p:cNvPicPr>
            <a:picLocks noChangeAspect="1"/>
          </p:cNvPicPr>
          <p:nvPr/>
        </p:nvPicPr>
        <p:blipFill>
          <a:blip r:embed="rId3"/>
          <a:srcRect t="18783" b="18783"/>
          <a:stretch>
            <a:fillRect/>
          </a:stretch>
        </p:blipFill>
        <p:spPr>
          <a:xfrm>
            <a:off x="7955279" y="5486400"/>
            <a:ext cx="2304288" cy="10789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cxnSp>
        <p:nvCxnSpPr>
          <p:cNvPr id="59" name="Connector 58"/>
          <p:cNvCxnSpPr/>
          <p:nvPr/>
        </p:nvCxnSpPr>
        <p:spPr>
          <a:xfrm>
            <a:off x="4325112" y="6025896"/>
            <a:ext cx="353872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5400000">
            <a:off x="7813548" y="5975604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Qualitative reconstruction at common cameras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Measured renders; identical crops and scales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Ground truth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2"/>
          <a:srcRect t="11778" b="11778"/>
          <a:stretch>
            <a:fillRect/>
          </a:stretch>
        </p:blipFill>
        <p:spPr>
          <a:xfrm>
            <a:off x="365760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7" name="Picture 6" descr="target.png"/>
          <p:cNvPicPr>
            <a:picLocks noChangeAspect="1"/>
          </p:cNvPicPr>
          <p:nvPr/>
        </p:nvPicPr>
        <p:blipFill>
          <a:blip r:embed="rId2"/>
          <a:srcRect l="30273" r="26758" t="29167" b="45833"/>
          <a:stretch>
            <a:fillRect/>
          </a:stretch>
        </p:blipFill>
        <p:spPr>
          <a:xfrm>
            <a:off x="365760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8" name="Picture 7" descr="view1_gt.png"/>
          <p:cNvPicPr>
            <a:picLocks noChangeAspect="1"/>
          </p:cNvPicPr>
          <p:nvPr/>
        </p:nvPicPr>
        <p:blipFill>
          <a:blip r:embed="rId3"/>
          <a:srcRect t="11778" b="11778"/>
          <a:stretch>
            <a:fillRect/>
          </a:stretch>
        </p:blipFill>
        <p:spPr>
          <a:xfrm>
            <a:off x="365760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9" name="Picture 8" descr="view1_gt.png"/>
          <p:cNvPicPr>
            <a:picLocks noChangeAspect="1"/>
          </p:cNvPicPr>
          <p:nvPr/>
        </p:nvPicPr>
        <p:blipFill>
          <a:blip r:embed="rId3"/>
          <a:srcRect l="11328" r="45703" t="10417" b="64583"/>
          <a:stretch>
            <a:fillRect/>
          </a:stretch>
        </p:blipFill>
        <p:spPr>
          <a:xfrm>
            <a:off x="365760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273552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pic>
        <p:nvPicPr>
          <p:cNvPr id="11" name="Picture 10" descr="view0_photo.png"/>
          <p:cNvPicPr>
            <a:picLocks noChangeAspect="1"/>
          </p:cNvPicPr>
          <p:nvPr/>
        </p:nvPicPr>
        <p:blipFill>
          <a:blip r:embed="rId4"/>
          <a:srcRect t="11778" b="11778"/>
          <a:stretch>
            <a:fillRect/>
          </a:stretch>
        </p:blipFill>
        <p:spPr>
          <a:xfrm>
            <a:off x="3273552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2" name="Picture 11" descr="view0_photo.png"/>
          <p:cNvPicPr>
            <a:picLocks noChangeAspect="1"/>
          </p:cNvPicPr>
          <p:nvPr/>
        </p:nvPicPr>
        <p:blipFill>
          <a:blip r:embed="rId4"/>
          <a:srcRect l="30273" r="26758" t="29167" b="45833"/>
          <a:stretch>
            <a:fillRect/>
          </a:stretch>
        </p:blipFill>
        <p:spPr>
          <a:xfrm>
            <a:off x="3273552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13" name="Picture 12" descr="view1_photo.png"/>
          <p:cNvPicPr>
            <a:picLocks noChangeAspect="1"/>
          </p:cNvPicPr>
          <p:nvPr/>
        </p:nvPicPr>
        <p:blipFill>
          <a:blip r:embed="rId5"/>
          <a:srcRect t="11778" b="11778"/>
          <a:stretch>
            <a:fillRect/>
          </a:stretch>
        </p:blipFill>
        <p:spPr>
          <a:xfrm>
            <a:off x="3273552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4" name="Picture 13" descr="view1_photo.png"/>
          <p:cNvPicPr>
            <a:picLocks noChangeAspect="1"/>
          </p:cNvPicPr>
          <p:nvPr/>
        </p:nvPicPr>
        <p:blipFill>
          <a:blip r:embed="rId5"/>
          <a:srcRect l="11328" r="45703" t="10417" b="64583"/>
          <a:stretch>
            <a:fillRect/>
          </a:stretch>
        </p:blipFill>
        <p:spPr>
          <a:xfrm>
            <a:off x="3273552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181344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MonoGS</a:t>
            </a:r>
          </a:p>
        </p:txBody>
      </p:sp>
      <p:pic>
        <p:nvPicPr>
          <p:cNvPr id="16" name="Picture 15" descr="view0_mono.png"/>
          <p:cNvPicPr>
            <a:picLocks noChangeAspect="1"/>
          </p:cNvPicPr>
          <p:nvPr/>
        </p:nvPicPr>
        <p:blipFill>
          <a:blip r:embed="rId6"/>
          <a:srcRect t="11778" b="11778"/>
          <a:stretch>
            <a:fillRect/>
          </a:stretch>
        </p:blipFill>
        <p:spPr>
          <a:xfrm>
            <a:off x="6181344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7" name="Picture 16" descr="view0_mono.png"/>
          <p:cNvPicPr>
            <a:picLocks noChangeAspect="1"/>
          </p:cNvPicPr>
          <p:nvPr/>
        </p:nvPicPr>
        <p:blipFill>
          <a:blip r:embed="rId6"/>
          <a:srcRect l="30273" r="26758" t="29167" b="45833"/>
          <a:stretch>
            <a:fillRect/>
          </a:stretch>
        </p:blipFill>
        <p:spPr>
          <a:xfrm>
            <a:off x="6181344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18" name="Picture 17" descr="view1_mono.png"/>
          <p:cNvPicPr>
            <a:picLocks noChangeAspect="1"/>
          </p:cNvPicPr>
          <p:nvPr/>
        </p:nvPicPr>
        <p:blipFill>
          <a:blip r:embed="rId7"/>
          <a:srcRect t="11778" b="11778"/>
          <a:stretch>
            <a:fillRect/>
          </a:stretch>
        </p:blipFill>
        <p:spPr>
          <a:xfrm>
            <a:off x="6181344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9" name="Picture 18" descr="view1_mono.png"/>
          <p:cNvPicPr>
            <a:picLocks noChangeAspect="1"/>
          </p:cNvPicPr>
          <p:nvPr/>
        </p:nvPicPr>
        <p:blipFill>
          <a:blip r:embed="rId7"/>
          <a:srcRect l="11328" r="45703" t="10417" b="64583"/>
          <a:stretch>
            <a:fillRect/>
          </a:stretch>
        </p:blipFill>
        <p:spPr>
          <a:xfrm>
            <a:off x="6181344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9089136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68077"/>
                </a:solidFill>
                <a:latin typeface="Arial"/>
              </a:rPr>
              <a:t>Ours</a:t>
            </a:r>
          </a:p>
        </p:txBody>
      </p:sp>
      <p:pic>
        <p:nvPicPr>
          <p:cNvPr id="21" name="Picture 20" descr="after.png"/>
          <p:cNvPicPr>
            <a:picLocks noChangeAspect="1"/>
          </p:cNvPicPr>
          <p:nvPr/>
        </p:nvPicPr>
        <p:blipFill>
          <a:blip r:embed="rId8"/>
          <a:srcRect t="11778" b="11778"/>
          <a:stretch>
            <a:fillRect/>
          </a:stretch>
        </p:blipFill>
        <p:spPr>
          <a:xfrm>
            <a:off x="9089136" y="1005840"/>
            <a:ext cx="2743200" cy="157276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22" name="Picture 21" descr="after.png"/>
          <p:cNvPicPr>
            <a:picLocks noChangeAspect="1"/>
          </p:cNvPicPr>
          <p:nvPr/>
        </p:nvPicPr>
        <p:blipFill>
          <a:blip r:embed="rId8"/>
          <a:srcRect l="30273" r="26758" t="29167" b="45833"/>
          <a:stretch>
            <a:fillRect/>
          </a:stretch>
        </p:blipFill>
        <p:spPr>
          <a:xfrm>
            <a:off x="9089136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23" name="Picture 22" descr="view1_ours.png"/>
          <p:cNvPicPr>
            <a:picLocks noChangeAspect="1"/>
          </p:cNvPicPr>
          <p:nvPr/>
        </p:nvPicPr>
        <p:blipFill>
          <a:blip r:embed="rId9"/>
          <a:srcRect t="11778" b="11778"/>
          <a:stretch>
            <a:fillRect/>
          </a:stretch>
        </p:blipFill>
        <p:spPr>
          <a:xfrm>
            <a:off x="9089136" y="3493008"/>
            <a:ext cx="2743200" cy="157276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24" name="Picture 23" descr="view1_ours.png"/>
          <p:cNvPicPr>
            <a:picLocks noChangeAspect="1"/>
          </p:cNvPicPr>
          <p:nvPr/>
        </p:nvPicPr>
        <p:blipFill>
          <a:blip r:embed="rId9"/>
          <a:srcRect l="11328" r="45703" t="10417" b="64583"/>
          <a:stretch>
            <a:fillRect/>
          </a:stretch>
        </p:blipFill>
        <p:spPr>
          <a:xfrm>
            <a:off x="9089136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365760" y="5925312"/>
            <a:ext cx="114757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0">
                <a:solidFill>
                  <a:srgbClr val="607681"/>
                </a:solidFill>
                <a:latin typeface="Arial"/>
              </a:rPr>
              <a:t>TUM desk: two middle-ranked Ours-minus-MonoGS PSNR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272784"/>
            <a:ext cx="114757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C36B31"/>
                </a:solidFill>
                <a:latin typeface="Arial"/>
              </a:rPr>
              <a:t>Orange panels are identical pixel crops across all methods.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Replica reconstruction across scenes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No monocular MonoGS artifact was available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31720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68077"/>
                </a:solidFill>
                <a:latin typeface="Arial"/>
              </a:rPr>
              <a:t>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office0</a:t>
            </a:r>
          </a:p>
        </p:txBody>
      </p:sp>
      <p:pic>
        <p:nvPicPr>
          <p:cNvPr id="9" name="Picture 8" descr="view0_gt.png"/>
          <p:cNvPicPr>
            <a:picLocks noChangeAspect="1"/>
          </p:cNvPicPr>
          <p:nvPr/>
        </p:nvPicPr>
        <p:blipFill>
          <a:blip r:embed="rId2"/>
          <a:srcRect t="14983" b="14983"/>
          <a:stretch>
            <a:fillRect/>
          </a:stretch>
        </p:blipFill>
        <p:spPr>
          <a:xfrm>
            <a:off x="2331720" y="987552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0" name="Picture 9" descr="view0_photo.png"/>
          <p:cNvPicPr>
            <a:picLocks noChangeAspect="1"/>
          </p:cNvPicPr>
          <p:nvPr/>
        </p:nvPicPr>
        <p:blipFill>
          <a:blip r:embed="rId3"/>
          <a:srcRect t="14983" b="14983"/>
          <a:stretch>
            <a:fillRect/>
          </a:stretch>
        </p:blipFill>
        <p:spPr>
          <a:xfrm>
            <a:off x="5577840" y="987552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1" name="Picture 10" descr="view0_ours.png"/>
          <p:cNvPicPr>
            <a:picLocks noChangeAspect="1"/>
          </p:cNvPicPr>
          <p:nvPr/>
        </p:nvPicPr>
        <p:blipFill>
          <a:blip r:embed="rId4"/>
          <a:srcRect t="14983" b="14983"/>
          <a:stretch>
            <a:fillRect/>
          </a:stretch>
        </p:blipFill>
        <p:spPr>
          <a:xfrm>
            <a:off x="8823959" y="987552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11480" y="2770632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office2</a:t>
            </a:r>
          </a:p>
        </p:txBody>
      </p:sp>
      <p:pic>
        <p:nvPicPr>
          <p:cNvPr id="13" name="Picture 12" descr="view0_gt.png"/>
          <p:cNvPicPr>
            <a:picLocks noChangeAspect="1"/>
          </p:cNvPicPr>
          <p:nvPr/>
        </p:nvPicPr>
        <p:blipFill>
          <a:blip r:embed="rId5"/>
          <a:srcRect t="14983" b="14983"/>
          <a:stretch>
            <a:fillRect/>
          </a:stretch>
        </p:blipFill>
        <p:spPr>
          <a:xfrm>
            <a:off x="2331720" y="2340864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4" name="Picture 13" descr="view0_photo.png"/>
          <p:cNvPicPr>
            <a:picLocks noChangeAspect="1"/>
          </p:cNvPicPr>
          <p:nvPr/>
        </p:nvPicPr>
        <p:blipFill>
          <a:blip r:embed="rId6"/>
          <a:srcRect t="14983" b="14983"/>
          <a:stretch>
            <a:fillRect/>
          </a:stretch>
        </p:blipFill>
        <p:spPr>
          <a:xfrm>
            <a:off x="5577840" y="2340864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5" name="Picture 14" descr="view0_ours.png"/>
          <p:cNvPicPr>
            <a:picLocks noChangeAspect="1"/>
          </p:cNvPicPr>
          <p:nvPr/>
        </p:nvPicPr>
        <p:blipFill>
          <a:blip r:embed="rId7"/>
          <a:srcRect t="14983" b="14983"/>
          <a:stretch>
            <a:fillRect/>
          </a:stretch>
        </p:blipFill>
        <p:spPr>
          <a:xfrm>
            <a:off x="8823959" y="2340864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11480" y="4123944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room0</a:t>
            </a:r>
          </a:p>
        </p:txBody>
      </p:sp>
      <p:pic>
        <p:nvPicPr>
          <p:cNvPr id="17" name="Picture 16" descr="view0_gt.png"/>
          <p:cNvPicPr>
            <a:picLocks noChangeAspect="1"/>
          </p:cNvPicPr>
          <p:nvPr/>
        </p:nvPicPr>
        <p:blipFill>
          <a:blip r:embed="rId8"/>
          <a:srcRect t="14983" b="14983"/>
          <a:stretch>
            <a:fillRect/>
          </a:stretch>
        </p:blipFill>
        <p:spPr>
          <a:xfrm>
            <a:off x="2331720" y="3694176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8" name="Picture 17" descr="view0_photo.png"/>
          <p:cNvPicPr>
            <a:picLocks noChangeAspect="1"/>
          </p:cNvPicPr>
          <p:nvPr/>
        </p:nvPicPr>
        <p:blipFill>
          <a:blip r:embed="rId9"/>
          <a:srcRect t="14983" b="14983"/>
          <a:stretch>
            <a:fillRect/>
          </a:stretch>
        </p:blipFill>
        <p:spPr>
          <a:xfrm>
            <a:off x="5577840" y="3694176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9" name="Picture 18" descr="view0_ours.png"/>
          <p:cNvPicPr>
            <a:picLocks noChangeAspect="1"/>
          </p:cNvPicPr>
          <p:nvPr/>
        </p:nvPicPr>
        <p:blipFill>
          <a:blip r:embed="rId10"/>
          <a:srcRect t="14983" b="14983"/>
          <a:stretch>
            <a:fillRect/>
          </a:stretch>
        </p:blipFill>
        <p:spPr>
          <a:xfrm>
            <a:off x="8823959" y="3694176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411480" y="5477255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room2</a:t>
            </a:r>
          </a:p>
        </p:txBody>
      </p:sp>
      <p:pic>
        <p:nvPicPr>
          <p:cNvPr id="21" name="Picture 20" descr="view0_gt.png"/>
          <p:cNvPicPr>
            <a:picLocks noChangeAspect="1"/>
          </p:cNvPicPr>
          <p:nvPr/>
        </p:nvPicPr>
        <p:blipFill>
          <a:blip r:embed="rId11"/>
          <a:srcRect t="14983" b="14983"/>
          <a:stretch>
            <a:fillRect/>
          </a:stretch>
        </p:blipFill>
        <p:spPr>
          <a:xfrm>
            <a:off x="2331720" y="5047488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22" name="Picture 21" descr="view0_photo.png"/>
          <p:cNvPicPr>
            <a:picLocks noChangeAspect="1"/>
          </p:cNvPicPr>
          <p:nvPr/>
        </p:nvPicPr>
        <p:blipFill>
          <a:blip r:embed="rId12"/>
          <a:srcRect t="14983" b="14983"/>
          <a:stretch>
            <a:fillRect/>
          </a:stretch>
        </p:blipFill>
        <p:spPr>
          <a:xfrm>
            <a:off x="5577840" y="5047488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23" name="Picture 22" descr="view0_ours.png"/>
          <p:cNvPicPr>
            <a:picLocks noChangeAspect="1"/>
          </p:cNvPicPr>
          <p:nvPr/>
        </p:nvPicPr>
        <p:blipFill>
          <a:blip r:embed="rId13"/>
          <a:srcRect t="14983" b="14983"/>
          <a:stretch>
            <a:fillRect/>
          </a:stretch>
        </p:blipFill>
        <p:spPr>
          <a:xfrm>
            <a:off x="8823959" y="5047488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411480" y="6492240"/>
            <a:ext cx="11338560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All images use the same selected camera within each scene.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Component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All recorded attenuation cells and refinement controls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694944"/>
            <a:ext cx="55778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Opacity attenuation: relative LPIPS change (%)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532120" y="1097280"/>
            <a:ext cx="0" cy="4709160"/>
          </a:xfrm>
          <a:prstGeom prst="line">
            <a:avLst/>
          </a:prstGeom>
          <a:ln w="1270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38912" y="114300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o3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2127" y="1161288"/>
            <a:ext cx="359999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65199" y="114300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1790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0473" y="1536192"/>
            <a:ext cx="3571646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3545" y="151790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892807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40787" y="1911095"/>
            <a:ext cx="289133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3859" y="1892807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267712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r0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9290" y="2286000"/>
            <a:ext cx="252282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2362" y="2267712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-8.9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2642615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r1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9525" y="2660903"/>
            <a:ext cx="2012594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2597" y="2642615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-7.1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301752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8577" y="3035808"/>
            <a:ext cx="45354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1649" y="301752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339242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o0-k.9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9760" y="3410712"/>
            <a:ext cx="150235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62832" y="339242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-5.3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3767327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o0-k.6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1884" y="3785615"/>
            <a:ext cx="510235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4956" y="3767327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142231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TUM-rel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17950" y="4160519"/>
            <a:ext cx="181416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1022" y="4142231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-6.4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4517136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TUM-adapt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62041" y="4535423"/>
            <a:ext cx="170078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95113" y="4517136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489204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EuRoC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44721" y="4910327"/>
            <a:ext cx="1587398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77793" y="489204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-5.6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" y="526694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7S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32120" y="5285231"/>
            <a:ext cx="45720" cy="182880"/>
          </a:xfrm>
          <a:prstGeom prst="rect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59" y="526694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800" b="1">
                <a:solidFill>
                  <a:srgbClr val="C36B31"/>
                </a:solidFill>
                <a:latin typeface="Arial"/>
              </a:rPr>
              <a:t>+0.16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694944"/>
            <a:ext cx="5468112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Refiner on vs. off: PSNR gain (dB)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1234440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ETH3D sofa_1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45552" y="1234440"/>
            <a:ext cx="3416838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353830" y="1234440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+8.69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648" y="2075688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Replica office0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45552" y="2075688"/>
            <a:ext cx="1816547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3539" y="2075688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+4.62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2916936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TUM desk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5552" y="2916936"/>
            <a:ext cx="1384035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1027" y="2916936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+3.52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3758184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EuRoC V1_01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45552" y="3758184"/>
            <a:ext cx="393192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30183" y="3758184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+1.00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0" y="4800600"/>
            <a:ext cx="5193792" cy="96012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0528" y="4873752"/>
            <a:ext cx="49743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Interpretation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10528" y="5157216"/>
            <a:ext cx="4974336" cy="54864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Refinement gives the largest controlled gain.
Opacity reduction is robust; confidence allocation is not.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99632"/>
            <a:ext cx="1129284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External baseline comparison uses the released head with attenuation 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Pairwise predictions become a persistent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Editable paper teaser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" y="786384"/>
            <a:ext cx="1993392" cy="96012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7739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Predict local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1773936" cy="54864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one network pass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1261872"/>
            <a:ext cx="301752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2628900" y="1211580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06624" y="786384"/>
            <a:ext cx="1993392" cy="96012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859536"/>
            <a:ext cx="17739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anchors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1143000"/>
            <a:ext cx="1773936" cy="54864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map + cameras move together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8304" y="1261872"/>
            <a:ext cx="301752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4969764" y="1211580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7488" y="786384"/>
            <a:ext cx="1993392" cy="96012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859536"/>
            <a:ext cx="17739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Refine appearance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1143000"/>
            <a:ext cx="1773936" cy="54864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tracking stays geometric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1938528"/>
            <a:ext cx="315468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607681"/>
                </a:solidFill>
                <a:latin typeface="Arial"/>
              </a:rPr>
              <a:t>Photo-SLAM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1938528"/>
            <a:ext cx="315468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68077"/>
                </a:solidFill>
                <a:latin typeface="Arial"/>
              </a:rPr>
              <a:t>Splatt3R-SLAM</a:t>
            </a:r>
          </a:p>
        </p:txBody>
      </p:sp>
      <p:pic>
        <p:nvPicPr>
          <p:cNvPr id="20" name="Picture 19" descr="view0_photo.png"/>
          <p:cNvPicPr>
            <a:picLocks noChangeAspect="1"/>
          </p:cNvPicPr>
          <p:nvPr/>
        </p:nvPicPr>
        <p:blipFill>
          <a:blip r:embed="rId2"/>
          <a:srcRect l="12097" r="12097"/>
          <a:stretch>
            <a:fillRect/>
          </a:stretch>
        </p:blipFill>
        <p:spPr>
          <a:xfrm>
            <a:off x="365760" y="2267712"/>
            <a:ext cx="3154680" cy="2340864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21" name="Picture 20" descr="view0_ours.png"/>
          <p:cNvPicPr>
            <a:picLocks noChangeAspect="1"/>
          </p:cNvPicPr>
          <p:nvPr/>
        </p:nvPicPr>
        <p:blipFill>
          <a:blip r:embed="rId3"/>
          <a:srcRect l="12097" r="12097"/>
          <a:stretch>
            <a:fillRect/>
          </a:stretch>
        </p:blipFill>
        <p:spPr>
          <a:xfrm>
            <a:off x="3703320" y="2267712"/>
            <a:ext cx="3154680" cy="2340864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7388352" y="786384"/>
            <a:ext cx="4343400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LEADING REPLICA RECONSTRUCTION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2516916"/>
            <a:ext cx="1152144" cy="2256251"/>
          </a:xfrm>
          <a:prstGeom prst="rect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36992" y="2206020"/>
            <a:ext cx="115214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607681"/>
                </a:solidFill>
                <a:latin typeface="Arial"/>
              </a:rPr>
              <a:t>19.48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4818888"/>
            <a:ext cx="15179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65792" y="2106899"/>
            <a:ext cx="1152144" cy="2666268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1796003"/>
            <a:ext cx="115214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168077"/>
                </a:solidFill>
                <a:latin typeface="Arial"/>
              </a:rPr>
              <a:t>23.02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4818888"/>
            <a:ext cx="15179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18323F"/>
                </a:solidFill>
                <a:latin typeface="Arial"/>
              </a:rPr>
              <a:t>Splatt3R-SLAM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5376672"/>
            <a:ext cx="43891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168077"/>
                </a:solidFill>
                <a:latin typeface="Arial"/>
              </a:rPr>
              <a:t>+3.54 dB vs Photo-SLAM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5806440"/>
            <a:ext cx="4389120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68077"/>
                </a:solidFill>
                <a:latin typeface="Arial"/>
              </a:rPr>
              <a:t>PSNR lead on all 8 Replica scenes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6492240" cy="5943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One keyframe anchor carries both the local Gaussian map and the cameras that refine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870448"/>
            <a:ext cx="6492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Real office0 render at a common evaluation camera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