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Relationship Id="rId7" Type="http://schemas.openxmlformats.org/officeDocument/2006/relationships/image" Target="../media/image21.png"/><Relationship Id="rId8" Type="http://schemas.openxmlformats.org/officeDocument/2006/relationships/image" Target="../media/image8.png"/><Relationship Id="rId9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102733"/>
          </a:solidFill>
          <a:ln w="12700">
            <a:solidFill>
              <a:srgbClr val="102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iew0_ours.png"/>
          <p:cNvPicPr>
            <a:picLocks noChangeAspect="1"/>
          </p:cNvPicPr>
          <p:nvPr/>
        </p:nvPicPr>
        <p:blipFill>
          <a:blip r:embed="rId2"/>
          <a:srcRect l="19325" r="19325"/>
          <a:stretch>
            <a:fillRect/>
          </a:stretch>
        </p:blipFill>
        <p:spPr>
          <a:xfrm>
            <a:off x="4709160" y="0"/>
            <a:ext cx="7479792" cy="685800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502920" y="566928"/>
            <a:ext cx="2286000" cy="310896"/>
          </a:xfrm>
          <a:prstGeom prst="roundRect">
            <a:avLst>
              <a:gd name="adj" fmla="val 7000"/>
            </a:avLst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594360"/>
            <a:ext cx="2084831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3657600" cy="155448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rial"/>
              </a:rPr>
              <a:t>Splatt3R-SLAM:
From Image Pairs
to Persistent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3246120"/>
            <a:ext cx="3611880" cy="73152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500" b="0">
                <a:solidFill>
                  <a:srgbClr val="D7E8EC"/>
                </a:solidFill>
                <a:latin typeface="Arial"/>
              </a:rPr>
              <a:t>Fast local predictions.
One map that survives pose correction.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3504" y="4846320"/>
            <a:ext cx="3438144" cy="0"/>
          </a:xfrm>
          <a:prstGeom prst="line">
            <a:avLst/>
          </a:prstGeom>
          <a:ln w="2540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3504" y="5047488"/>
            <a:ext cx="3611880" cy="676656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Zelong Li
MSc Computer Science | University of Amsterdam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062472"/>
            <a:ext cx="361188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850" b="0">
                <a:solidFill>
                  <a:srgbClr val="B9CBD1"/>
                </a:solidFill>
                <a:latin typeface="Arial"/>
              </a:rPr>
              <a:t>Supervisors: Prof. Martin Oswald | Dr. Qi Zhang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OPENING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A pair is not a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 gap between a local prediction and a lasting scene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749808"/>
            <a:ext cx="1444752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758952"/>
            <a:ext cx="1335024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ONE IMAGE PAIR</a:t>
            </a:r>
          </a:p>
        </p:txBody>
      </p:sp>
      <p:pic>
        <p:nvPicPr>
          <p:cNvPr id="9" name="Picture 8" descr="view0_gt.png"/>
          <p:cNvPicPr>
            <a:picLocks noChangeAspect="1"/>
          </p:cNvPicPr>
          <p:nvPr/>
        </p:nvPicPr>
        <p:blipFill>
          <a:blip r:embed="rId2"/>
          <a:srcRect t="282" b="282"/>
          <a:stretch>
            <a:fillRect/>
          </a:stretch>
        </p:blipFill>
        <p:spPr>
          <a:xfrm>
            <a:off x="384048" y="1161288"/>
            <a:ext cx="2157984" cy="1609344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10" name="Picture 9" descr="view1_gt.png"/>
          <p:cNvPicPr>
            <a:picLocks noChangeAspect="1"/>
          </p:cNvPicPr>
          <p:nvPr/>
        </p:nvPicPr>
        <p:blipFill>
          <a:blip r:embed="rId3"/>
          <a:srcRect t="282" b="282"/>
          <a:stretch>
            <a:fillRect/>
          </a:stretch>
        </p:blipFill>
        <p:spPr>
          <a:xfrm>
            <a:off x="749808" y="2194560"/>
            <a:ext cx="2157984" cy="1609344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cxnSp>
        <p:nvCxnSpPr>
          <p:cNvPr id="11" name="Connector 10"/>
          <p:cNvCxnSpPr/>
          <p:nvPr/>
        </p:nvCxnSpPr>
        <p:spPr>
          <a:xfrm>
            <a:off x="2944368" y="2231136"/>
            <a:ext cx="438912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3332988" y="2180844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93008" y="749808"/>
            <a:ext cx="1755648" cy="274320"/>
          </a:xfrm>
          <a:prstGeom prst="roundRect">
            <a:avLst>
              <a:gd name="adj" fmla="val 7000"/>
            </a:avLst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758952"/>
            <a:ext cx="1645919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ONE LOCAL MAP</a:t>
            </a:r>
          </a:p>
        </p:txBody>
      </p:sp>
      <p:pic>
        <p:nvPicPr>
          <p:cNvPr id="15" name="Picture 14" descr="before.png"/>
          <p:cNvPicPr>
            <a:picLocks noChangeAspect="1"/>
          </p:cNvPicPr>
          <p:nvPr/>
        </p:nvPicPr>
        <p:blipFill>
          <a:blip r:embed="rId4"/>
          <a:srcRect l="1033" r="1033"/>
          <a:stretch>
            <a:fillRect/>
          </a:stretch>
        </p:blipFill>
        <p:spPr>
          <a:xfrm>
            <a:off x="3493008" y="1161288"/>
            <a:ext cx="2889504" cy="2212848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3493008" y="3502152"/>
            <a:ext cx="2889504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68077"/>
                </a:solidFill>
                <a:latin typeface="Arial"/>
              </a:rPr>
              <a:t>Useful immediately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65392" y="2231136"/>
            <a:ext cx="448056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963156" y="2180844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0" y="749808"/>
            <a:ext cx="2057400" cy="274320"/>
          </a:xfrm>
          <a:prstGeom prst="roundRect">
            <a:avLst>
              <a:gd name="adj" fmla="val 7000"/>
            </a:avLst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87183" y="758952"/>
            <a:ext cx="194767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 VIDEO SEQUENCE</a:t>
            </a:r>
          </a:p>
        </p:txBody>
      </p:sp>
      <p:pic>
        <p:nvPicPr>
          <p:cNvPr id="21" name="Picture 20" descr="view0_ours.png"/>
          <p:cNvPicPr>
            <a:picLocks noChangeAspect="1"/>
          </p:cNvPicPr>
          <p:nvPr/>
        </p:nvPicPr>
        <p:blipFill>
          <a:blip r:embed="rId5"/>
          <a:srcRect l="9730" r="9730"/>
          <a:stretch>
            <a:fillRect/>
          </a:stretch>
        </p:blipFill>
        <p:spPr>
          <a:xfrm>
            <a:off x="7205472" y="1188720"/>
            <a:ext cx="2880360" cy="2011680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22" name="Picture 21" descr="view0_ours.png"/>
          <p:cNvPicPr>
            <a:picLocks noChangeAspect="1"/>
          </p:cNvPicPr>
          <p:nvPr/>
        </p:nvPicPr>
        <p:blipFill>
          <a:blip r:embed="rId6"/>
          <a:srcRect l="9730" r="9730"/>
          <a:stretch>
            <a:fillRect/>
          </a:stretch>
        </p:blipFill>
        <p:spPr>
          <a:xfrm>
            <a:off x="7863840" y="1664208"/>
            <a:ext cx="2880360" cy="2011680"/>
          </a:xfrm>
          <a:prstGeom prst="rect">
            <a:avLst/>
          </a:prstGeom>
          <a:ln w="10160">
            <a:solidFill>
              <a:srgbClr val="C36B31"/>
            </a:solidFill>
          </a:ln>
        </p:spPr>
      </p:pic>
      <p:pic>
        <p:nvPicPr>
          <p:cNvPr id="23" name="Picture 22" descr="view0_ours.png"/>
          <p:cNvPicPr>
            <a:picLocks noChangeAspect="1"/>
          </p:cNvPicPr>
          <p:nvPr/>
        </p:nvPicPr>
        <p:blipFill>
          <a:blip r:embed="rId7"/>
          <a:srcRect l="9730" r="9730"/>
          <a:stretch>
            <a:fillRect/>
          </a:stretch>
        </p:blipFill>
        <p:spPr>
          <a:xfrm>
            <a:off x="8522208" y="2139696"/>
            <a:ext cx="2880360" cy="2011680"/>
          </a:xfrm>
          <a:prstGeom prst="rect">
            <a:avLst/>
          </a:prstGeom>
          <a:ln w="10160">
            <a:solidFill>
              <a:srgbClr val="A14D7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360920" y="4224528"/>
            <a:ext cx="4133087" cy="6583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18323F"/>
                </a:solidFill>
                <a:latin typeface="Arial"/>
              </a:rPr>
              <a:t>Many local frames
Many overlapping surfaces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38928"/>
            <a:ext cx="10927080" cy="841248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85232"/>
            <a:ext cx="10469880" cy="5029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C36B31"/>
                </a:solidFill>
                <a:latin typeface="Arial"/>
              </a:rPr>
              <a:t>The research question: how can pairwise predictions become one persistent map?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A persistent map must survive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Three requirements for a useful appearance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24128"/>
            <a:ext cx="3246120" cy="446227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778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234440"/>
            <a:ext cx="2807208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3478A5"/>
                </a:solidFill>
                <a:latin typeface="Arial"/>
              </a:rPr>
              <a:t>REVISIT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718304"/>
            <a:ext cx="2734056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A later camera must still localise.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024128"/>
            <a:ext cx="3246120" cy="446227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778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8536" y="1234440"/>
            <a:ext cx="2807208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C36B31"/>
                </a:solidFill>
                <a:latin typeface="Arial"/>
              </a:rPr>
              <a:t>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4718304"/>
            <a:ext cx="2734056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Loop closure must move old content.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024128"/>
            <a:ext cx="3246120" cy="446227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778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46136" y="1234440"/>
            <a:ext cx="2807208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168077"/>
                </a:solidFill>
                <a:latin typeface="Arial"/>
              </a:rPr>
              <a:t>RENDER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4718304"/>
            <a:ext cx="2734056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A new view must look like the scene.</a:t>
            </a:r>
          </a:p>
        </p:txBody>
      </p:sp>
      <p:sp>
        <p:nvSpPr>
          <p:cNvPr id="16" name="Trapezoid 15"/>
          <p:cNvSpPr/>
          <p:nvPr/>
        </p:nvSpPr>
        <p:spPr>
          <a:xfrm rot="5400000">
            <a:off x="960120" y="2139696"/>
            <a:ext cx="715060" cy="50474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317650" y="2392070"/>
            <a:ext cx="546811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814169" y="2341778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83080" y="2258568"/>
            <a:ext cx="73152" cy="7315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93976" y="2427845"/>
            <a:ext cx="73152" cy="7315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04872" y="2441489"/>
            <a:ext cx="73152" cy="7315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5768" y="2286956"/>
            <a:ext cx="73152" cy="7315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463040" y="2788920"/>
            <a:ext cx="1353312" cy="41148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4385274">
            <a:off x="2766060" y="2738627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37760" y="2103120"/>
            <a:ext cx="658368" cy="658368"/>
          </a:xfrm>
          <a:prstGeom prst="ellipse">
            <a:avLst/>
          </a:prstGeom>
          <a:solidFill>
            <a:srgbClr val="FBEFE8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2212848"/>
            <a:ext cx="65836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C36B31"/>
                </a:solidFill>
                <a:latin typeface="Arial"/>
              </a:rPr>
              <a:t>k</a:t>
            </a:r>
          </a:p>
        </p:txBody>
      </p:sp>
      <p:sp>
        <p:nvSpPr>
          <p:cNvPr id="27" name="Trapezoid 26"/>
          <p:cNvSpPr/>
          <p:nvPr/>
        </p:nvSpPr>
        <p:spPr>
          <a:xfrm rot="5400000">
            <a:off x="4480560" y="3108960"/>
            <a:ext cx="497433" cy="351129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729276" y="3284524"/>
            <a:ext cx="380391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5059375" y="3234232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900000">
            <a:off x="5577840" y="3119932"/>
            <a:ext cx="435254" cy="192024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20400000">
            <a:off x="5936284" y="2915107"/>
            <a:ext cx="384048" cy="179222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600000">
            <a:off x="6064300" y="3273552"/>
            <a:ext cx="460857" cy="204825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20880000">
            <a:off x="6448348" y="3043123"/>
            <a:ext cx="345643" cy="166420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4919472" y="2724912"/>
            <a:ext cx="365760" cy="54864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2821404">
            <a:off x="4869180" y="3223260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285232" y="2724912"/>
            <a:ext cx="530352" cy="521208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8070107">
            <a:off x="5765292" y="3195827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view0_ours.png"/>
          <p:cNvPicPr>
            <a:picLocks noChangeAspect="1"/>
          </p:cNvPicPr>
          <p:nvPr/>
        </p:nvPicPr>
        <p:blipFill>
          <a:blip r:embed="rId2"/>
          <a:srcRect l="12586" r="12586"/>
          <a:stretch>
            <a:fillRect/>
          </a:stretch>
        </p:blipFill>
        <p:spPr>
          <a:xfrm>
            <a:off x="8028431" y="1828800"/>
            <a:ext cx="2651760" cy="199339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pic>
        <p:nvPicPr>
          <p:cNvPr id="39" name="Picture 38" descr="view0_gt.png"/>
          <p:cNvPicPr>
            <a:picLocks noChangeAspect="1"/>
          </p:cNvPicPr>
          <p:nvPr/>
        </p:nvPicPr>
        <p:blipFill>
          <a:blip r:embed="rId3"/>
          <a:srcRect l="12586" r="12586"/>
          <a:stretch>
            <a:fillRect/>
          </a:stretch>
        </p:blipFill>
        <p:spPr>
          <a:xfrm>
            <a:off x="8503920" y="2834640"/>
            <a:ext cx="2651760" cy="1993392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502920" y="5742432"/>
            <a:ext cx="10881360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8323F"/>
                </a:solidFill>
                <a:latin typeface="Arial"/>
              </a:rPr>
              <a:t>Tracking, correction, and rendering must agree on the same scene.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Why direct accumulation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 sequence adds problems that a two-view model never sees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960120"/>
            <a:ext cx="3200400" cy="4526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216" y="1170432"/>
            <a:ext cx="475488" cy="475488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252728"/>
            <a:ext cx="47548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52144"/>
            <a:ext cx="2139696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8323F"/>
                </a:solidFill>
                <a:latin typeface="Arial"/>
              </a:rPr>
              <a:t>Different coordinates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53712"/>
            <a:ext cx="2651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Each pair predicts in its own camera frame.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960120"/>
            <a:ext cx="3200400" cy="4526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79392" y="1170432"/>
            <a:ext cx="475488" cy="475488"/>
          </a:xfrm>
          <a:prstGeom prst="ellipse">
            <a:avLst/>
          </a:prstGeom>
          <a:solidFill>
            <a:srgbClr val="A14D78"/>
          </a:solidFill>
          <a:ln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252728"/>
            <a:ext cx="47548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1152144"/>
            <a:ext cx="2139696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8323F"/>
                </a:solidFill>
                <a:latin typeface="Arial"/>
              </a:rPr>
              <a:t>Repeated surfaces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4553712"/>
            <a:ext cx="2651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Several keyframes place colour and opacity on one ray.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960120"/>
            <a:ext cx="3200400" cy="4526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73568" y="1170432"/>
            <a:ext cx="475488" cy="475488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1252728"/>
            <a:ext cx="47548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1152144"/>
            <a:ext cx="2139696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8323F"/>
                </a:solidFill>
                <a:latin typeface="Arial"/>
              </a:rPr>
              <a:t>Pose corrections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553712"/>
            <a:ext cx="2651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Loop closure changes where old predictions belong.</a:t>
            </a:r>
          </a:p>
        </p:txBody>
      </p:sp>
      <p:sp>
        <p:nvSpPr>
          <p:cNvPr id="22" name="Trapezoid 21"/>
          <p:cNvSpPr/>
          <p:nvPr/>
        </p:nvSpPr>
        <p:spPr>
          <a:xfrm rot="5400000">
            <a:off x="969264" y="2194560"/>
            <a:ext cx="435254" cy="30723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6891" y="2348179"/>
            <a:ext cx="332841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469440" y="2297887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rapezoid 24"/>
          <p:cNvSpPr/>
          <p:nvPr/>
        </p:nvSpPr>
        <p:spPr>
          <a:xfrm rot="5400000">
            <a:off x="2057400" y="2798064"/>
            <a:ext cx="435254" cy="30723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275027" y="2951683"/>
            <a:ext cx="332841" cy="0"/>
          </a:xfrm>
          <a:prstGeom prst="line">
            <a:avLst/>
          </a:prstGeom>
          <a:ln w="1270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2557576" y="2901391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900000">
            <a:off x="1298448" y="3207715"/>
            <a:ext cx="497433" cy="21945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20400000">
            <a:off x="1708099" y="2973628"/>
            <a:ext cx="438912" cy="204825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600000">
            <a:off x="1854403" y="3383280"/>
            <a:ext cx="526694" cy="234086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20880000">
            <a:off x="2293315" y="3119932"/>
            <a:ext cx="395020" cy="190195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20700000">
            <a:off x="4718304" y="2240280"/>
            <a:ext cx="960120" cy="384048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600000">
            <a:off x="5038344" y="2514600"/>
            <a:ext cx="960120" cy="384048"/>
          </a:xfrm>
          <a:prstGeom prst="ellipse">
            <a:avLst/>
          </a:prstGeom>
          <a:solidFill>
            <a:srgbClr val="A14D78"/>
          </a:solidFill>
          <a:ln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21300000">
            <a:off x="5358384" y="2240280"/>
            <a:ext cx="960120" cy="384048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080000">
            <a:off x="5678424" y="2514600"/>
            <a:ext cx="960120" cy="384048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23376" y="2048256"/>
            <a:ext cx="640080" cy="640080"/>
          </a:xfrm>
          <a:prstGeom prst="ellipse">
            <a:avLst/>
          </a:prstGeom>
          <a:solidFill>
            <a:srgbClr val="FBEFE8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23376" y="2157984"/>
            <a:ext cx="640080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C36B31"/>
                </a:solidFill>
                <a:latin typeface="Arial"/>
              </a:rPr>
              <a:t>k</a:t>
            </a:r>
          </a:p>
        </p:txBody>
      </p:sp>
      <p:sp>
        <p:nvSpPr>
          <p:cNvPr id="38" name="Trapezoid 37"/>
          <p:cNvSpPr/>
          <p:nvPr/>
        </p:nvSpPr>
        <p:spPr>
          <a:xfrm rot="5400000">
            <a:off x="8366760" y="3246120"/>
            <a:ext cx="466344" cy="329184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599932" y="3410712"/>
            <a:ext cx="356616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5400000">
            <a:off x="8906256" y="3360420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900000">
            <a:off x="9555480" y="3266236"/>
            <a:ext cx="435254" cy="192024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20400000">
            <a:off x="9913924" y="3061411"/>
            <a:ext cx="384048" cy="179222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600000">
            <a:off x="10041940" y="3419856"/>
            <a:ext cx="460857" cy="204825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20880000">
            <a:off x="10425988" y="3189427"/>
            <a:ext cx="345643" cy="166420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8732520" y="2779776"/>
            <a:ext cx="338328" cy="64008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12471579">
            <a:off x="8682228" y="3369564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9070848" y="2779776"/>
            <a:ext cx="731520" cy="621792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7821872">
            <a:off x="9752076" y="335127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9070848" y="1490472"/>
            <a:ext cx="576072" cy="338328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3574453">
            <a:off x="9596628" y="1440180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77240" y="5742432"/>
            <a:ext cx="10607040" cy="493776"/>
          </a:xfrm>
          <a:prstGeom prst="roundRect">
            <a:avLst>
              <a:gd name="adj" fmla="val 7000"/>
            </a:avLst>
          </a:prstGeom>
          <a:solidFill>
            <a:srgbClr val="F8EDED"/>
          </a:solidFill>
          <a:ln w="1270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" y="5806440"/>
            <a:ext cx="10241280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700" b="1">
                <a:solidFill>
                  <a:srgbClr val="B44D4D"/>
                </a:solidFill>
                <a:latin typeface="Arial"/>
              </a:rPr>
              <a:t>Concatenation is not sequence-level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The thesis: share the anchor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Move the local scene and its observation cameras together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896112"/>
            <a:ext cx="5230368" cy="4956048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97280"/>
            <a:ext cx="473659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3478A5"/>
                </a:solidFill>
                <a:latin typeface="Arial"/>
              </a:rPr>
              <a:t>Before pose correction</a:t>
            </a:r>
          </a:p>
        </p:txBody>
      </p:sp>
      <p:sp>
        <p:nvSpPr>
          <p:cNvPr id="9" name="Oval 8"/>
          <p:cNvSpPr/>
          <p:nvPr/>
        </p:nvSpPr>
        <p:spPr>
          <a:xfrm>
            <a:off x="2697480" y="1828800"/>
            <a:ext cx="676656" cy="676656"/>
          </a:xfrm>
          <a:prstGeom prst="ellipse">
            <a:avLst/>
          </a:prstGeom>
          <a:solidFill>
            <a:srgbClr val="FBEFE8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938528"/>
            <a:ext cx="67665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anchor k</a:t>
            </a:r>
          </a:p>
        </p:txBody>
      </p:sp>
      <p:sp>
        <p:nvSpPr>
          <p:cNvPr id="11" name="Trapezoid 10"/>
          <p:cNvSpPr/>
          <p:nvPr/>
        </p:nvSpPr>
        <p:spPr>
          <a:xfrm rot="5400000">
            <a:off x="1143000" y="3246120"/>
            <a:ext cx="652881" cy="460857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469440" y="3476548"/>
            <a:ext cx="499263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5400000">
            <a:off x="1918411" y="342625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900000">
            <a:off x="3456432" y="3339388"/>
            <a:ext cx="590702" cy="260603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20400000">
            <a:off x="3942892" y="3061411"/>
            <a:ext cx="521207" cy="243230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600000">
            <a:off x="4116628" y="3547872"/>
            <a:ext cx="625449" cy="277977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20880000">
            <a:off x="4637836" y="3235147"/>
            <a:ext cx="469087" cy="225856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1755648" y="2487168"/>
            <a:ext cx="1261872" cy="100584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3886496">
            <a:off x="1705356" y="3442715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017520" y="2487168"/>
            <a:ext cx="1097280" cy="100584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7950627">
            <a:off x="4064508" y="3442715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10328"/>
            <a:ext cx="4251960" cy="4572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camera + local Gaussian map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42432" y="3246120"/>
            <a:ext cx="548640" cy="0"/>
          </a:xfrm>
          <a:prstGeom prst="line">
            <a:avLst/>
          </a:prstGeom>
          <a:ln w="3048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240780" y="3195827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19088" y="896112"/>
            <a:ext cx="5321808" cy="4956048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097280"/>
            <a:ext cx="4809744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68077"/>
                </a:solidFill>
                <a:latin typeface="Arial"/>
              </a:rPr>
              <a:t>After pose correction</a:t>
            </a:r>
          </a:p>
        </p:txBody>
      </p:sp>
      <p:sp>
        <p:nvSpPr>
          <p:cNvPr id="27" name="Oval 26"/>
          <p:cNvSpPr/>
          <p:nvPr/>
        </p:nvSpPr>
        <p:spPr>
          <a:xfrm>
            <a:off x="9601200" y="1600200"/>
            <a:ext cx="676656" cy="676656"/>
          </a:xfrm>
          <a:prstGeom prst="ellipse">
            <a:avLst/>
          </a:prstGeom>
          <a:solidFill>
            <a:srgbClr val="FBEFE8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709928"/>
            <a:ext cx="67665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anchor k'</a:t>
            </a:r>
          </a:p>
        </p:txBody>
      </p:sp>
      <p:sp>
        <p:nvSpPr>
          <p:cNvPr id="29" name="Trapezoid 28"/>
          <p:cNvSpPr/>
          <p:nvPr/>
        </p:nvSpPr>
        <p:spPr>
          <a:xfrm rot="5400000">
            <a:off x="7635240" y="2926080"/>
            <a:ext cx="652881" cy="460857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961680" y="3156508"/>
            <a:ext cx="499263" cy="0"/>
          </a:xfrm>
          <a:prstGeom prst="line">
            <a:avLst/>
          </a:prstGeom>
          <a:ln w="1270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8410651" y="310621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900000">
            <a:off x="9802368" y="2873044"/>
            <a:ext cx="590702" cy="260603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20400000">
            <a:off x="10288828" y="2595067"/>
            <a:ext cx="521207" cy="243230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600000">
            <a:off x="10462564" y="3081527"/>
            <a:ext cx="625449" cy="277977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20880000">
            <a:off x="10983772" y="2768803"/>
            <a:ext cx="469087" cy="225856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8229600" y="2267712"/>
            <a:ext cx="1691640" cy="91440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4496419">
            <a:off x="8179308" y="3131820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9921240" y="2267712"/>
            <a:ext cx="548640" cy="795528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8724463">
            <a:off x="10419588" y="301294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76288" y="4910328"/>
            <a:ext cx="4370832" cy="4572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the same relative relation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48840" y="5961888"/>
            <a:ext cx="79095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31720" y="6035040"/>
            <a:ext cx="754380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700" b="1">
                <a:solidFill>
                  <a:srgbClr val="C36B31"/>
                </a:solidFill>
                <a:latin typeface="Arial"/>
              </a:rPr>
              <a:t>T_WCf^-1 T_WCk = T_CkCf^-1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One theory, three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Each contribution supports the same persistent-map claim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3182112" cy="437083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778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" y="1298448"/>
            <a:ext cx="1097280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07592"/>
            <a:ext cx="98755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883664"/>
            <a:ext cx="2670048" cy="60350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18323F"/>
                </a:solidFill>
                <a:latin typeface="Arial"/>
              </a:rPr>
              <a:t>Dense local map</a:t>
            </a:r>
          </a:p>
        </p:txBody>
      </p:sp>
      <p:sp>
        <p:nvSpPr>
          <p:cNvPr id="11" name="Trapezoid 10"/>
          <p:cNvSpPr/>
          <p:nvPr/>
        </p:nvSpPr>
        <p:spPr>
          <a:xfrm rot="5400000">
            <a:off x="996696" y="2834640"/>
            <a:ext cx="466344" cy="329184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229868" y="2999232"/>
            <a:ext cx="356616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5400000">
            <a:off x="1536192" y="2948940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900000">
            <a:off x="2039112" y="2976372"/>
            <a:ext cx="388620" cy="171450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20400000">
            <a:off x="2359152" y="2793491"/>
            <a:ext cx="342900" cy="160020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600000">
            <a:off x="2473452" y="3113532"/>
            <a:ext cx="411479" cy="182880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20880000">
            <a:off x="2816352" y="2907791"/>
            <a:ext cx="308610" cy="148590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2633472" cy="58521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One forward pass gives geometry and appearance.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11880" y="3172968"/>
            <a:ext cx="393192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3954780" y="312267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0" y="1078992"/>
            <a:ext cx="3182112" cy="437083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778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34256" y="1298448"/>
            <a:ext cx="1097280" cy="274320"/>
          </a:xfrm>
          <a:prstGeom prst="roundRect">
            <a:avLst>
              <a:gd name="adj" fmla="val 7000"/>
            </a:avLst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307592"/>
            <a:ext cx="98755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ANCHOR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1883664"/>
            <a:ext cx="2670048" cy="60350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18323F"/>
                </a:solidFill>
                <a:latin typeface="Arial"/>
              </a:rPr>
              <a:t>Coordinate consistency</a:t>
            </a:r>
          </a:p>
        </p:txBody>
      </p:sp>
      <p:sp>
        <p:nvSpPr>
          <p:cNvPr id="25" name="Oval 24"/>
          <p:cNvSpPr/>
          <p:nvPr/>
        </p:nvSpPr>
        <p:spPr>
          <a:xfrm>
            <a:off x="5376672" y="2761488"/>
            <a:ext cx="658368" cy="658368"/>
          </a:xfrm>
          <a:prstGeom prst="ellipse">
            <a:avLst/>
          </a:prstGeom>
          <a:solidFill>
            <a:srgbClr val="FBEFE8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6672" y="2871216"/>
            <a:ext cx="65836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C36B31"/>
                </a:solidFill>
                <a:latin typeface="Arial"/>
              </a:rPr>
              <a:t>k</a:t>
            </a:r>
          </a:p>
        </p:txBody>
      </p:sp>
      <p:sp>
        <p:nvSpPr>
          <p:cNvPr id="27" name="Trapezoid 26"/>
          <p:cNvSpPr/>
          <p:nvPr/>
        </p:nvSpPr>
        <p:spPr>
          <a:xfrm rot="5400000">
            <a:off x="4773168" y="3675887"/>
            <a:ext cx="388620" cy="274320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967478" y="3813048"/>
            <a:ext cx="297179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5214366" y="376275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900000">
            <a:off x="5943600" y="3693261"/>
            <a:ext cx="326440" cy="144018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20400000">
            <a:off x="6212433" y="3539642"/>
            <a:ext cx="288036" cy="134416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600000">
            <a:off x="6308445" y="3808476"/>
            <a:ext cx="345643" cy="153619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20880000">
            <a:off x="6596481" y="3635654"/>
            <a:ext cx="259232" cy="124815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407408"/>
            <a:ext cx="2633472" cy="58521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Map and supervision follow the pose graph.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3172968"/>
            <a:ext cx="393192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5400000">
            <a:off x="7658100" y="312267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18120" y="1078992"/>
            <a:ext cx="3182112" cy="4370832"/>
          </a:xfrm>
          <a:prstGeom prst="roundRect">
            <a:avLst>
              <a:gd name="adj" fmla="val 7000"/>
            </a:avLst>
          </a:prstGeom>
          <a:solidFill>
            <a:srgbClr val="F8EDF3"/>
          </a:solidFill>
          <a:ln w="1778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37576" y="1298448"/>
            <a:ext cx="1097280" cy="274320"/>
          </a:xfrm>
          <a:prstGeom prst="roundRect">
            <a:avLst>
              <a:gd name="adj" fmla="val 7000"/>
            </a:avLst>
          </a:prstGeom>
          <a:solidFill>
            <a:srgbClr val="A14D78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1307592"/>
            <a:ext cx="98755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REFINE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1883664"/>
            <a:ext cx="2670048" cy="60350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18323F"/>
                </a:solidFill>
                <a:latin typeface="Arial"/>
              </a:rPr>
              <a:t>Sequence evidence</a:t>
            </a:r>
          </a:p>
        </p:txBody>
      </p:sp>
      <p:pic>
        <p:nvPicPr>
          <p:cNvPr id="41" name="Picture 40" descr="before.png"/>
          <p:cNvPicPr>
            <a:picLocks noChangeAspect="1"/>
          </p:cNvPicPr>
          <p:nvPr/>
        </p:nvPicPr>
        <p:blipFill>
          <a:blip r:embed="rId2"/>
          <a:srcRect l="11522" r="11522"/>
          <a:stretch>
            <a:fillRect/>
          </a:stretch>
        </p:blipFill>
        <p:spPr>
          <a:xfrm>
            <a:off x="8165592" y="2788920"/>
            <a:ext cx="1078992" cy="1051560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cxnSp>
        <p:nvCxnSpPr>
          <p:cNvPr id="42" name="Connector 41"/>
          <p:cNvCxnSpPr/>
          <p:nvPr/>
        </p:nvCxnSpPr>
        <p:spPr>
          <a:xfrm>
            <a:off x="9317736" y="3310128"/>
            <a:ext cx="274320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9541764" y="325983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fter.png"/>
          <p:cNvPicPr>
            <a:picLocks noChangeAspect="1"/>
          </p:cNvPicPr>
          <p:nvPr/>
        </p:nvPicPr>
        <p:blipFill>
          <a:blip r:embed="rId3"/>
          <a:srcRect l="11522" r="11522"/>
          <a:stretch>
            <a:fillRect/>
          </a:stretch>
        </p:blipFill>
        <p:spPr>
          <a:xfrm>
            <a:off x="9665208" y="2788920"/>
            <a:ext cx="1078992" cy="105156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45" name="TextBox 44"/>
          <p:cNvSpPr txBox="1"/>
          <p:nvPr/>
        </p:nvSpPr>
        <p:spPr>
          <a:xfrm>
            <a:off x="8092440" y="4407408"/>
            <a:ext cx="2633472" cy="58521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Tracked RGB improves appearance without changing poses.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815584"/>
            <a:ext cx="111099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18323F"/>
                </a:solidFill>
                <a:latin typeface="Arial"/>
              </a:rPr>
              <a:t>The experiments ask whether each step preserves the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Where this work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Prediction-first initialization plus sequence-level SLAM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97280" y="5394960"/>
            <a:ext cx="9829800" cy="0"/>
          </a:xfrm>
          <a:prstGeom prst="line">
            <a:avLst/>
          </a:prstGeom>
          <a:ln w="19050">
            <a:solidFill>
              <a:srgbClr val="1832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771632" y="5394960"/>
            <a:ext cx="274320" cy="0"/>
          </a:xfrm>
          <a:prstGeom prst="line">
            <a:avLst/>
          </a:prstGeom>
          <a:ln w="19050">
            <a:solidFill>
              <a:srgbClr val="1832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10995660" y="5344668"/>
            <a:ext cx="100584" cy="100584"/>
          </a:xfrm>
          <a:prstGeom prst="triangle">
            <a:avLst/>
          </a:prstGeom>
          <a:solidFill>
            <a:srgbClr val="183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1097280" y="960120"/>
            <a:ext cx="0" cy="4434840"/>
          </a:xfrm>
          <a:prstGeom prst="line">
            <a:avLst/>
          </a:prstGeom>
          <a:ln w="19050">
            <a:solidFill>
              <a:srgbClr val="1832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97280" y="850392"/>
            <a:ext cx="0" cy="283464"/>
          </a:xfrm>
          <a:prstGeom prst="line">
            <a:avLst/>
          </a:prstGeom>
          <a:ln w="19050">
            <a:solidFill>
              <a:srgbClr val="1832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>
            <a:off x="1046988" y="800100"/>
            <a:ext cx="100584" cy="100584"/>
          </a:xfrm>
          <a:prstGeom prst="triangle">
            <a:avLst/>
          </a:prstGeom>
          <a:solidFill>
            <a:srgbClr val="183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504688"/>
            <a:ext cx="384048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607681"/>
                </a:solidFill>
                <a:latin typeface="Arial"/>
              </a:rPr>
              <a:t>OPTIMIZATION-FIRST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5504688"/>
            <a:ext cx="31089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1">
                <a:solidFill>
                  <a:srgbClr val="607681"/>
                </a:solidFill>
                <a:latin typeface="Arial"/>
              </a:rPr>
              <a:t>PREDICTION-FIRST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" y="1024128"/>
            <a:ext cx="685800" cy="7498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607681"/>
                </a:solidFill>
                <a:latin typeface="Arial"/>
              </a:rPr>
              <a:t>FULL
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4590288"/>
            <a:ext cx="685800" cy="5943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607681"/>
                </a:solidFill>
                <a:latin typeface="Arial"/>
              </a:rPr>
              <a:t>LOCAL
PAIR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389120"/>
            <a:ext cx="1572768" cy="50292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9112" y="4462272"/>
            <a:ext cx="1426464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3478A5"/>
                </a:solidFill>
                <a:latin typeface="Arial"/>
              </a:rPr>
              <a:t>MonoGS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3474720"/>
            <a:ext cx="1572768" cy="50292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3547872"/>
            <a:ext cx="1426464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3478A5"/>
                </a:solidFill>
                <a:latin typeface="Arial"/>
              </a:rPr>
              <a:t>Photo-SLAM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1874519"/>
            <a:ext cx="1572768" cy="502920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13632" y="1947672"/>
            <a:ext cx="1426464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Splat-SLAM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331720"/>
            <a:ext cx="1572768" cy="502920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404872"/>
            <a:ext cx="1426464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SEGS-SLAM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4572000"/>
            <a:ext cx="1572768" cy="502920"/>
          </a:xfrm>
          <a:prstGeom prst="roundRect">
            <a:avLst>
              <a:gd name="adj" fmla="val 7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97112" y="4645152"/>
            <a:ext cx="1426464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A14D78"/>
                </a:solidFill>
                <a:latin typeface="Arial"/>
              </a:rPr>
              <a:t>Splatt3R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1572768"/>
            <a:ext cx="1572768" cy="502920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85632" y="1645920"/>
            <a:ext cx="1426464" cy="3200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68077"/>
                </a:solidFill>
                <a:latin typeface="Arial"/>
              </a:rPr>
              <a:t>Splatt3R-SLAM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2249424"/>
            <a:ext cx="1481328" cy="5029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68077"/>
                </a:solidFill>
                <a:latin typeface="Arial"/>
              </a:rPr>
              <a:t>shared anchors
+ refinement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927848" y="1920240"/>
            <a:ext cx="438912" cy="41148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2810857">
            <a:off x="8316468" y="1869948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938528" y="5943600"/>
            <a:ext cx="8430768" cy="38404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 w="1270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5998464"/>
            <a:ext cx="8193024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1">
                <a:solidFill>
                  <a:srgbClr val="607681"/>
                </a:solidFill>
                <a:latin typeface="Arial"/>
              </a:rPr>
              <a:t>Positioning diagram only. Quantitative ranking requires a common protocol.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Predict, anchor, refine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Thesis method navigation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20040" y="658368"/>
            <a:ext cx="182880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3478A5"/>
                </a:solidFill>
                <a:latin typeface="Arial"/>
              </a:rPr>
              <a:t>1  IMAGE PAIR</a:t>
            </a:r>
          </a:p>
        </p:txBody>
      </p:sp>
      <p:pic>
        <p:nvPicPr>
          <p:cNvPr id="6" name="Picture 5" descr="view0_gt.png"/>
          <p:cNvPicPr>
            <a:picLocks noChangeAspect="1"/>
          </p:cNvPicPr>
          <p:nvPr/>
        </p:nvPicPr>
        <p:blipFill>
          <a:blip r:embed="rId2"/>
          <a:srcRect t="211" b="211"/>
          <a:stretch>
            <a:fillRect/>
          </a:stretch>
        </p:blipFill>
        <p:spPr>
          <a:xfrm>
            <a:off x="320040" y="941832"/>
            <a:ext cx="1444752" cy="1078992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7" name="Picture 6" descr="view1_gt.png"/>
          <p:cNvPicPr>
            <a:picLocks noChangeAspect="1"/>
          </p:cNvPicPr>
          <p:nvPr/>
        </p:nvPicPr>
        <p:blipFill>
          <a:blip r:embed="rId3"/>
          <a:srcRect t="211" b="211"/>
          <a:stretch>
            <a:fillRect/>
          </a:stretch>
        </p:blipFill>
        <p:spPr>
          <a:xfrm>
            <a:off x="658368" y="1490472"/>
            <a:ext cx="1444752" cy="107899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20040" y="2670048"/>
            <a:ext cx="1783080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07681"/>
                </a:solidFill>
                <a:latin typeface="Arial"/>
              </a:rPr>
              <a:t>current frame + keyframe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76272" y="1691640"/>
            <a:ext cx="292608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2418588" y="1641348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87168" y="941832"/>
            <a:ext cx="1938528" cy="1481328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014984"/>
            <a:ext cx="17190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298448"/>
            <a:ext cx="1719072" cy="106984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Frozen MASt3R features
Pointmap + matching
Gaussian DPT 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2514600"/>
            <a:ext cx="178308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3478A5"/>
                </a:solidFill>
                <a:latin typeface="Arial"/>
              </a:rPr>
              <a:t>Ch. 2 / Eq. (2.7)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25696" y="1344168"/>
            <a:ext cx="310896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686300" y="129387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841248"/>
            <a:ext cx="2057400" cy="1024128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914400"/>
            <a:ext cx="183794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Geometry 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1197864"/>
            <a:ext cx="1837943" cy="61264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tracking -&gt; keyframes -&gt; pose graph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25696" y="2084831"/>
            <a:ext cx="310896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4686300" y="2034539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1965960"/>
            <a:ext cx="2057400" cy="9875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2039112"/>
            <a:ext cx="183794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Gaussian lane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608" y="2322576"/>
            <a:ext cx="1837943" cy="5760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local means, shape, color, opacity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39712" y="1417320"/>
            <a:ext cx="283464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072884" y="136702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50608" y="841248"/>
            <a:ext cx="1901952" cy="2112264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0336" y="914400"/>
            <a:ext cx="168249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keyframe anchor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1197864"/>
            <a:ext cx="1682496" cy="1700784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Current pose moves both:
  local Gaussian map
  supervision cameras</a:t>
            </a:r>
          </a:p>
        </p:txBody>
      </p:sp>
      <p:sp>
        <p:nvSpPr>
          <p:cNvPr id="30" name="Trapezoid 29"/>
          <p:cNvSpPr/>
          <p:nvPr/>
        </p:nvSpPr>
        <p:spPr>
          <a:xfrm rot="5400000">
            <a:off x="7406640" y="2139696"/>
            <a:ext cx="295351" cy="208483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554315" y="2243937"/>
            <a:ext cx="225857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729880" y="2193645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900000">
            <a:off x="7936992" y="2197303"/>
            <a:ext cx="264261" cy="11658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20400000">
            <a:off x="8154619" y="2072944"/>
            <a:ext cx="233172" cy="108813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600000">
            <a:off x="8232343" y="2290572"/>
            <a:ext cx="279806" cy="124358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20880000">
            <a:off x="8465515" y="2150668"/>
            <a:ext cx="209854" cy="101041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42048" y="3044952"/>
            <a:ext cx="1719072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C36B31"/>
                </a:solidFill>
                <a:latin typeface="Arial"/>
              </a:rPr>
              <a:t>Ch. 4 / Eqs. (4.1-4.3)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12280" y="2441448"/>
            <a:ext cx="320040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5400000">
            <a:off x="7082028" y="239115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070848" y="1801368"/>
            <a:ext cx="30175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9322308" y="175107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400032" y="841248"/>
            <a:ext cx="2450592" cy="2112264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59" y="914400"/>
            <a:ext cx="22311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Photometric refinement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1197864"/>
            <a:ext cx="2231136" cy="1700784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sample tracked RGB
render current map
L1 + SSIM loss
Adam update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3044952"/>
            <a:ext cx="2212848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A14D78"/>
                </a:solidFill>
                <a:latin typeface="Arial"/>
              </a:rPr>
              <a:t>Ch. 7 / Eq. (7.1)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3346704"/>
            <a:ext cx="2560320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68077"/>
                </a:solidFill>
                <a:latin typeface="Arial"/>
              </a:rPr>
              <a:t>2  REAL DATA FLOW</a:t>
            </a:r>
          </a:p>
        </p:txBody>
      </p:sp>
      <p:pic>
        <p:nvPicPr>
          <p:cNvPr id="47" name="Picture 46" descr="before.png"/>
          <p:cNvPicPr>
            <a:picLocks noChangeAspect="1"/>
          </p:cNvPicPr>
          <p:nvPr/>
        </p:nvPicPr>
        <p:blipFill>
          <a:blip r:embed="rId4"/>
          <a:srcRect t="6219" b="6219"/>
          <a:stretch>
            <a:fillRect/>
          </a:stretch>
        </p:blipFill>
        <p:spPr>
          <a:xfrm>
            <a:off x="320040" y="3675887"/>
            <a:ext cx="3063240" cy="2011680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48" name="Picture 47" descr="after.png"/>
          <p:cNvPicPr>
            <a:picLocks noChangeAspect="1"/>
          </p:cNvPicPr>
          <p:nvPr/>
        </p:nvPicPr>
        <p:blipFill>
          <a:blip r:embed="rId5"/>
          <a:srcRect t="6219" b="6219"/>
          <a:stretch>
            <a:fillRect/>
          </a:stretch>
        </p:blipFill>
        <p:spPr>
          <a:xfrm>
            <a:off x="3675887" y="3675887"/>
            <a:ext cx="3063240" cy="201168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49" name="TextBox 48"/>
          <p:cNvSpPr txBox="1"/>
          <p:nvPr/>
        </p:nvSpPr>
        <p:spPr>
          <a:xfrm>
            <a:off x="320040" y="5742432"/>
            <a:ext cx="3063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607681"/>
                </a:solidFill>
                <a:latin typeface="Arial"/>
              </a:rPr>
              <a:t>predicted map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75887" y="5742432"/>
            <a:ext cx="30632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68077"/>
                </a:solidFill>
                <a:latin typeface="Arial"/>
              </a:rPr>
              <a:t>same camera after refinement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01568" y="4681728"/>
            <a:ext cx="24688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3598164" y="463143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150608" y="3675887"/>
            <a:ext cx="1901952" cy="201168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0336" y="3749039"/>
            <a:ext cx="168249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Supervision sampler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032503"/>
            <a:ext cx="1682496" cy="1600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200-frame reservoir
64 recent frames
30% recent sampling</a:t>
            </a:r>
          </a:p>
        </p:txBody>
      </p:sp>
      <p:sp>
        <p:nvSpPr>
          <p:cNvPr id="56" name="Trapezoid 55"/>
          <p:cNvSpPr/>
          <p:nvPr/>
        </p:nvSpPr>
        <p:spPr>
          <a:xfrm rot="5400000">
            <a:off x="7452360" y="4983480"/>
            <a:ext cx="341985" cy="241401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623352" y="5104180"/>
            <a:ext cx="261519" cy="0"/>
          </a:xfrm>
          <a:prstGeom prst="line">
            <a:avLst/>
          </a:prstGeom>
          <a:ln w="1270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7834579" y="5053888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rapezoid 58"/>
          <p:cNvSpPr/>
          <p:nvPr/>
        </p:nvSpPr>
        <p:spPr>
          <a:xfrm rot="5400000">
            <a:off x="8001000" y="4910328"/>
            <a:ext cx="341985" cy="241401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171992" y="5031028"/>
            <a:ext cx="261519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8383219" y="49807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070848" y="4681728"/>
            <a:ext cx="30175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/>
          <p:cNvSpPr/>
          <p:nvPr/>
        </p:nvSpPr>
        <p:spPr>
          <a:xfrm rot="5400000">
            <a:off x="9322308" y="463143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400032" y="3675887"/>
            <a:ext cx="2450592" cy="2011680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759" y="3749039"/>
            <a:ext cx="22311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Optional initialisation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09759" y="4032503"/>
            <a:ext cx="2231136" cy="1600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head-only adaptation
opacity attenuation
External comparison:
released head; attenuation off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5742432"/>
            <a:ext cx="2212848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C36B31"/>
                </a:solidFill>
                <a:latin typeface="Arial"/>
              </a:rPr>
              <a:t>Chs. 5-6 / Eq. (6.1)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0040" y="6327648"/>
            <a:ext cx="1152144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Pose updates change anchors; appearance gradients never update the tracker.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METHOD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Predict: one pass, two 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A shared network supports tracking and appearance mapping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view0_gt.png"/>
          <p:cNvPicPr>
            <a:picLocks noChangeAspect="1"/>
          </p:cNvPicPr>
          <p:nvPr/>
        </p:nvPicPr>
        <p:blipFill>
          <a:blip r:embed="rId2"/>
          <a:srcRect l="312" r="312"/>
          <a:stretch>
            <a:fillRect/>
          </a:stretch>
        </p:blipFill>
        <p:spPr>
          <a:xfrm>
            <a:off x="384048" y="1005840"/>
            <a:ext cx="2423160" cy="1828800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8" name="Picture 7" descr="view1_gt.png"/>
          <p:cNvPicPr>
            <a:picLocks noChangeAspect="1"/>
          </p:cNvPicPr>
          <p:nvPr/>
        </p:nvPicPr>
        <p:blipFill>
          <a:blip r:embed="rId3"/>
          <a:srcRect l="312" r="312"/>
          <a:stretch>
            <a:fillRect/>
          </a:stretch>
        </p:blipFill>
        <p:spPr>
          <a:xfrm>
            <a:off x="749808" y="2340864"/>
            <a:ext cx="2423160" cy="182880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cxnSp>
        <p:nvCxnSpPr>
          <p:cNvPr id="9" name="Connector 8"/>
          <p:cNvCxnSpPr/>
          <p:nvPr/>
        </p:nvCxnSpPr>
        <p:spPr>
          <a:xfrm>
            <a:off x="3172968" y="2487168"/>
            <a:ext cx="502919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3625595" y="243687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30752" y="1225296"/>
            <a:ext cx="2304288" cy="2523744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298448"/>
            <a:ext cx="208483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 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1581912"/>
            <a:ext cx="2084832" cy="2112263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Frozen MASt3R encoder + decoder
Gaussian DPT head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1938528"/>
            <a:ext cx="484632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515100" y="18882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080760" y="3017520"/>
            <a:ext cx="484632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6515100" y="2967227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29400" y="1042415"/>
            <a:ext cx="2167128" cy="1444752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1115568"/>
            <a:ext cx="19476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Geometry lane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99031"/>
            <a:ext cx="1947672" cy="10332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pointmaps
matching features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761488"/>
            <a:ext cx="2167128" cy="14447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39128" y="2834640"/>
            <a:ext cx="19476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Gaussian 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3118104"/>
            <a:ext cx="1947672" cy="10332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mean, scale, rotation
opacity, SH colour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51392" y="1938528"/>
            <a:ext cx="475488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9276588" y="18882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851392" y="3456432"/>
            <a:ext cx="47548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9276588" y="3406139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81744" y="1042415"/>
            <a:ext cx="2331720" cy="1444752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1115568"/>
            <a:ext cx="21122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Tracker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1472" y="1399031"/>
            <a:ext cx="2112263" cy="10332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pose + keyframes +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81744" y="2761488"/>
            <a:ext cx="2331720" cy="14447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91472" y="2834640"/>
            <a:ext cx="21122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Local 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1472" y="3118104"/>
            <a:ext cx="2112263" cy="10332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one Gaussian per valid pixel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4640" y="4754880"/>
            <a:ext cx="6537960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4855464"/>
            <a:ext cx="6217920" cy="4572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18323F"/>
                </a:solidFill>
                <a:latin typeface="Arial"/>
              </a:rPr>
              <a:t>mu_n = x_n + Delta_n     |     Sigma_n = R(q_n) diag(s_n^2) R(q_n)^T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5687568"/>
            <a:ext cx="5669280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1">
                <a:solidFill>
                  <a:srgbClr val="607681"/>
                </a:solidFill>
                <a:latin typeface="Arial"/>
              </a:rPr>
              <a:t>Paper Sec. III-A / Eq. (1) | Thesis Ch. 2 / Eq. (2.7)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Why the supervision camera shares the anchor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Coordinate control and refinement loop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" y="822960"/>
            <a:ext cx="3337560" cy="2084831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96112"/>
            <a:ext cx="311810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Before a loop closure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79576"/>
            <a:ext cx="3118104" cy="1673351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Local map and camera use keyframe k.
Their relative transform is fixed.</a:t>
            </a:r>
          </a:p>
        </p:txBody>
      </p:sp>
      <p:sp>
        <p:nvSpPr>
          <p:cNvPr id="8" name="Trapezoid 7"/>
          <p:cNvSpPr/>
          <p:nvPr/>
        </p:nvSpPr>
        <p:spPr>
          <a:xfrm rot="5400000">
            <a:off x="786384" y="2029968"/>
            <a:ext cx="435254" cy="30723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04011" y="2183587"/>
            <a:ext cx="332841" cy="0"/>
          </a:xfrm>
          <a:prstGeom prst="line">
            <a:avLst/>
          </a:prstGeom>
          <a:ln w="1270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1286560" y="2133295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900000">
            <a:off x="1892807" y="2115007"/>
            <a:ext cx="419709" cy="18516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20400000">
            <a:off x="2238451" y="1917496"/>
            <a:ext cx="370332" cy="172821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600000">
            <a:off x="2361895" y="2263139"/>
            <a:ext cx="444398" cy="197510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0880000">
            <a:off x="2732227" y="2040940"/>
            <a:ext cx="333298" cy="160477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325880" y="2212848"/>
            <a:ext cx="594360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1869948" y="216255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523744"/>
            <a:ext cx="2724912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T_WCf^-1 T_WCk = T_CkCf^-1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67328" y="1847088"/>
            <a:ext cx="393192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4110228" y="179679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87952" y="822960"/>
            <a:ext cx="3310128" cy="2084831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896112"/>
            <a:ext cx="30906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Pose correction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1179576"/>
            <a:ext cx="3090672" cy="1673351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The pose graph changes T_WCk.
The map and camera move together.</a:t>
            </a:r>
          </a:p>
        </p:txBody>
      </p:sp>
      <p:sp>
        <p:nvSpPr>
          <p:cNvPr id="23" name="Trapezoid 22"/>
          <p:cNvSpPr/>
          <p:nvPr/>
        </p:nvSpPr>
        <p:spPr>
          <a:xfrm rot="5400000">
            <a:off x="4681728" y="1856231"/>
            <a:ext cx="435254" cy="30723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899355" y="2009851"/>
            <a:ext cx="332841" cy="0"/>
          </a:xfrm>
          <a:prstGeom prst="line">
            <a:avLst/>
          </a:prstGeom>
          <a:ln w="1270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5181904" y="1959559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900000">
            <a:off x="5742432" y="1831543"/>
            <a:ext cx="419709" cy="18516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20400000">
            <a:off x="6088075" y="1634032"/>
            <a:ext cx="370332" cy="172821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600000">
            <a:off x="6211519" y="1979676"/>
            <a:ext cx="444398" cy="197510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20880000">
            <a:off x="6581851" y="1757476"/>
            <a:ext cx="333298" cy="160477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3128" y="2523744"/>
            <a:ext cx="2770632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shared anchor: relation preserved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62088" y="1847088"/>
            <a:ext cx="393191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904988" y="179679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982712" y="822960"/>
            <a:ext cx="3794760" cy="2084831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896112"/>
            <a:ext cx="357530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Controlled 6% scale 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179576"/>
            <a:ext cx="3575304" cy="1673351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Fixed world camera: refinement reverses the correction.
Shared anchor: correction remains after about 500 steps.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2286000"/>
            <a:ext cx="33375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A14D78"/>
                </a:solidFill>
                <a:latin typeface="Arial"/>
              </a:rPr>
              <a:t>Desk + room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273552"/>
            <a:ext cx="31089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68077"/>
                </a:solidFill>
                <a:latin typeface="Arial"/>
              </a:rPr>
              <a:t>REFINEMENT LOOP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sample RGB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304288" y="4224528"/>
            <a:ext cx="24688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2500884" y="417423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74320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52928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compose pose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636008" y="4224528"/>
            <a:ext cx="246888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4832604" y="4174236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7492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render map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967727" y="4224528"/>
            <a:ext cx="246889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7164324" y="417423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406640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16367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L1 + SSIM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299448" y="4224528"/>
            <a:ext cx="246888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9496044" y="4174236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738359" y="3730752"/>
            <a:ext cx="1874519" cy="987552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48087" y="3803904"/>
            <a:ext cx="1655063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Adam update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029200"/>
            <a:ext cx="10972800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Only Gaussian scale, rotation, opacity, and DC color receive gradients.</a:t>
            </a:r>
          </a:p>
        </p:txBody>
      </p:sp>
      <p:pic>
        <p:nvPicPr>
          <p:cNvPr id="57" name="Picture 56" descr="before.png"/>
          <p:cNvPicPr>
            <a:picLocks noChangeAspect="1"/>
          </p:cNvPicPr>
          <p:nvPr/>
        </p:nvPicPr>
        <p:blipFill>
          <a:blip r:embed="rId2"/>
          <a:srcRect t="18783" b="18783"/>
          <a:stretch>
            <a:fillRect/>
          </a:stretch>
        </p:blipFill>
        <p:spPr>
          <a:xfrm>
            <a:off x="1938528" y="5486400"/>
            <a:ext cx="2304288" cy="1078992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58" name="Picture 57" descr="after.png"/>
          <p:cNvPicPr>
            <a:picLocks noChangeAspect="1"/>
          </p:cNvPicPr>
          <p:nvPr/>
        </p:nvPicPr>
        <p:blipFill>
          <a:blip r:embed="rId3"/>
          <a:srcRect t="18783" b="18783"/>
          <a:stretch>
            <a:fillRect/>
          </a:stretch>
        </p:blipFill>
        <p:spPr>
          <a:xfrm>
            <a:off x="7955279" y="5486400"/>
            <a:ext cx="2304288" cy="107899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cxnSp>
        <p:nvCxnSpPr>
          <p:cNvPr id="59" name="Connector 58"/>
          <p:cNvCxnSpPr/>
          <p:nvPr/>
        </p:nvCxnSpPr>
        <p:spPr>
          <a:xfrm>
            <a:off x="4325112" y="6025896"/>
            <a:ext cx="3538728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5400000">
            <a:off x="7813548" y="5975604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METHOD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Refine: use the sequence without moving the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 real control loop is sampling, rendering, and Adam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before.png"/>
          <p:cNvPicPr>
            <a:picLocks noChangeAspect="1"/>
          </p:cNvPicPr>
          <p:nvPr/>
        </p:nvPicPr>
        <p:blipFill>
          <a:blip r:embed="rId2"/>
          <a:srcRect t="1657" b="1657"/>
          <a:stretch>
            <a:fillRect/>
          </a:stretch>
        </p:blipFill>
        <p:spPr>
          <a:xfrm>
            <a:off x="384048" y="960120"/>
            <a:ext cx="3127248" cy="2267712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8" name="Picture 7" descr="after.png"/>
          <p:cNvPicPr>
            <a:picLocks noChangeAspect="1"/>
          </p:cNvPicPr>
          <p:nvPr/>
        </p:nvPicPr>
        <p:blipFill>
          <a:blip r:embed="rId3"/>
          <a:srcRect t="1657" b="1657"/>
          <a:stretch>
            <a:fillRect/>
          </a:stretch>
        </p:blipFill>
        <p:spPr>
          <a:xfrm>
            <a:off x="384048" y="3675887"/>
            <a:ext cx="3127248" cy="226771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93776" y="3282696"/>
            <a:ext cx="2907792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607681"/>
                </a:solidFill>
                <a:latin typeface="Arial"/>
              </a:rPr>
              <a:t>same camera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56816" y="3236976"/>
            <a:ext cx="0" cy="402336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1906524" y="3589020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859536"/>
            <a:ext cx="306324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68077"/>
                </a:solidFill>
                <a:latin typeface="Arial"/>
              </a:rPr>
              <a:t>SUPERVISION POOL</a:t>
            </a:r>
          </a:p>
        </p:txBody>
      </p:sp>
      <p:pic>
        <p:nvPicPr>
          <p:cNvPr id="13" name="Picture 12" descr="view0_gt.png"/>
          <p:cNvPicPr>
            <a:picLocks noChangeAspect="1"/>
          </p:cNvPicPr>
          <p:nvPr/>
        </p:nvPicPr>
        <p:blipFill>
          <a:blip r:embed="rId4"/>
          <a:srcRect t="5696" b="5696"/>
          <a:stretch>
            <a:fillRect/>
          </a:stretch>
        </p:blipFill>
        <p:spPr>
          <a:xfrm>
            <a:off x="3968496" y="1261872"/>
            <a:ext cx="1444752" cy="960120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14" name="Picture 13" descr="view1_gt.png"/>
          <p:cNvPicPr>
            <a:picLocks noChangeAspect="1"/>
          </p:cNvPicPr>
          <p:nvPr/>
        </p:nvPicPr>
        <p:blipFill>
          <a:blip r:embed="rId5"/>
          <a:srcRect t="5696" b="5696"/>
          <a:stretch>
            <a:fillRect/>
          </a:stretch>
        </p:blipFill>
        <p:spPr>
          <a:xfrm>
            <a:off x="4498848" y="1408175"/>
            <a:ext cx="1444752" cy="9601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pic>
        <p:nvPicPr>
          <p:cNvPr id="15" name="Picture 14" descr="view0_gt.png"/>
          <p:cNvPicPr>
            <a:picLocks noChangeAspect="1"/>
          </p:cNvPicPr>
          <p:nvPr/>
        </p:nvPicPr>
        <p:blipFill>
          <a:blip r:embed="rId4"/>
          <a:srcRect t="5696" b="5696"/>
          <a:stretch>
            <a:fillRect/>
          </a:stretch>
        </p:blipFill>
        <p:spPr>
          <a:xfrm>
            <a:off x="5029200" y="1554480"/>
            <a:ext cx="1444752" cy="960120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pic>
        <p:nvPicPr>
          <p:cNvPr id="16" name="Picture 15" descr="view1_gt.png"/>
          <p:cNvPicPr>
            <a:picLocks noChangeAspect="1"/>
          </p:cNvPicPr>
          <p:nvPr/>
        </p:nvPicPr>
        <p:blipFill>
          <a:blip r:embed="rId5"/>
          <a:srcRect t="5696" b="5696"/>
          <a:stretch>
            <a:fillRect/>
          </a:stretch>
        </p:blipFill>
        <p:spPr>
          <a:xfrm>
            <a:off x="5559552" y="1700784"/>
            <a:ext cx="1444752" cy="9601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96512" y="3035808"/>
            <a:ext cx="2487168" cy="1115568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108960"/>
            <a:ext cx="226771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Reservoir + recent 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392424"/>
            <a:ext cx="2267712" cy="70408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200 historical | 64 recent
30% recent sampling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11696" y="3593592"/>
            <a:ext cx="43891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100316" y="3543300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2697480"/>
            <a:ext cx="1938528" cy="1810512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3488" y="2770632"/>
            <a:ext cx="17190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3054096"/>
            <a:ext cx="1719072" cy="139903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compose live anchors
render one RGB view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08008" y="3593592"/>
            <a:ext cx="43891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9596628" y="3543300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0928" y="2697480"/>
            <a:ext cx="1938528" cy="1810512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0655" y="2770632"/>
            <a:ext cx="171907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Loss + Adam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0655" y="3054096"/>
            <a:ext cx="1719072" cy="139903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0.8 L1 + 0.2 D-SSIM
update appearance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680192" y="1627632"/>
            <a:ext cx="0" cy="1033272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>
            <a:off x="10629900" y="1577340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7040880" y="1627632"/>
            <a:ext cx="3639312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6990588" y="1577340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67728" y="1280160"/>
            <a:ext cx="3794760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1">
                <a:solidFill>
                  <a:srgbClr val="A14D78"/>
                </a:solidFill>
                <a:latin typeface="Arial"/>
              </a:rPr>
              <a:t>repeat with another tracked 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77639" y="5047488"/>
            <a:ext cx="7699248" cy="694944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166360"/>
            <a:ext cx="7242048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C36B31"/>
                </a:solidFill>
                <a:latin typeface="Arial"/>
              </a:rPr>
              <a:t>Gradients update Gaussian appearance. They never update poses or tracking weights.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5925312"/>
            <a:ext cx="612648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1">
                <a:solidFill>
                  <a:srgbClr val="607681"/>
                </a:solidFill>
                <a:latin typeface="Arial"/>
              </a:rPr>
              <a:t>Paper Sec. III-C / Eq. (5) | Thesis Ch. 7 / Eq. (7.1)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Improve the starting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Two optional interventions act before sequence refinement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932688"/>
            <a:ext cx="5413248" cy="507492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188720"/>
            <a:ext cx="1170432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197864"/>
            <a:ext cx="1060704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737360"/>
            <a:ext cx="4828032" cy="5029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000" b="1">
                <a:solidFill>
                  <a:srgbClr val="18323F"/>
                </a:solidFill>
                <a:latin typeface="Arial"/>
              </a:rPr>
              <a:t>Head-only adaptation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60320"/>
            <a:ext cx="1609344" cy="11338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633472"/>
            <a:ext cx="138988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Frozen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16936"/>
            <a:ext cx="1389888" cy="722376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encoder
decoder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127248"/>
            <a:ext cx="384048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3003803" y="3076956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27248" y="2560320"/>
            <a:ext cx="1847088" cy="1133856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36976" y="2633472"/>
            <a:ext cx="1627632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Trainable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6976" y="2916936"/>
            <a:ext cx="1627632" cy="722376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Gaussian DPT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160520"/>
            <a:ext cx="4370832" cy="5943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3478A5"/>
                </a:solidFill>
                <a:latin typeface="Arial"/>
              </a:rPr>
              <a:t>Changes pairwise appearance
without changing tracking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102352"/>
            <a:ext cx="4370832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MSE + 0.25 LPIPS-VGG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932688"/>
            <a:ext cx="5440680" cy="5074920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65392" y="1188720"/>
            <a:ext cx="1170432" cy="274320"/>
          </a:xfrm>
          <a:prstGeom prst="roundRect">
            <a:avLst>
              <a:gd name="adj" fmla="val 7000"/>
            </a:avLst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5" y="1197864"/>
            <a:ext cx="1060704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INSERTION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1737360"/>
            <a:ext cx="4828032" cy="5029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000" b="1">
                <a:solidFill>
                  <a:srgbClr val="18323F"/>
                </a:solidFill>
                <a:latin typeface="Arial"/>
              </a:rPr>
              <a:t>Opacity attenuation</a:t>
            </a:r>
          </a:p>
        </p:txBody>
      </p:sp>
      <p:sp>
        <p:nvSpPr>
          <p:cNvPr id="25" name="Oval 24"/>
          <p:cNvSpPr/>
          <p:nvPr/>
        </p:nvSpPr>
        <p:spPr>
          <a:xfrm rot="900000">
            <a:off x="6839712" y="2980944"/>
            <a:ext cx="621792" cy="274320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20400000">
            <a:off x="7351776" y="2688336"/>
            <a:ext cx="548640" cy="256032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600000">
            <a:off x="7534656" y="3200400"/>
            <a:ext cx="658368" cy="292608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20880000">
            <a:off x="8083296" y="2871215"/>
            <a:ext cx="493776" cy="237744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668512" y="3063240"/>
            <a:ext cx="548640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9166860" y="301294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900000">
            <a:off x="9418320" y="2873959"/>
            <a:ext cx="419709" cy="185166"/>
          </a:xfrm>
          <a:prstGeom prst="ellipse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20400000">
            <a:off x="9763963" y="2676448"/>
            <a:ext cx="370332" cy="172821"/>
          </a:xfrm>
          <a:prstGeom prst="ellipse">
            <a:avLst/>
          </a:prstGeom>
          <a:solidFill>
            <a:srgbClr val="168077"/>
          </a:solidFill>
          <a:ln w="1016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600000">
            <a:off x="9887407" y="3022091"/>
            <a:ext cx="444398" cy="197510"/>
          </a:xfrm>
          <a:prstGeom prst="ellipse">
            <a:avLst/>
          </a:prstGeom>
          <a:solidFill>
            <a:srgbClr val="C36B31"/>
          </a:solidFill>
          <a:ln w="1016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20880000">
            <a:off x="10257739" y="2799892"/>
            <a:ext cx="333298" cy="160477"/>
          </a:xfrm>
          <a:prstGeom prst="ellipse">
            <a:avLst/>
          </a:prstGeom>
          <a:solidFill>
            <a:srgbClr val="A14D78"/>
          </a:solidFill>
          <a:ln w="1016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392" y="4050791"/>
            <a:ext cx="4828032" cy="6583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C36B31"/>
                </a:solidFill>
                <a:latin typeface="Arial"/>
              </a:rPr>
              <a:t>Lower initial opacity
for low-confidence predictions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5001768"/>
            <a:ext cx="4828032" cy="49377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50" b="1">
                <a:solidFill>
                  <a:srgbClr val="18323F"/>
                </a:solidFill>
                <a:latin typeface="Arial"/>
              </a:rPr>
              <a:t>alpha' = alpha clip(1 - 2 lambda (1 - rank), 0.1, 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6181344"/>
            <a:ext cx="1019556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607681"/>
                </a:solidFill>
                <a:latin typeface="Arial"/>
              </a:rPr>
              <a:t>External baseline comparison: released head, attenuation off.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Every claim has a matching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 evaluation follows the theory, not a list of unrelated scores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EXPERIMENTS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841248"/>
            <a:ext cx="2926080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50392"/>
            <a:ext cx="281635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CLAIM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8768" y="841248"/>
            <a:ext cx="2926080" cy="274320"/>
          </a:xfrm>
          <a:prstGeom prst="roundRect">
            <a:avLst>
              <a:gd name="adj" fmla="val 7000"/>
            </a:avLst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3631" y="850392"/>
            <a:ext cx="281635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9792" y="841248"/>
            <a:ext cx="2926080" cy="274320"/>
          </a:xfrm>
          <a:prstGeom prst="roundRect">
            <a:avLst>
              <a:gd name="adj" fmla="val 7000"/>
            </a:avLst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34656" y="850392"/>
            <a:ext cx="2816352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335024"/>
            <a:ext cx="3154680" cy="85039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1435608"/>
            <a:ext cx="2898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Shared anchors preserve relations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8768" y="1335024"/>
            <a:ext cx="3291840" cy="85039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6783" y="1435608"/>
            <a:ext cx="303580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6% block pose correction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9792" y="1335024"/>
            <a:ext cx="4297680" cy="85039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7808" y="1435608"/>
            <a:ext cx="4041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correction survives refinement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1755648"/>
            <a:ext cx="246888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3762756" y="1705356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178040" y="1755648"/>
            <a:ext cx="256032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7383780" y="1705356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84048" y="2523744"/>
            <a:ext cx="3154680" cy="85039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624327"/>
            <a:ext cx="2898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Refinement stays downstream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58768" y="2523744"/>
            <a:ext cx="3291840" cy="85039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6783" y="2624327"/>
            <a:ext cx="303580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refiner on/off + 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79792" y="2523744"/>
            <a:ext cx="4297680" cy="85039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808" y="2624327"/>
            <a:ext cx="4041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1.00-8.69 dB; ATE unchanged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6160" y="2944368"/>
            <a:ext cx="246888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3762756" y="2894075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178040" y="2944368"/>
            <a:ext cx="256032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383780" y="2894075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4048" y="3712464"/>
            <a:ext cx="3154680" cy="85039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" y="3813048"/>
            <a:ext cx="2898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Initialization matters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58768" y="3712464"/>
            <a:ext cx="3291840" cy="85039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86783" y="3813048"/>
            <a:ext cx="303580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head + 12 thinning cells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79792" y="3712464"/>
            <a:ext cx="4297680" cy="85039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7808" y="3813048"/>
            <a:ext cx="4041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10/12 LPIPS gains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566160" y="4133088"/>
            <a:ext cx="246888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5400000">
            <a:off x="3762756" y="4082796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178040" y="4133088"/>
            <a:ext cx="256032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5400000">
            <a:off x="7383780" y="4082796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84048" y="4901184"/>
            <a:ext cx="3154680" cy="85039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" y="5001768"/>
            <a:ext cx="2898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The full system improves maps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58768" y="4901184"/>
            <a:ext cx="3291840" cy="85039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6783" y="5001768"/>
            <a:ext cx="303580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0">
                <a:solidFill>
                  <a:srgbClr val="18323F"/>
                </a:solidFill>
                <a:latin typeface="Arial"/>
              </a:rPr>
              <a:t>common renderer + common cameras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79792" y="4901184"/>
            <a:ext cx="4297680" cy="85039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7808" y="5001768"/>
            <a:ext cx="4041648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+3.54 dB; 8/8 Replica wins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566160" y="5321808"/>
            <a:ext cx="246888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5400000">
            <a:off x="3762756" y="5271516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178040" y="5321808"/>
            <a:ext cx="256032" cy="0"/>
          </a:xfrm>
          <a:prstGeom prst="line">
            <a:avLst/>
          </a:prstGeom>
          <a:ln w="2032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7383780" y="5271516"/>
            <a:ext cx="100584" cy="100584"/>
          </a:xfrm>
          <a:prstGeom prst="triangle">
            <a:avLst/>
          </a:prstGeom>
          <a:solidFill>
            <a:srgbClr val="60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16" y="6254496"/>
            <a:ext cx="110185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607681"/>
                </a:solidFill>
                <a:latin typeface="Arial"/>
              </a:rPr>
              <a:t>RQ1-RQ4 in the thesis use this same chain.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A common renderer makes the comparison meaningful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Same target cameras, resolution, alignment, and metrics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EXPERIMENTS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view0_photo.png"/>
          <p:cNvPicPr>
            <a:picLocks noChangeAspect="1"/>
          </p:cNvPicPr>
          <p:nvPr/>
        </p:nvPicPr>
        <p:blipFill>
          <a:blip r:embed="rId2"/>
          <a:srcRect t="5033" b="5033"/>
          <a:stretch>
            <a:fillRect/>
          </a:stretch>
        </p:blipFill>
        <p:spPr>
          <a:xfrm>
            <a:off x="411480" y="1005840"/>
            <a:ext cx="2331720" cy="1572768"/>
          </a:xfrm>
          <a:prstGeom prst="rect">
            <a:avLst/>
          </a:prstGeom>
          <a:ln w="10160">
            <a:solidFill>
              <a:srgbClr val="3478A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2651760"/>
            <a:ext cx="23317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3478A5"/>
                </a:solidFill>
                <a:latin typeface="Arial"/>
              </a:rPr>
              <a:t>Photo-SLAM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81912" y="2999232"/>
            <a:ext cx="6601967" cy="493776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656639">
            <a:off x="8133588" y="3442715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iew0_mono.png"/>
          <p:cNvPicPr>
            <a:picLocks noChangeAspect="1"/>
          </p:cNvPicPr>
          <p:nvPr/>
        </p:nvPicPr>
        <p:blipFill>
          <a:blip r:embed="rId3"/>
          <a:srcRect t="5033" b="5033"/>
          <a:stretch>
            <a:fillRect/>
          </a:stretch>
        </p:blipFill>
        <p:spPr>
          <a:xfrm>
            <a:off x="3063240" y="1005840"/>
            <a:ext cx="2331720" cy="1572768"/>
          </a:xfrm>
          <a:prstGeom prst="rect">
            <a:avLst/>
          </a:prstGeom>
          <a:ln w="10160">
            <a:solidFill>
              <a:srgbClr val="C36B3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3063240" y="2651760"/>
            <a:ext cx="23317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C36B31"/>
                </a:solidFill>
                <a:latin typeface="Arial"/>
              </a:rPr>
              <a:t>MonoGS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33672" y="2999232"/>
            <a:ext cx="3950207" cy="493776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827501">
            <a:off x="8133588" y="3442715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fter.png"/>
          <p:cNvPicPr>
            <a:picLocks noChangeAspect="1"/>
          </p:cNvPicPr>
          <p:nvPr/>
        </p:nvPicPr>
        <p:blipFill>
          <a:blip r:embed="rId4"/>
          <a:srcRect t="5033" b="5033"/>
          <a:stretch>
            <a:fillRect/>
          </a:stretch>
        </p:blipFill>
        <p:spPr>
          <a:xfrm>
            <a:off x="5715000" y="1005840"/>
            <a:ext cx="2331720" cy="1572768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715000" y="2651760"/>
            <a:ext cx="23317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68077"/>
                </a:solidFill>
                <a:latin typeface="Arial"/>
              </a:rPr>
              <a:t>Splatt3R-SLAM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85432" y="2999232"/>
            <a:ext cx="1298447" cy="493776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6649254">
            <a:off x="8133588" y="3442715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rapezoid 18"/>
          <p:cNvSpPr/>
          <p:nvPr/>
        </p:nvSpPr>
        <p:spPr>
          <a:xfrm rot="5400000">
            <a:off x="8302752" y="3182112"/>
            <a:ext cx="715060" cy="504748"/>
          </a:xfrm>
          <a:prstGeom prst="trapezoid">
            <a:avLst/>
          </a:prstGeom>
          <a:solidFill>
            <a:srgbClr val="FFFFFF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60282" y="3434486"/>
            <a:ext cx="546811" cy="0"/>
          </a:xfrm>
          <a:prstGeom prst="line">
            <a:avLst/>
          </a:prstGeom>
          <a:ln w="1270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9156801" y="3384194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73568" y="3950208"/>
            <a:ext cx="2423160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A14D78"/>
                </a:solidFill>
                <a:latin typeface="Arial"/>
              </a:rPr>
              <a:t>one GT camera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681728"/>
            <a:ext cx="2468880" cy="1078992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4754880"/>
            <a:ext cx="22494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100 frames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5038344"/>
            <a:ext cx="2249424" cy="66751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outside the union of keyframes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4992" y="4681728"/>
            <a:ext cx="2468880" cy="1078992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4754880"/>
            <a:ext cx="22494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Full 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5038344"/>
            <a:ext cx="2249424" cy="66751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all exported colour bands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4681728"/>
            <a:ext cx="2468880" cy="1078992"/>
          </a:xfrm>
          <a:prstGeom prst="roundRect">
            <a:avLst>
              <a:gd name="adj" fmla="val 8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4754880"/>
            <a:ext cx="22494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Same image size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5038344"/>
            <a:ext cx="2249424" cy="66751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512x288 or 512x384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4681728"/>
            <a:ext cx="2468880" cy="1078992"/>
          </a:xfrm>
          <a:prstGeom prst="roundRect">
            <a:avLst>
              <a:gd name="adj" fmla="val 8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08007" y="4754880"/>
            <a:ext cx="22494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Same metrics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8007" y="5038344"/>
            <a:ext cx="2249424" cy="66751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PSNR + LPIPS-AlexNet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89904"/>
            <a:ext cx="10789920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18323F"/>
                </a:solidFill>
                <a:latin typeface="Arial"/>
              </a:rPr>
              <a:t>Replica: 8 scenes | TUM desk: 3 renderable systems | TUM: 9-sequence 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State-of-the-art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Replica | all eight scenes | monocular input | common renderer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14400"/>
            <a:ext cx="2148840" cy="1234440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524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05840"/>
            <a:ext cx="1965960" cy="6419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168077"/>
                </a:solidFill>
                <a:latin typeface="Arial"/>
              </a:rPr>
              <a:t>23.02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630375"/>
            <a:ext cx="1929384" cy="345643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Splatt3R-SLAM mean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914400"/>
            <a:ext cx="2148840" cy="1234440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524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005840"/>
            <a:ext cx="1965960" cy="6419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C36B31"/>
                </a:solidFill>
                <a:latin typeface="Arial"/>
              </a:rPr>
              <a:t>+3.54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1630375"/>
            <a:ext cx="1929384" cy="345643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over Photo-SLAM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914400"/>
            <a:ext cx="2148840" cy="123444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524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005840"/>
            <a:ext cx="1965960" cy="6419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3478A5"/>
                </a:solidFill>
                <a:latin typeface="Arial"/>
              </a:rPr>
              <a:t>8 /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1630375"/>
            <a:ext cx="1929384" cy="345643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scene PSNR wins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914400"/>
            <a:ext cx="2148840" cy="1234440"/>
          </a:xfrm>
          <a:prstGeom prst="roundRect">
            <a:avLst>
              <a:gd name="adj" fmla="val 7000"/>
            </a:avLst>
          </a:prstGeom>
          <a:solidFill>
            <a:srgbClr val="F8EDF3"/>
          </a:solidFill>
          <a:ln w="1524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1005840"/>
            <a:ext cx="1965960" cy="6419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A14D78"/>
                </a:solidFill>
                <a:latin typeface="Arial"/>
              </a:rPr>
              <a:t>5 /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3527" y="1630375"/>
            <a:ext cx="1929384" cy="345643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scene LPIPS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542032"/>
            <a:ext cx="411480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MEAN PSNR (dB)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26080"/>
            <a:ext cx="1508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9696" y="2999232"/>
            <a:ext cx="2011680" cy="420623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39696" y="2999232"/>
            <a:ext cx="1451613" cy="420623"/>
          </a:xfrm>
          <a:prstGeom prst="rect">
            <a:avLst/>
          </a:prstGeom>
          <a:solidFill>
            <a:srgbClr val="607681"/>
          </a:solidFill>
          <a:ln w="12700">
            <a:solidFill>
              <a:srgbClr val="607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0" y="2926080"/>
            <a:ext cx="530352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607681"/>
                </a:solidFill>
                <a:latin typeface="Arial"/>
              </a:rPr>
              <a:t>19.48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584448"/>
            <a:ext cx="1508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Splatt3R-SLAM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9696" y="3657600"/>
            <a:ext cx="2011680" cy="420623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9696" y="3657600"/>
            <a:ext cx="1715068" cy="420623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3584448"/>
            <a:ext cx="530352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23.02</a:t>
            </a:r>
          </a:p>
        </p:txBody>
      </p:sp>
      <p:pic>
        <p:nvPicPr>
          <p:cNvPr id="28" name="Picture 27" descr="view0_photo.png"/>
          <p:cNvPicPr>
            <a:picLocks noChangeAspect="1"/>
          </p:cNvPicPr>
          <p:nvPr/>
        </p:nvPicPr>
        <p:blipFill>
          <a:blip r:embed="rId2"/>
          <a:srcRect l="7716" r="7716"/>
          <a:stretch>
            <a:fillRect/>
          </a:stretch>
        </p:blipFill>
        <p:spPr>
          <a:xfrm>
            <a:off x="502920" y="4480560"/>
            <a:ext cx="1993392" cy="1325880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29" name="Picture 28" descr="view0_ours.png"/>
          <p:cNvPicPr>
            <a:picLocks noChangeAspect="1"/>
          </p:cNvPicPr>
          <p:nvPr/>
        </p:nvPicPr>
        <p:blipFill>
          <a:blip r:embed="rId3"/>
          <a:srcRect l="7716" r="7716"/>
          <a:stretch>
            <a:fillRect/>
          </a:stretch>
        </p:blipFill>
        <p:spPr>
          <a:xfrm>
            <a:off x="2724912" y="4480560"/>
            <a:ext cx="1993392" cy="132588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502920" y="5870448"/>
            <a:ext cx="1993392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607681"/>
                </a:solidFill>
                <a:latin typeface="Arial"/>
              </a:rPr>
              <a:t>Photo-SLAM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912" y="5870448"/>
            <a:ext cx="1993392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1">
                <a:solidFill>
                  <a:srgbClr val="168077"/>
                </a:solidFill>
                <a:latin typeface="Arial"/>
              </a:rPr>
              <a:t>Splatt3R-SLAM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2542032"/>
            <a:ext cx="612648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OURS - PHOTO-SLAM, PER SCENE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2926080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o0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61303" y="2999232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61303" y="2999232"/>
            <a:ext cx="2596203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35056" y="2926080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+4.11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30368" y="3346704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o1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61303" y="3419856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61303" y="3419856"/>
            <a:ext cx="2720817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35056" y="3346704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+4.31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0368" y="3767328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o2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61303" y="3840480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61303" y="3840480"/>
            <a:ext cx="518749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35056" y="3767328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+0.82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0368" y="4187952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o3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61303" y="4261104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61303" y="4261104"/>
            <a:ext cx="616271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35056" y="4187952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+0.98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0368" y="4608576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o4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1303" y="4681728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61303" y="4681728"/>
            <a:ext cx="4552527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35056" y="4608576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+7.21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0368" y="5029200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r0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1303" y="5102352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861303" y="5102352"/>
            <a:ext cx="4818888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35056" y="5029200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+7.64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30368" y="5449824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r1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1303" y="5522976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861303" y="5522976"/>
            <a:ext cx="144879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35056" y="5449824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+0.23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5870448"/>
            <a:ext cx="502920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r2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1303" y="5943600"/>
            <a:ext cx="4818888" cy="219456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61303" y="5943600"/>
            <a:ext cx="1882064" cy="219456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35056" y="5870448"/>
            <a:ext cx="530352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+2.98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3520" y="6291072"/>
            <a:ext cx="589788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50" b="0">
                <a:solidFill>
                  <a:srgbClr val="607681"/>
                </a:solidFill>
                <a:latin typeface="Arial"/>
              </a:rPr>
              <a:t>Smallest margin: room1 +0.23 dB | largest: room0 +7.64 dB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Replica reconstruction across scenes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Four representative scenes | common cameras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31720" y="667512"/>
            <a:ext cx="30175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667512"/>
            <a:ext cx="30175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667512"/>
            <a:ext cx="30175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68077"/>
                </a:solidFill>
                <a:latin typeface="Arial"/>
              </a:rPr>
              <a:t>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office0</a:t>
            </a:r>
          </a:p>
        </p:txBody>
      </p:sp>
      <p:pic>
        <p:nvPicPr>
          <p:cNvPr id="9" name="Picture 8" descr="view0_gt.png"/>
          <p:cNvPicPr>
            <a:picLocks noChangeAspect="1"/>
          </p:cNvPicPr>
          <p:nvPr/>
        </p:nvPicPr>
        <p:blipFill>
          <a:blip r:embed="rId2"/>
          <a:srcRect t="14983" b="14983"/>
          <a:stretch>
            <a:fillRect/>
          </a:stretch>
        </p:blipFill>
        <p:spPr>
          <a:xfrm>
            <a:off x="2331720" y="987552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0" name="Picture 9" descr="view0_photo.png"/>
          <p:cNvPicPr>
            <a:picLocks noChangeAspect="1"/>
          </p:cNvPicPr>
          <p:nvPr/>
        </p:nvPicPr>
        <p:blipFill>
          <a:blip r:embed="rId3"/>
          <a:srcRect t="14983" b="14983"/>
          <a:stretch>
            <a:fillRect/>
          </a:stretch>
        </p:blipFill>
        <p:spPr>
          <a:xfrm>
            <a:off x="5577840" y="987552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1" name="Picture 10" descr="view0_ours.png"/>
          <p:cNvPicPr>
            <a:picLocks noChangeAspect="1"/>
          </p:cNvPicPr>
          <p:nvPr/>
        </p:nvPicPr>
        <p:blipFill>
          <a:blip r:embed="rId4"/>
          <a:srcRect t="14983" b="14983"/>
          <a:stretch>
            <a:fillRect/>
          </a:stretch>
        </p:blipFill>
        <p:spPr>
          <a:xfrm>
            <a:off x="8823959" y="987552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411480" y="2770632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office2</a:t>
            </a:r>
          </a:p>
        </p:txBody>
      </p:sp>
      <p:pic>
        <p:nvPicPr>
          <p:cNvPr id="13" name="Picture 12" descr="view0_gt.png"/>
          <p:cNvPicPr>
            <a:picLocks noChangeAspect="1"/>
          </p:cNvPicPr>
          <p:nvPr/>
        </p:nvPicPr>
        <p:blipFill>
          <a:blip r:embed="rId5"/>
          <a:srcRect t="14983" b="14983"/>
          <a:stretch>
            <a:fillRect/>
          </a:stretch>
        </p:blipFill>
        <p:spPr>
          <a:xfrm>
            <a:off x="2331720" y="2340864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4" name="Picture 13" descr="view0_photo.png"/>
          <p:cNvPicPr>
            <a:picLocks noChangeAspect="1"/>
          </p:cNvPicPr>
          <p:nvPr/>
        </p:nvPicPr>
        <p:blipFill>
          <a:blip r:embed="rId6"/>
          <a:srcRect t="14983" b="14983"/>
          <a:stretch>
            <a:fillRect/>
          </a:stretch>
        </p:blipFill>
        <p:spPr>
          <a:xfrm>
            <a:off x="5577840" y="2340864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5" name="Picture 14" descr="view0_ours.png"/>
          <p:cNvPicPr>
            <a:picLocks noChangeAspect="1"/>
          </p:cNvPicPr>
          <p:nvPr/>
        </p:nvPicPr>
        <p:blipFill>
          <a:blip r:embed="rId7"/>
          <a:srcRect t="14983" b="14983"/>
          <a:stretch>
            <a:fillRect/>
          </a:stretch>
        </p:blipFill>
        <p:spPr>
          <a:xfrm>
            <a:off x="8823959" y="2340864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11480" y="4123944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room0</a:t>
            </a:r>
          </a:p>
        </p:txBody>
      </p:sp>
      <p:pic>
        <p:nvPicPr>
          <p:cNvPr id="17" name="Picture 16" descr="view0_gt.png"/>
          <p:cNvPicPr>
            <a:picLocks noChangeAspect="1"/>
          </p:cNvPicPr>
          <p:nvPr/>
        </p:nvPicPr>
        <p:blipFill>
          <a:blip r:embed="rId8"/>
          <a:srcRect t="14983" b="14983"/>
          <a:stretch>
            <a:fillRect/>
          </a:stretch>
        </p:blipFill>
        <p:spPr>
          <a:xfrm>
            <a:off x="2331720" y="3694176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8" name="Picture 17" descr="view0_photo.png"/>
          <p:cNvPicPr>
            <a:picLocks noChangeAspect="1"/>
          </p:cNvPicPr>
          <p:nvPr/>
        </p:nvPicPr>
        <p:blipFill>
          <a:blip r:embed="rId9"/>
          <a:srcRect t="14983" b="14983"/>
          <a:stretch>
            <a:fillRect/>
          </a:stretch>
        </p:blipFill>
        <p:spPr>
          <a:xfrm>
            <a:off x="5577840" y="3694176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9" name="Picture 18" descr="view0_ours.png"/>
          <p:cNvPicPr>
            <a:picLocks noChangeAspect="1"/>
          </p:cNvPicPr>
          <p:nvPr/>
        </p:nvPicPr>
        <p:blipFill>
          <a:blip r:embed="rId10"/>
          <a:srcRect t="14983" b="14983"/>
          <a:stretch>
            <a:fillRect/>
          </a:stretch>
        </p:blipFill>
        <p:spPr>
          <a:xfrm>
            <a:off x="8823959" y="3694176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411480" y="5477255"/>
            <a:ext cx="16002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1000" b="1">
                <a:solidFill>
                  <a:srgbClr val="3478A5"/>
                </a:solidFill>
                <a:latin typeface="Arial"/>
              </a:rPr>
              <a:t>room2</a:t>
            </a:r>
          </a:p>
        </p:txBody>
      </p:sp>
      <p:pic>
        <p:nvPicPr>
          <p:cNvPr id="21" name="Picture 20" descr="view0_gt.png"/>
          <p:cNvPicPr>
            <a:picLocks noChangeAspect="1"/>
          </p:cNvPicPr>
          <p:nvPr/>
        </p:nvPicPr>
        <p:blipFill>
          <a:blip r:embed="rId11"/>
          <a:srcRect t="14983" b="14983"/>
          <a:stretch>
            <a:fillRect/>
          </a:stretch>
        </p:blipFill>
        <p:spPr>
          <a:xfrm>
            <a:off x="2331720" y="5047488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22" name="Picture 21" descr="view0_photo.png"/>
          <p:cNvPicPr>
            <a:picLocks noChangeAspect="1"/>
          </p:cNvPicPr>
          <p:nvPr/>
        </p:nvPicPr>
        <p:blipFill>
          <a:blip r:embed="rId12"/>
          <a:srcRect t="14983" b="14983"/>
          <a:stretch>
            <a:fillRect/>
          </a:stretch>
        </p:blipFill>
        <p:spPr>
          <a:xfrm>
            <a:off x="5577840" y="5047488"/>
            <a:ext cx="3017520" cy="1188720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23" name="Picture 22" descr="view0_ours.png"/>
          <p:cNvPicPr>
            <a:picLocks noChangeAspect="1"/>
          </p:cNvPicPr>
          <p:nvPr/>
        </p:nvPicPr>
        <p:blipFill>
          <a:blip r:embed="rId13"/>
          <a:srcRect t="14983" b="14983"/>
          <a:stretch>
            <a:fillRect/>
          </a:stretch>
        </p:blipFill>
        <p:spPr>
          <a:xfrm>
            <a:off x="8823959" y="5047488"/>
            <a:ext cx="3017520" cy="1188720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411480" y="6492240"/>
            <a:ext cx="11338560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07681"/>
                </a:solidFill>
                <a:latin typeface="Arial"/>
              </a:rPr>
              <a:t>All images use the same selected camera within each scene.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Qualitative reconstruction at common cameras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Measured renders; identical crops and scales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Ground truth</a:t>
            </a:r>
          </a:p>
        </p:txBody>
      </p:sp>
      <p:pic>
        <p:nvPicPr>
          <p:cNvPr id="6" name="Picture 5" descr="view0_gt.png"/>
          <p:cNvPicPr>
            <a:picLocks noChangeAspect="1"/>
          </p:cNvPicPr>
          <p:nvPr/>
        </p:nvPicPr>
        <p:blipFill>
          <a:blip r:embed="rId2"/>
          <a:srcRect t="11778" b="11778"/>
          <a:stretch>
            <a:fillRect/>
          </a:stretch>
        </p:blipFill>
        <p:spPr>
          <a:xfrm>
            <a:off x="365760" y="1005840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7" name="Picture 6" descr="view0_gt.png"/>
          <p:cNvPicPr>
            <a:picLocks noChangeAspect="1"/>
          </p:cNvPicPr>
          <p:nvPr/>
        </p:nvPicPr>
        <p:blipFill>
          <a:blip r:embed="rId2"/>
          <a:srcRect l="30273" r="26758" t="29167" b="45833"/>
          <a:stretch>
            <a:fillRect/>
          </a:stretch>
        </p:blipFill>
        <p:spPr>
          <a:xfrm>
            <a:off x="365760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8" name="Picture 7" descr="view1_gt.png"/>
          <p:cNvPicPr>
            <a:picLocks noChangeAspect="1"/>
          </p:cNvPicPr>
          <p:nvPr/>
        </p:nvPicPr>
        <p:blipFill>
          <a:blip r:embed="rId3"/>
          <a:srcRect t="11778" b="11778"/>
          <a:stretch>
            <a:fillRect/>
          </a:stretch>
        </p:blipFill>
        <p:spPr>
          <a:xfrm>
            <a:off x="365760" y="3493008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9" name="Picture 8" descr="view1_gt.png"/>
          <p:cNvPicPr>
            <a:picLocks noChangeAspect="1"/>
          </p:cNvPicPr>
          <p:nvPr/>
        </p:nvPicPr>
        <p:blipFill>
          <a:blip r:embed="rId3"/>
          <a:srcRect l="11328" r="45703" t="10417" b="64583"/>
          <a:stretch>
            <a:fillRect/>
          </a:stretch>
        </p:blipFill>
        <p:spPr>
          <a:xfrm>
            <a:off x="365760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273552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pic>
        <p:nvPicPr>
          <p:cNvPr id="11" name="Picture 10" descr="view0_photo.png"/>
          <p:cNvPicPr>
            <a:picLocks noChangeAspect="1"/>
          </p:cNvPicPr>
          <p:nvPr/>
        </p:nvPicPr>
        <p:blipFill>
          <a:blip r:embed="rId4"/>
          <a:srcRect t="11778" b="11778"/>
          <a:stretch>
            <a:fillRect/>
          </a:stretch>
        </p:blipFill>
        <p:spPr>
          <a:xfrm>
            <a:off x="3273552" y="1005840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2" name="Picture 11" descr="view0_photo.png"/>
          <p:cNvPicPr>
            <a:picLocks noChangeAspect="1"/>
          </p:cNvPicPr>
          <p:nvPr/>
        </p:nvPicPr>
        <p:blipFill>
          <a:blip r:embed="rId4"/>
          <a:srcRect l="30273" r="26758" t="29167" b="45833"/>
          <a:stretch>
            <a:fillRect/>
          </a:stretch>
        </p:blipFill>
        <p:spPr>
          <a:xfrm>
            <a:off x="3273552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13" name="Picture 12" descr="view1_photo.png"/>
          <p:cNvPicPr>
            <a:picLocks noChangeAspect="1"/>
          </p:cNvPicPr>
          <p:nvPr/>
        </p:nvPicPr>
        <p:blipFill>
          <a:blip r:embed="rId5"/>
          <a:srcRect t="11778" b="11778"/>
          <a:stretch>
            <a:fillRect/>
          </a:stretch>
        </p:blipFill>
        <p:spPr>
          <a:xfrm>
            <a:off x="3273552" y="3493008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4" name="Picture 13" descr="view1_photo.png"/>
          <p:cNvPicPr>
            <a:picLocks noChangeAspect="1"/>
          </p:cNvPicPr>
          <p:nvPr/>
        </p:nvPicPr>
        <p:blipFill>
          <a:blip r:embed="rId5"/>
          <a:srcRect l="11328" r="45703" t="10417" b="64583"/>
          <a:stretch>
            <a:fillRect/>
          </a:stretch>
        </p:blipFill>
        <p:spPr>
          <a:xfrm>
            <a:off x="3273552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181344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MonoGS</a:t>
            </a:r>
          </a:p>
        </p:txBody>
      </p:sp>
      <p:pic>
        <p:nvPicPr>
          <p:cNvPr id="16" name="Picture 15" descr="view0_mono.png"/>
          <p:cNvPicPr>
            <a:picLocks noChangeAspect="1"/>
          </p:cNvPicPr>
          <p:nvPr/>
        </p:nvPicPr>
        <p:blipFill>
          <a:blip r:embed="rId6"/>
          <a:srcRect t="11778" b="11778"/>
          <a:stretch>
            <a:fillRect/>
          </a:stretch>
        </p:blipFill>
        <p:spPr>
          <a:xfrm>
            <a:off x="6181344" y="1005840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7" name="Picture 16" descr="view0_mono.png"/>
          <p:cNvPicPr>
            <a:picLocks noChangeAspect="1"/>
          </p:cNvPicPr>
          <p:nvPr/>
        </p:nvPicPr>
        <p:blipFill>
          <a:blip r:embed="rId6"/>
          <a:srcRect l="30273" r="26758" t="29167" b="45833"/>
          <a:stretch>
            <a:fillRect/>
          </a:stretch>
        </p:blipFill>
        <p:spPr>
          <a:xfrm>
            <a:off x="6181344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18" name="Picture 17" descr="view1_mono.png"/>
          <p:cNvPicPr>
            <a:picLocks noChangeAspect="1"/>
          </p:cNvPicPr>
          <p:nvPr/>
        </p:nvPicPr>
        <p:blipFill>
          <a:blip r:embed="rId7"/>
          <a:srcRect t="11778" b="11778"/>
          <a:stretch>
            <a:fillRect/>
          </a:stretch>
        </p:blipFill>
        <p:spPr>
          <a:xfrm>
            <a:off x="6181344" y="3493008"/>
            <a:ext cx="2743200" cy="1572768"/>
          </a:xfrm>
          <a:prstGeom prst="rect">
            <a:avLst/>
          </a:prstGeom>
          <a:ln w="10160">
            <a:solidFill>
              <a:srgbClr val="CAD6DA"/>
            </a:solidFill>
          </a:ln>
        </p:spPr>
      </p:pic>
      <p:pic>
        <p:nvPicPr>
          <p:cNvPr id="19" name="Picture 18" descr="view1_mono.png"/>
          <p:cNvPicPr>
            <a:picLocks noChangeAspect="1"/>
          </p:cNvPicPr>
          <p:nvPr/>
        </p:nvPicPr>
        <p:blipFill>
          <a:blip r:embed="rId7"/>
          <a:srcRect l="11328" r="45703" t="10417" b="64583"/>
          <a:stretch>
            <a:fillRect/>
          </a:stretch>
        </p:blipFill>
        <p:spPr>
          <a:xfrm>
            <a:off x="6181344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9089136" y="694944"/>
            <a:ext cx="27432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68077"/>
                </a:solidFill>
                <a:latin typeface="Arial"/>
              </a:rPr>
              <a:t>Ours</a:t>
            </a:r>
          </a:p>
        </p:txBody>
      </p:sp>
      <p:pic>
        <p:nvPicPr>
          <p:cNvPr id="21" name="Picture 20" descr="after.png"/>
          <p:cNvPicPr>
            <a:picLocks noChangeAspect="1"/>
          </p:cNvPicPr>
          <p:nvPr/>
        </p:nvPicPr>
        <p:blipFill>
          <a:blip r:embed="rId8"/>
          <a:srcRect t="11778" b="11778"/>
          <a:stretch>
            <a:fillRect/>
          </a:stretch>
        </p:blipFill>
        <p:spPr>
          <a:xfrm>
            <a:off x="9089136" y="1005840"/>
            <a:ext cx="2743200" cy="1572768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pic>
        <p:nvPicPr>
          <p:cNvPr id="22" name="Picture 21" descr="after.png"/>
          <p:cNvPicPr>
            <a:picLocks noChangeAspect="1"/>
          </p:cNvPicPr>
          <p:nvPr/>
        </p:nvPicPr>
        <p:blipFill>
          <a:blip r:embed="rId8"/>
          <a:srcRect l="30273" r="26758" t="29167" b="45833"/>
          <a:stretch>
            <a:fillRect/>
          </a:stretch>
        </p:blipFill>
        <p:spPr>
          <a:xfrm>
            <a:off x="9089136" y="2615184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pic>
        <p:nvPicPr>
          <p:cNvPr id="23" name="Picture 22" descr="view1_ours.png"/>
          <p:cNvPicPr>
            <a:picLocks noChangeAspect="1"/>
          </p:cNvPicPr>
          <p:nvPr/>
        </p:nvPicPr>
        <p:blipFill>
          <a:blip r:embed="rId9"/>
          <a:srcRect t="11778" b="11778"/>
          <a:stretch>
            <a:fillRect/>
          </a:stretch>
        </p:blipFill>
        <p:spPr>
          <a:xfrm>
            <a:off x="9089136" y="3493008"/>
            <a:ext cx="2743200" cy="1572768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pic>
        <p:nvPicPr>
          <p:cNvPr id="24" name="Picture 23" descr="view1_ours.png"/>
          <p:cNvPicPr>
            <a:picLocks noChangeAspect="1"/>
          </p:cNvPicPr>
          <p:nvPr/>
        </p:nvPicPr>
        <p:blipFill>
          <a:blip r:embed="rId9"/>
          <a:srcRect l="11328" r="45703" t="10417" b="64583"/>
          <a:stretch>
            <a:fillRect/>
          </a:stretch>
        </p:blipFill>
        <p:spPr>
          <a:xfrm>
            <a:off x="9089136" y="5102352"/>
            <a:ext cx="2743200" cy="658368"/>
          </a:xfrm>
          <a:prstGeom prst="rect">
            <a:avLst/>
          </a:prstGeom>
          <a:ln w="12700">
            <a:solidFill>
              <a:srgbClr val="C36B3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365760" y="5925312"/>
            <a:ext cx="114757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0">
                <a:solidFill>
                  <a:srgbClr val="607681"/>
                </a:solidFill>
                <a:latin typeface="Arial"/>
              </a:rPr>
              <a:t>TUM desk: two middle-ranked Ours-minus-MonoGS PSNR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272784"/>
            <a:ext cx="114757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50" b="1">
                <a:solidFill>
                  <a:srgbClr val="C36B31"/>
                </a:solidFill>
                <a:latin typeface="Arial"/>
              </a:rPr>
              <a:t>Orange panels are identical pixel crops across all methods.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Tracking remains the inherited geometric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Nine TUM freiburg1 sequences | Sim(3)-aligned 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553212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MEAN ATE RMSE (m) - LOWER IS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508760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9696" y="1399032"/>
            <a:ext cx="3337559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39696" y="1399032"/>
            <a:ext cx="308724" cy="365760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325880"/>
            <a:ext cx="530352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0.030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39112"/>
            <a:ext cx="1508760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MASt3R-SLAM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39696" y="2112264"/>
            <a:ext cx="3337559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39696" y="2112264"/>
            <a:ext cx="313626" cy="365760"/>
          </a:xfrm>
          <a:prstGeom prst="rect">
            <a:avLst/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2039112"/>
            <a:ext cx="530352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3478A5"/>
                </a:solidFill>
                <a:latin typeface="Arial"/>
              </a:rPr>
              <a:t>0.030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52344"/>
            <a:ext cx="1508760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VGGT-SLAM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9696" y="2825496"/>
            <a:ext cx="3337559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39696" y="2825496"/>
            <a:ext cx="425643" cy="365760"/>
          </a:xfrm>
          <a:prstGeom prst="rect">
            <a:avLst/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2120" y="2752344"/>
            <a:ext cx="530352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C36B31"/>
                </a:solidFill>
                <a:latin typeface="Arial"/>
              </a:rPr>
              <a:t>0.041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65576"/>
            <a:ext cx="1508760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9696" y="3538728"/>
            <a:ext cx="3337559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39696" y="3538728"/>
            <a:ext cx="1678584" cy="365760"/>
          </a:xfrm>
          <a:prstGeom prst="rect">
            <a:avLst/>
          </a:prstGeom>
          <a:solidFill>
            <a:srgbClr val="A14D78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32120" y="3465576"/>
            <a:ext cx="530352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A14D78"/>
                </a:solidFill>
                <a:latin typeface="Arial"/>
              </a:rPr>
              <a:t>0.161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78808"/>
            <a:ext cx="1508760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MonoGS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9696" y="4251960"/>
            <a:ext cx="3337559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9696" y="4251960"/>
            <a:ext cx="3058873" cy="365760"/>
          </a:xfrm>
          <a:prstGeom prst="rect">
            <a:avLst/>
          </a:prstGeom>
          <a:solidFill>
            <a:srgbClr val="B44D4D"/>
          </a:solidFill>
          <a:ln w="1270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4178808"/>
            <a:ext cx="530352" cy="51206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B44D4D"/>
                </a:solidFill>
                <a:latin typeface="Arial"/>
              </a:rPr>
              <a:t>0.293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1024128"/>
            <a:ext cx="5212080" cy="190195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1280160"/>
            <a:ext cx="4700016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68077"/>
                </a:solidFill>
                <a:latin typeface="Arial"/>
              </a:rPr>
              <a:t>What this result proves</a:t>
            </a:r>
          </a:p>
        </p:txBody>
      </p:sp>
      <p:sp>
        <p:nvSpPr>
          <p:cNvPr id="30" name="Oval 29"/>
          <p:cNvSpPr/>
          <p:nvPr/>
        </p:nvSpPr>
        <p:spPr>
          <a:xfrm>
            <a:off x="6903720" y="1965960"/>
            <a:ext cx="100584" cy="100584"/>
          </a:xfrm>
          <a:prstGeom prst="ellips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4888" y="1847088"/>
            <a:ext cx="4233672" cy="457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The mapping path does not disturb tracking.</a:t>
            </a:r>
          </a:p>
        </p:txBody>
      </p:sp>
      <p:sp>
        <p:nvSpPr>
          <p:cNvPr id="32" name="Oval 31"/>
          <p:cNvSpPr/>
          <p:nvPr/>
        </p:nvSpPr>
        <p:spPr>
          <a:xfrm>
            <a:off x="6903720" y="2441448"/>
            <a:ext cx="100584" cy="100584"/>
          </a:xfrm>
          <a:prstGeom prst="ellips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04888" y="2322576"/>
            <a:ext cx="4233672" cy="457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Ours and MASt3R-SLAM have the same rounded mean.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3273552"/>
            <a:ext cx="5212080" cy="199339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48272" y="3511296"/>
            <a:ext cx="4700016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C36B31"/>
                </a:solidFill>
                <a:latin typeface="Arial"/>
              </a:rPr>
              <a:t>What it does not prove</a:t>
            </a:r>
          </a:p>
        </p:txBody>
      </p:sp>
      <p:sp>
        <p:nvSpPr>
          <p:cNvPr id="36" name="Oval 35"/>
          <p:cNvSpPr/>
          <p:nvPr/>
        </p:nvSpPr>
        <p:spPr>
          <a:xfrm>
            <a:off x="6903720" y="4197096"/>
            <a:ext cx="100584" cy="100584"/>
          </a:xfrm>
          <a:prstGeom prst="ellips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04888" y="4078224"/>
            <a:ext cx="4233672" cy="457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Tracking is inherited, not a new contribution.</a:t>
            </a:r>
          </a:p>
        </p:txBody>
      </p:sp>
      <p:sp>
        <p:nvSpPr>
          <p:cNvPr id="38" name="Oval 37"/>
          <p:cNvSpPr/>
          <p:nvPr/>
        </p:nvSpPr>
        <p:spPr>
          <a:xfrm>
            <a:off x="6903720" y="4672584"/>
            <a:ext cx="100584" cy="100584"/>
          </a:xfrm>
          <a:prstGeom prst="ellips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04888" y="4553712"/>
            <a:ext cx="4233672" cy="4572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Single runs can hide system variance.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650992"/>
            <a:ext cx="5120640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The map improves appearance downstream of pose estimation.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Refinement gives the largest controlled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Same head, same insertion, refiner off versus 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859536"/>
            <a:ext cx="585216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PSNR GAIN (dB)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508760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ETH3D sofa_1</a:t>
            </a:r>
          </a:p>
        </p:txBody>
      </p:sp>
      <p:sp>
        <p:nvSpPr>
          <p:cNvPr id="9" name="Rectangle 8"/>
          <p:cNvSpPr/>
          <p:nvPr/>
        </p:nvSpPr>
        <p:spPr>
          <a:xfrm>
            <a:off x="2112264" y="1371600"/>
            <a:ext cx="3474720" cy="402335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12264" y="1371600"/>
            <a:ext cx="3355035" cy="402335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1298448"/>
            <a:ext cx="530352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+8.69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801368"/>
            <a:ext cx="1261872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A14D78"/>
                </a:solidFill>
                <a:latin typeface="Arial"/>
              </a:rPr>
              <a:t>LPIPS -58.3%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103120"/>
            <a:ext cx="1508760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Replica office0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12264" y="2176272"/>
            <a:ext cx="3474720" cy="402335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12264" y="2176272"/>
            <a:ext cx="1783689" cy="402335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1848" y="2103120"/>
            <a:ext cx="530352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+4.62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606040"/>
            <a:ext cx="1261872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A14D78"/>
                </a:solidFill>
                <a:latin typeface="Arial"/>
              </a:rPr>
              <a:t>LPIPS -56.8%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2907791"/>
            <a:ext cx="1508760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TUM desk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12264" y="2980944"/>
            <a:ext cx="3474720" cy="402335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12264" y="2980944"/>
            <a:ext cx="1359001" cy="402335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1848" y="2907791"/>
            <a:ext cx="530352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+3.52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3410712"/>
            <a:ext cx="1261872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A14D78"/>
                </a:solidFill>
                <a:latin typeface="Arial"/>
              </a:rPr>
              <a:t>LPIPS -27.3%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3712464"/>
            <a:ext cx="1508760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EuRoC V1_01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12264" y="3785616"/>
            <a:ext cx="3474720" cy="402335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12264" y="3785616"/>
            <a:ext cx="386080" cy="402335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41848" y="3712464"/>
            <a:ext cx="530352" cy="54864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+1.00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4215384"/>
            <a:ext cx="1261872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A14D78"/>
                </a:solidFill>
                <a:latin typeface="Arial"/>
              </a:rPr>
              <a:t>LPIPS -14.5%</a:t>
            </a:r>
          </a:p>
        </p:txBody>
      </p:sp>
      <p:pic>
        <p:nvPicPr>
          <p:cNvPr id="28" name="Picture 27" descr="before.png"/>
          <p:cNvPicPr>
            <a:picLocks noChangeAspect="1"/>
          </p:cNvPicPr>
          <p:nvPr/>
        </p:nvPicPr>
        <p:blipFill>
          <a:blip r:embed="rId2"/>
          <a:srcRect l="4026" r="4026"/>
          <a:stretch>
            <a:fillRect/>
          </a:stretch>
        </p:blipFill>
        <p:spPr>
          <a:xfrm>
            <a:off x="6583680" y="987552"/>
            <a:ext cx="2331720" cy="1901952"/>
          </a:xfrm>
          <a:prstGeom prst="rect">
            <a:avLst/>
          </a:prstGeom>
          <a:ln w="10160">
            <a:solidFill>
              <a:srgbClr val="607681"/>
            </a:solidFill>
          </a:ln>
        </p:spPr>
      </p:pic>
      <p:pic>
        <p:nvPicPr>
          <p:cNvPr id="29" name="Picture 28" descr="after.png"/>
          <p:cNvPicPr>
            <a:picLocks noChangeAspect="1"/>
          </p:cNvPicPr>
          <p:nvPr/>
        </p:nvPicPr>
        <p:blipFill>
          <a:blip r:embed="rId3"/>
          <a:srcRect l="4026" r="4026"/>
          <a:stretch>
            <a:fillRect/>
          </a:stretch>
        </p:blipFill>
        <p:spPr>
          <a:xfrm>
            <a:off x="9235440" y="987552"/>
            <a:ext cx="2331720" cy="1901952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6583680" y="2980944"/>
            <a:ext cx="23317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607681"/>
                </a:solidFill>
                <a:latin typeface="Arial"/>
              </a:rPr>
              <a:t>refiner 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980944"/>
            <a:ext cx="233172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68077"/>
                </a:solidFill>
                <a:latin typeface="Arial"/>
              </a:rPr>
              <a:t>refiner 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3685032"/>
            <a:ext cx="4983480" cy="146304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43484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3478A5"/>
                </a:solidFill>
                <a:latin typeface="Arial"/>
              </a:rPr>
              <a:t>Why the control is causal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443984"/>
            <a:ext cx="4343400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0">
                <a:solidFill>
                  <a:srgbClr val="18323F"/>
                </a:solidFill>
                <a:latin typeface="Arial"/>
              </a:rPr>
              <a:t>Only the refiner changes.
The tracker and Gaussian head stay fixed.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559552"/>
            <a:ext cx="498348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168077"/>
                </a:solidFill>
                <a:latin typeface="Arial"/>
              </a:rPr>
              <a:t>Result: sequence observations improve a feed-forward map.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Component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All recorded attenuation cells and refinement controls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694944"/>
            <a:ext cx="557784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Opacity attenuation: relative LPIPS change (%)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532120" y="1097280"/>
            <a:ext cx="0" cy="4709160"/>
          </a:xfrm>
          <a:prstGeom prst="line">
            <a:avLst/>
          </a:prstGeom>
          <a:ln w="12700">
            <a:solidFill>
              <a:srgbClr val="60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38912" y="1143000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o3</a:t>
            </a:r>
          </a:p>
        </p:txBody>
      </p:sp>
      <p:sp>
        <p:nvSpPr>
          <p:cNvPr id="8" name="Rectangle 7"/>
          <p:cNvSpPr/>
          <p:nvPr/>
        </p:nvSpPr>
        <p:spPr>
          <a:xfrm>
            <a:off x="1932127" y="1161288"/>
            <a:ext cx="3599992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65199" y="1143000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17904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0473" y="1536192"/>
            <a:ext cx="3571646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3545" y="1517904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892807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40787" y="1911095"/>
            <a:ext cx="2891332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3859" y="1892807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267712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r0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9290" y="2286000"/>
            <a:ext cx="2522829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2362" y="2267712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-8.9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2642615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r1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9525" y="2660903"/>
            <a:ext cx="2012594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2597" y="2642615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-7.1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3017520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8577" y="3035808"/>
            <a:ext cx="453542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1649" y="3017520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3392424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o0-k.9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9760" y="3410712"/>
            <a:ext cx="1502359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62832" y="3392424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-5.3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3767327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o0-k.6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1884" y="3785615"/>
            <a:ext cx="510235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4956" y="3767327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-1.8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142231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TUM-rel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17950" y="4160519"/>
            <a:ext cx="1814169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1022" y="4142231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-6.4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4517136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TUM-adapt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62041" y="4535423"/>
            <a:ext cx="170078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95113" y="4517136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-0.6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4892040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EuRoC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44721" y="4910327"/>
            <a:ext cx="1587398" cy="182880"/>
          </a:xfrm>
          <a:prstGeom prst="rect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77793" y="4892040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1">
                <a:solidFill>
                  <a:srgbClr val="168077"/>
                </a:solidFill>
                <a:latin typeface="Arial"/>
              </a:rPr>
              <a:t>-5.6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" y="5266944"/>
            <a:ext cx="100584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50" b="0">
                <a:solidFill>
                  <a:srgbClr val="607681"/>
                </a:solidFill>
                <a:latin typeface="Arial"/>
              </a:rPr>
              <a:t>7S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32120" y="5285231"/>
            <a:ext cx="45720" cy="182880"/>
          </a:xfrm>
          <a:prstGeom prst="rect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59" y="5266944"/>
            <a:ext cx="530352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800" b="1">
                <a:solidFill>
                  <a:srgbClr val="C36B31"/>
                </a:solidFill>
                <a:latin typeface="Arial"/>
              </a:rPr>
              <a:t>+0.16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694944"/>
            <a:ext cx="5468112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Refiner on vs. off: PSNR gain (dB)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1234440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ETH3D sofa_1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45552" y="1234440"/>
            <a:ext cx="3416838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353830" y="1234440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+8.69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648" y="2075688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Replica office0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45552" y="2075688"/>
            <a:ext cx="1816547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3539" y="2075688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+4.62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27648" y="2916936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TUM desk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5552" y="2916936"/>
            <a:ext cx="1384035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1027" y="2916936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+3.52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3758184"/>
            <a:ext cx="1481328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0">
                <a:solidFill>
                  <a:srgbClr val="607681"/>
                </a:solidFill>
                <a:latin typeface="Arial"/>
              </a:rPr>
              <a:t>EuRoC V1_01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45552" y="3758184"/>
            <a:ext cx="393192" cy="274320"/>
          </a:xfrm>
          <a:prstGeom prst="rect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30183" y="3758184"/>
            <a:ext cx="59436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3478A5"/>
                </a:solidFill>
                <a:latin typeface="Arial"/>
              </a:rPr>
              <a:t>+1.00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0" y="4800600"/>
            <a:ext cx="5193792" cy="960120"/>
          </a:xfrm>
          <a:prstGeom prst="roundRect">
            <a:avLst>
              <a:gd name="adj" fmla="val 8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0528" y="4873752"/>
            <a:ext cx="49743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Interpretation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10528" y="5157216"/>
            <a:ext cx="4974336" cy="54864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Refinement gives the largest controlled gain.
Opacity reduction is robust; confidence allocation is not.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99632"/>
            <a:ext cx="1129284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External baseline comparison uses the released head with attenuation off.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Online quality is an iteration-budget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TUM desk causal replay and GPU 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49808" y="4608576"/>
            <a:ext cx="5760720" cy="0"/>
          </a:xfrm>
          <a:prstGeom prst="line">
            <a:avLst/>
          </a:prstGeom>
          <a:ln w="15240">
            <a:solidFill>
              <a:srgbClr val="1832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49808" y="1115568"/>
            <a:ext cx="0" cy="3493008"/>
          </a:xfrm>
          <a:prstGeom prst="line">
            <a:avLst/>
          </a:prstGeom>
          <a:ln w="15240">
            <a:solidFill>
              <a:srgbClr val="1832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49808" y="4317492"/>
            <a:ext cx="5760720" cy="0"/>
          </a:xfrm>
          <a:prstGeom prst="line">
            <a:avLst/>
          </a:prstGeom>
          <a:ln w="762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56032" y="4198620"/>
            <a:ext cx="41148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0">
                <a:solidFill>
                  <a:srgbClr val="607681"/>
                </a:solidFill>
                <a:latin typeface="Arial"/>
              </a:rPr>
              <a:t>13.5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862072"/>
            <a:ext cx="5760720" cy="0"/>
          </a:xfrm>
          <a:prstGeom prst="line">
            <a:avLst/>
          </a:prstGeom>
          <a:ln w="762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6032" y="2743200"/>
            <a:ext cx="41148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0">
                <a:solidFill>
                  <a:srgbClr val="607681"/>
                </a:solidFill>
                <a:latin typeface="Arial"/>
              </a:rPr>
              <a:t>14.0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49808" y="1406651"/>
            <a:ext cx="5760720" cy="0"/>
          </a:xfrm>
          <a:prstGeom prst="line">
            <a:avLst/>
          </a:prstGeom>
          <a:ln w="762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" y="1287779"/>
            <a:ext cx="411480" cy="2286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800" b="0">
                <a:solidFill>
                  <a:srgbClr val="607681"/>
                </a:solidFill>
                <a:latin typeface="Arial"/>
              </a:rPr>
              <a:t>14.5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3" y="4718304"/>
            <a:ext cx="65836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0">
                <a:solidFill>
                  <a:srgbClr val="607681"/>
                </a:solidFill>
                <a:latin typeface="Arial"/>
              </a:rPr>
              <a:t>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4718304"/>
            <a:ext cx="65836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0">
                <a:solidFill>
                  <a:srgbClr val="607681"/>
                </a:solidFill>
                <a:latin typeface="Arial"/>
              </a:rPr>
              <a:t>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4718304"/>
            <a:ext cx="65836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0">
                <a:solidFill>
                  <a:srgbClr val="607681"/>
                </a:solidFill>
                <a:latin typeface="Arial"/>
              </a:rPr>
              <a:t>1000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4718304"/>
            <a:ext cx="658368" cy="23774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0">
                <a:solidFill>
                  <a:srgbClr val="607681"/>
                </a:solidFill>
                <a:latin typeface="Arial"/>
              </a:rPr>
              <a:t>3000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9808" y="1715201"/>
            <a:ext cx="1920240" cy="2162754"/>
          </a:xfrm>
          <a:prstGeom prst="line">
            <a:avLst/>
          </a:prstGeom>
          <a:ln w="3048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70048" y="1479423"/>
            <a:ext cx="1920240" cy="235778"/>
          </a:xfrm>
          <a:prstGeom prst="line">
            <a:avLst/>
          </a:prstGeom>
          <a:ln w="3048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0288" y="1479423"/>
            <a:ext cx="1920240" cy="183382"/>
          </a:xfrm>
          <a:prstGeom prst="line">
            <a:avLst/>
          </a:prstGeom>
          <a:ln w="3048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76656" y="3804803"/>
            <a:ext cx="146304" cy="146304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3493907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168077"/>
                </a:solidFill>
                <a:latin typeface="Arial"/>
              </a:rPr>
              <a:t>13.65</a:t>
            </a:r>
          </a:p>
        </p:txBody>
      </p:sp>
      <p:sp>
        <p:nvSpPr>
          <p:cNvPr id="24" name="Oval 23"/>
          <p:cNvSpPr/>
          <p:nvPr/>
        </p:nvSpPr>
        <p:spPr>
          <a:xfrm>
            <a:off x="2596896" y="1642049"/>
            <a:ext cx="146304" cy="146304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0008" y="1331153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168077"/>
                </a:solidFill>
                <a:latin typeface="Arial"/>
              </a:rPr>
              <a:t>14.39</a:t>
            </a:r>
          </a:p>
        </p:txBody>
      </p:sp>
      <p:sp>
        <p:nvSpPr>
          <p:cNvPr id="26" name="Oval 25"/>
          <p:cNvSpPr/>
          <p:nvPr/>
        </p:nvSpPr>
        <p:spPr>
          <a:xfrm>
            <a:off x="4517136" y="1406271"/>
            <a:ext cx="146304" cy="146304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1095375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168077"/>
                </a:solidFill>
                <a:latin typeface="Arial"/>
              </a:rPr>
              <a:t>14.47</a:t>
            </a:r>
          </a:p>
        </p:txBody>
      </p:sp>
      <p:sp>
        <p:nvSpPr>
          <p:cNvPr id="28" name="Oval 27"/>
          <p:cNvSpPr/>
          <p:nvPr/>
        </p:nvSpPr>
        <p:spPr>
          <a:xfrm>
            <a:off x="6437376" y="1589653"/>
            <a:ext cx="146304" cy="146304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1278757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168077"/>
                </a:solidFill>
                <a:latin typeface="Arial"/>
              </a:rPr>
              <a:t>14.41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49808" y="1924781"/>
            <a:ext cx="1920240" cy="1519458"/>
          </a:xfrm>
          <a:prstGeom prst="line">
            <a:avLst/>
          </a:prstGeom>
          <a:ln w="3048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670048" y="1837456"/>
            <a:ext cx="1920240" cy="87325"/>
          </a:xfrm>
          <a:prstGeom prst="line">
            <a:avLst/>
          </a:prstGeom>
          <a:ln w="3048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590288" y="1770506"/>
            <a:ext cx="1920240" cy="66950"/>
          </a:xfrm>
          <a:prstGeom prst="line">
            <a:avLst/>
          </a:prstGeom>
          <a:ln w="3048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76656" y="3371087"/>
            <a:ext cx="146304" cy="146304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3060191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C36B31"/>
                </a:solidFill>
                <a:latin typeface="Arial"/>
              </a:rPr>
              <a:t>13.80</a:t>
            </a:r>
          </a:p>
        </p:txBody>
      </p:sp>
      <p:sp>
        <p:nvSpPr>
          <p:cNvPr id="35" name="Oval 34"/>
          <p:cNvSpPr/>
          <p:nvPr/>
        </p:nvSpPr>
        <p:spPr>
          <a:xfrm>
            <a:off x="2596896" y="1851629"/>
            <a:ext cx="146304" cy="146304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1540733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C36B31"/>
                </a:solidFill>
                <a:latin typeface="Arial"/>
              </a:rPr>
              <a:t>14.32</a:t>
            </a:r>
          </a:p>
        </p:txBody>
      </p:sp>
      <p:sp>
        <p:nvSpPr>
          <p:cNvPr id="37" name="Oval 36"/>
          <p:cNvSpPr/>
          <p:nvPr/>
        </p:nvSpPr>
        <p:spPr>
          <a:xfrm>
            <a:off x="4517136" y="1764304"/>
            <a:ext cx="146304" cy="146304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0248" y="1453408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C36B31"/>
                </a:solidFill>
                <a:latin typeface="Arial"/>
              </a:rPr>
              <a:t>14.35</a:t>
            </a:r>
          </a:p>
        </p:txBody>
      </p:sp>
      <p:sp>
        <p:nvSpPr>
          <p:cNvPr id="39" name="Oval 38"/>
          <p:cNvSpPr/>
          <p:nvPr/>
        </p:nvSpPr>
        <p:spPr>
          <a:xfrm>
            <a:off x="6437376" y="1697354"/>
            <a:ext cx="146304" cy="146304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0488" y="1386458"/>
            <a:ext cx="640080" cy="21945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800" b="1">
                <a:solidFill>
                  <a:srgbClr val="C36B31"/>
                </a:solidFill>
                <a:latin typeface="Arial"/>
              </a:rPr>
              <a:t>14.38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193792"/>
            <a:ext cx="14173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168077"/>
                </a:solidFill>
                <a:latin typeface="Arial"/>
              </a:rPr>
              <a:t>CAUSAL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5193792"/>
            <a:ext cx="141732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900" b="1">
                <a:solidFill>
                  <a:srgbClr val="C36B31"/>
                </a:solidFill>
                <a:latin typeface="Arial"/>
              </a:rPr>
              <a:t>POST-HOC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9039" y="5193792"/>
            <a:ext cx="224028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1">
                <a:solidFill>
                  <a:srgbClr val="607681"/>
                </a:solidFill>
                <a:latin typeface="Arial"/>
              </a:rPr>
              <a:t>iterations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67728" y="1078992"/>
            <a:ext cx="4709160" cy="1865376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0" y="1298448"/>
            <a:ext cx="4206240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168077"/>
                </a:solidFill>
                <a:latin typeface="Arial"/>
              </a:rPr>
              <a:t>Second GPU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60920" y="1773936"/>
            <a:ext cx="1591056" cy="841248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524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52360" y="1865376"/>
            <a:ext cx="1408176" cy="437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168077"/>
                </a:solidFill>
                <a:latin typeface="Arial"/>
              </a:rPr>
              <a:t>103 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70648" y="2261859"/>
            <a:ext cx="1371600" cy="235549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tracker p50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37192" y="1773936"/>
            <a:ext cx="1591056" cy="841248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524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28632" y="1865376"/>
            <a:ext cx="1408176" cy="437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3478A5"/>
                </a:solidFill>
                <a:latin typeface="Arial"/>
              </a:rPr>
              <a:t>+2.15 dB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6919" y="2261859"/>
            <a:ext cx="1371600" cy="235549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causal gain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67728" y="3291840"/>
            <a:ext cx="4709160" cy="1865376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0" y="3511296"/>
            <a:ext cx="4206240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C36B31"/>
                </a:solidFill>
                <a:latin typeface="Arial"/>
              </a:rPr>
              <a:t>Shared GPU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60920" y="3986784"/>
            <a:ext cx="1591056" cy="841248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524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52360" y="4078224"/>
            <a:ext cx="1408176" cy="437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C36B31"/>
                </a:solidFill>
                <a:latin typeface="Arial"/>
              </a:rPr>
              <a:t>206 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0648" y="4474707"/>
            <a:ext cx="1371600" cy="235549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tracker p50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37192" y="3986784"/>
            <a:ext cx="1591056" cy="841248"/>
          </a:xfrm>
          <a:prstGeom prst="roundRect">
            <a:avLst>
              <a:gd name="adj" fmla="val 7000"/>
            </a:avLst>
          </a:prstGeom>
          <a:solidFill>
            <a:srgbClr val="F8EDED"/>
          </a:solidFill>
          <a:ln w="1524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28632" y="4078224"/>
            <a:ext cx="1408176" cy="437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B44D4D"/>
                </a:solidFill>
                <a:latin typeface="Arial"/>
              </a:rPr>
              <a:t>4.5 fps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46919" y="4474707"/>
            <a:ext cx="1371600" cy="235549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sustained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67728" y="5632704"/>
            <a:ext cx="4709160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Most of the desk gain appears by about 500 steps.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The quality gain has a clear systems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TUM desk, common host measurements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868680"/>
            <a:ext cx="539496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PEAK GPU MEMORY (MiB)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508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Splatt3R-SLAM</a:t>
            </a:r>
          </a:p>
        </p:txBody>
      </p:sp>
      <p:sp>
        <p:nvSpPr>
          <p:cNvPr id="9" name="Rectangle 8"/>
          <p:cNvSpPr/>
          <p:nvPr/>
        </p:nvSpPr>
        <p:spPr>
          <a:xfrm>
            <a:off x="2112264" y="1371600"/>
            <a:ext cx="3291840" cy="420623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12264" y="1371600"/>
            <a:ext cx="3147447" cy="420623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8968" y="1298448"/>
            <a:ext cx="530352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21,035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084831"/>
            <a:ext cx="1508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12264" y="2157984"/>
            <a:ext cx="3291840" cy="420623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12264" y="2157984"/>
            <a:ext cx="192423" cy="420623"/>
          </a:xfrm>
          <a:prstGeom prst="rect">
            <a:avLst/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58968" y="2084831"/>
            <a:ext cx="530352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3478A5"/>
                </a:solidFill>
                <a:latin typeface="Arial"/>
              </a:rPr>
              <a:t>1,286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871215"/>
            <a:ext cx="1508760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MonoGS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12264" y="2944368"/>
            <a:ext cx="3291840" cy="420623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12264" y="2944368"/>
            <a:ext cx="357463" cy="420623"/>
          </a:xfrm>
          <a:prstGeom prst="rect">
            <a:avLst/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2871215"/>
            <a:ext cx="530352" cy="56692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C36B31"/>
                </a:solidFill>
                <a:latin typeface="Arial"/>
              </a:rPr>
              <a:t>2,389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31920"/>
            <a:ext cx="539496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EXPORTED PRIMITIVES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315968"/>
            <a:ext cx="1508760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Splatt3R-SLAM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12264" y="4389120"/>
            <a:ext cx="3291840" cy="292607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12264" y="4389120"/>
            <a:ext cx="3287588" cy="292607"/>
          </a:xfrm>
          <a:prstGeom prst="rect">
            <a:avLst/>
          </a:prstGeom>
          <a:solidFill>
            <a:srgbClr val="168077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4315968"/>
            <a:ext cx="53035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68077"/>
                </a:solidFill>
                <a:latin typeface="Arial"/>
              </a:rPr>
              <a:t>2397k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4901183"/>
            <a:ext cx="1508760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Photo-SLAM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12264" y="4974336"/>
            <a:ext cx="3291840" cy="292607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12264" y="4974336"/>
            <a:ext cx="49472" cy="292607"/>
          </a:xfrm>
          <a:prstGeom prst="rect">
            <a:avLst/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58968" y="4901183"/>
            <a:ext cx="53035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3478A5"/>
                </a:solidFill>
                <a:latin typeface="Arial"/>
              </a:rPr>
              <a:t>36k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5486400"/>
            <a:ext cx="1508760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18323F"/>
                </a:solidFill>
                <a:latin typeface="Arial"/>
              </a:rPr>
              <a:t>MonoGS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12264" y="5559552"/>
            <a:ext cx="3291840" cy="292607"/>
          </a:xfrm>
          <a:prstGeom prst="rect">
            <a:avLst/>
          </a:prstGeom>
          <a:solidFill>
            <a:srgbClr val="EEF2F4"/>
          </a:solidFill>
          <a:ln w="12700">
            <a:solidFill>
              <a:srgbClr val="EEF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12264" y="5559552"/>
            <a:ext cx="36576" cy="292607"/>
          </a:xfrm>
          <a:prstGeom prst="rect">
            <a:avLst/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58968" y="5486400"/>
            <a:ext cx="53035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50" b="1">
                <a:solidFill>
                  <a:srgbClr val="C36B31"/>
                </a:solidFill>
                <a:latin typeface="Arial"/>
              </a:rPr>
              <a:t>23k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932688"/>
            <a:ext cx="5230368" cy="5010912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 w="1270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48272" y="1170432"/>
            <a:ext cx="461772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8323F"/>
                </a:solidFill>
                <a:latin typeface="Arial"/>
              </a:rPr>
              <a:t>Quality versus compactness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76288" y="1847088"/>
            <a:ext cx="1920240" cy="1024128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524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67727" y="1938528"/>
            <a:ext cx="1737360" cy="53254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168077"/>
                </a:solidFill>
                <a:latin typeface="Arial"/>
              </a:rPr>
              <a:t>13.95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2441082"/>
            <a:ext cx="1700784" cy="286755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PSNR | full 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08592" y="1847088"/>
            <a:ext cx="1920240" cy="1024128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524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1938528"/>
            <a:ext cx="1737360" cy="53254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C36B31"/>
                </a:solidFill>
                <a:latin typeface="Arial"/>
              </a:rPr>
              <a:t>2.397M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19" y="2441082"/>
            <a:ext cx="1700784" cy="286755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Gaussians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3310128"/>
            <a:ext cx="4498848" cy="6400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B44D4D"/>
                </a:solidFill>
                <a:latin typeface="Arial"/>
              </a:rPr>
              <a:t>Post-hoc truncation collapses quality
below about one million primitives.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4343400"/>
            <a:ext cx="4498848" cy="8412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168077"/>
                </a:solidFill>
                <a:latin typeface="Arial"/>
              </a:rPr>
              <a:t>The next engineering target is not more Gaussians.
It is quality per primitive.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45352"/>
            <a:ext cx="1088136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607681"/>
                </a:solidFill>
                <a:latin typeface="Arial"/>
              </a:rPr>
              <a:t>The representation is effective, but not yet compact.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Several plausible alternatives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Negative results sharpen the central claim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384048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106424"/>
            <a:ext cx="336499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18323F"/>
                </a:solidFill>
                <a:latin typeface="Arial"/>
              </a:rPr>
              <a:t>Encoder LoRA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70832" y="1362456"/>
            <a:ext cx="493776" cy="0"/>
          </a:xfrm>
          <a:prstGeom prst="line">
            <a:avLst/>
          </a:prstGeom>
          <a:ln w="20320">
            <a:solidFill>
              <a:srgbClr val="B4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4814316" y="1312164"/>
            <a:ext cx="100584" cy="100584"/>
          </a:xfrm>
          <a:prstGeom prst="triangle">
            <a:avLst/>
          </a:prstGeom>
          <a:solidFill>
            <a:srgbClr val="B4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6048" y="960120"/>
            <a:ext cx="3520440" cy="804672"/>
          </a:xfrm>
          <a:prstGeom prst="roundRect">
            <a:avLst>
              <a:gd name="adj" fmla="val 7000"/>
            </a:avLst>
          </a:prstGeom>
          <a:solidFill>
            <a:srgbClr val="F8EDED"/>
          </a:solidFill>
          <a:ln w="1270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1106424"/>
            <a:ext cx="3081528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B44D4D"/>
                </a:solidFill>
                <a:latin typeface="Arial"/>
              </a:rPr>
              <a:t>-49% reconstruction 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75688"/>
            <a:ext cx="384048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221992"/>
            <a:ext cx="336499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18323F"/>
                </a:solidFill>
                <a:latin typeface="Arial"/>
              </a:rPr>
              <a:t>Independent multi-pair averaging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70832" y="2478024"/>
            <a:ext cx="493776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814316" y="2427732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56048" y="2075688"/>
            <a:ext cx="3520440" cy="80467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5504" y="2221992"/>
            <a:ext cx="3081528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C36B31"/>
                </a:solidFill>
                <a:latin typeface="Arial"/>
              </a:rPr>
              <a:t>scale spread stops at 3.06%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91256"/>
            <a:ext cx="384048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337560"/>
            <a:ext cx="336499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18323F"/>
                </a:solidFill>
                <a:latin typeface="Arial"/>
              </a:rPr>
              <a:t>Map-only scale correction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70832" y="3593592"/>
            <a:ext cx="493776" cy="0"/>
          </a:xfrm>
          <a:prstGeom prst="line">
            <a:avLst/>
          </a:prstGeom>
          <a:ln w="20320">
            <a:solidFill>
              <a:srgbClr val="B4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4814316" y="3543300"/>
            <a:ext cx="100584" cy="100584"/>
          </a:xfrm>
          <a:prstGeom prst="triangle">
            <a:avLst/>
          </a:prstGeom>
          <a:solidFill>
            <a:srgbClr val="B4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956048" y="3191256"/>
            <a:ext cx="3520440" cy="804672"/>
          </a:xfrm>
          <a:prstGeom prst="roundRect">
            <a:avLst>
              <a:gd name="adj" fmla="val 7000"/>
            </a:avLst>
          </a:prstGeom>
          <a:solidFill>
            <a:srgbClr val="F8EDED"/>
          </a:solidFill>
          <a:ln w="12700">
            <a:solidFill>
              <a:srgbClr val="B4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5504" y="3337560"/>
            <a:ext cx="3081528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B44D4D"/>
                </a:solidFill>
                <a:latin typeface="Arial"/>
              </a:rPr>
              <a:t>PSNR 12.35 -&gt; 11.50 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06824"/>
            <a:ext cx="384048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453128"/>
            <a:ext cx="3364992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18323F"/>
                </a:solidFill>
                <a:latin typeface="Arial"/>
              </a:rPr>
              <a:t>Post-hoc compacting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70832" y="4709160"/>
            <a:ext cx="493776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4814316" y="465886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956048" y="4306824"/>
            <a:ext cx="3520440" cy="80467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5504" y="4453128"/>
            <a:ext cx="3081528" cy="43891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C36B31"/>
                </a:solidFill>
                <a:latin typeface="Arial"/>
              </a:rPr>
              <a:t>quality drops below ~1M primitives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87968" y="969264"/>
            <a:ext cx="2779776" cy="4160520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1280160"/>
            <a:ext cx="2267712" cy="6583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000" b="1">
                <a:solidFill>
                  <a:srgbClr val="168077"/>
                </a:solidFill>
                <a:latin typeface="Arial"/>
              </a:rPr>
              <a:t>What survived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331720"/>
            <a:ext cx="2176272" cy="1554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8323F"/>
                </a:solidFill>
                <a:latin typeface="Arial"/>
              </a:rPr>
              <a:t>Shared anchors
Separate appearance refinement
Measured initialization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06440"/>
            <a:ext cx="11018520" cy="4572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600" b="1">
                <a:solidFill>
                  <a:srgbClr val="168077"/>
                </a:solidFill>
                <a:latin typeface="Arial"/>
              </a:rPr>
              <a:t>The useful theory is coordinate consistency, not a universal geometry correction.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Why the result is state of the 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 claim follows directly from the measured common-protocol result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932688"/>
            <a:ext cx="5532120" cy="5138928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88720"/>
            <a:ext cx="493776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168077"/>
                </a:solidFill>
                <a:latin typeface="Arial"/>
              </a:rPr>
              <a:t>Measured 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56231"/>
            <a:ext cx="1536192" cy="914400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524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47672"/>
            <a:ext cx="1353312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168077"/>
                </a:solidFill>
                <a:latin typeface="Arial"/>
              </a:rPr>
              <a:t>23.02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3167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ours |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1856231"/>
            <a:ext cx="1536192" cy="91440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524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1947672"/>
            <a:ext cx="1353312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3478A5"/>
                </a:solidFill>
                <a:latin typeface="Arial"/>
              </a:rPr>
              <a:t>19.48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386584"/>
            <a:ext cx="13167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Photo-SLAM | dB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51376" y="1856231"/>
            <a:ext cx="1536192" cy="914400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524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2816" y="1947672"/>
            <a:ext cx="1353312" cy="4754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C36B31"/>
                </a:solidFill>
                <a:latin typeface="Arial"/>
              </a:rPr>
              <a:t>+3.54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2386584"/>
            <a:ext cx="13167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mean gain | dB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" y="3273552"/>
            <a:ext cx="100584" cy="100584"/>
          </a:xfrm>
          <a:prstGeom prst="ellips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154680"/>
            <a:ext cx="4416552" cy="59436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Higher PSNR on every Replica scene.</a:t>
            </a:r>
          </a:p>
        </p:txBody>
      </p:sp>
      <p:sp>
        <p:nvSpPr>
          <p:cNvPr id="20" name="Oval 19"/>
          <p:cNvSpPr/>
          <p:nvPr/>
        </p:nvSpPr>
        <p:spPr>
          <a:xfrm>
            <a:off x="841248" y="3886200"/>
            <a:ext cx="100584" cy="100584"/>
          </a:xfrm>
          <a:prstGeom prst="ellips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3767328"/>
            <a:ext cx="4416552" cy="59436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Better mean LPIPS: 0.135 versus 0.163.</a:t>
            </a:r>
          </a:p>
        </p:txBody>
      </p:sp>
      <p:sp>
        <p:nvSpPr>
          <p:cNvPr id="22" name="Oval 21"/>
          <p:cNvSpPr/>
          <p:nvPr/>
        </p:nvSpPr>
        <p:spPr>
          <a:xfrm>
            <a:off x="841248" y="4498848"/>
            <a:ext cx="100584" cy="100584"/>
          </a:xfrm>
          <a:prstGeom prst="ellips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379976"/>
            <a:ext cx="4416552" cy="59436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1200" b="0">
                <a:solidFill>
                  <a:srgbClr val="18323F"/>
                </a:solidFill>
                <a:latin typeface="Arial"/>
              </a:rPr>
              <a:t>All values come from saved maps and one evaluator.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932688"/>
            <a:ext cx="5440680" cy="5138928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188720"/>
            <a:ext cx="484632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900" b="1">
                <a:solidFill>
                  <a:srgbClr val="3478A5"/>
                </a:solidFill>
                <a:latin typeface="Arial"/>
              </a:rPr>
              <a:t>Common protocol</a:t>
            </a:r>
          </a:p>
        </p:txBody>
      </p:sp>
      <p:sp>
        <p:nvSpPr>
          <p:cNvPr id="26" name="Oval 25"/>
          <p:cNvSpPr/>
          <p:nvPr/>
        </p:nvSpPr>
        <p:spPr>
          <a:xfrm>
            <a:off x="6720840" y="1901952"/>
            <a:ext cx="210312" cy="21031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9168" y="1828800"/>
            <a:ext cx="1572768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Input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1828800"/>
            <a:ext cx="26517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07681"/>
                </a:solidFill>
                <a:latin typeface="Arial"/>
              </a:rPr>
              <a:t>RGB-only monocular</a:t>
            </a:r>
          </a:p>
        </p:txBody>
      </p:sp>
      <p:sp>
        <p:nvSpPr>
          <p:cNvPr id="29" name="Oval 28"/>
          <p:cNvSpPr/>
          <p:nvPr/>
        </p:nvSpPr>
        <p:spPr>
          <a:xfrm>
            <a:off x="6720840" y="2752344"/>
            <a:ext cx="210312" cy="21031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168" y="2679192"/>
            <a:ext cx="1572768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2679192"/>
            <a:ext cx="26517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07681"/>
                </a:solidFill>
                <a:latin typeface="Arial"/>
              </a:rPr>
              <a:t>all 8 Replica scenes</a:t>
            </a:r>
          </a:p>
        </p:txBody>
      </p:sp>
      <p:sp>
        <p:nvSpPr>
          <p:cNvPr id="32" name="Oval 31"/>
          <p:cNvSpPr/>
          <p:nvPr/>
        </p:nvSpPr>
        <p:spPr>
          <a:xfrm>
            <a:off x="6720840" y="3602736"/>
            <a:ext cx="210312" cy="21031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59168" y="3529584"/>
            <a:ext cx="1572768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Views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8784" y="3529584"/>
            <a:ext cx="26517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07681"/>
                </a:solidFill>
                <a:latin typeface="Arial"/>
              </a:rPr>
              <a:t>100 common non-keyframes per scene</a:t>
            </a:r>
          </a:p>
        </p:txBody>
      </p:sp>
      <p:sp>
        <p:nvSpPr>
          <p:cNvPr id="35" name="Oval 34"/>
          <p:cNvSpPr/>
          <p:nvPr/>
        </p:nvSpPr>
        <p:spPr>
          <a:xfrm>
            <a:off x="6720840" y="4453128"/>
            <a:ext cx="210312" cy="210312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9168" y="4379976"/>
            <a:ext cx="1572768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100" b="1">
                <a:solidFill>
                  <a:srgbClr val="18323F"/>
                </a:solidFill>
                <a:latin typeface="Arial"/>
              </a:rPr>
              <a:t>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8784" y="4379976"/>
            <a:ext cx="2651760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07681"/>
                </a:solidFill>
                <a:latin typeface="Arial"/>
              </a:rPr>
              <a:t>same cameras, renderer, resolution, metrics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413248"/>
            <a:ext cx="4681728" cy="36576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3478A5"/>
                </a:solidFill>
                <a:latin typeface="Arial"/>
              </a:rPr>
              <a:t>Splatt3R-SLAM achieves state-of-the-art performance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The result is reproducible from saved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One path from system run to paper table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2011680" cy="226771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1225296"/>
            <a:ext cx="384048" cy="384048"/>
          </a:xfrm>
          <a:prstGeom prst="ellipse">
            <a:avLst/>
          </a:prstGeom>
          <a:solidFill>
            <a:srgbClr val="3478A5"/>
          </a:solidFill>
          <a:ln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98448"/>
            <a:ext cx="384048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755648"/>
            <a:ext cx="137160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8323F"/>
                </a:solidFill>
                <a:latin typeface="Arial"/>
              </a:rPr>
              <a:t>Run SLAM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395728"/>
            <a:ext cx="1536192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0">
                <a:solidFill>
                  <a:srgbClr val="607681"/>
                </a:solidFill>
                <a:latin typeface="Arial"/>
              </a:rPr>
              <a:t>RGB stream
config + commit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194560"/>
            <a:ext cx="237744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5400000">
            <a:off x="2564891" y="2144268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06624" y="1060704"/>
            <a:ext cx="2011680" cy="226771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34640" y="1225296"/>
            <a:ext cx="384048" cy="384048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1298448"/>
            <a:ext cx="384048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1755648"/>
            <a:ext cx="137160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8323F"/>
                </a:solidFill>
                <a:latin typeface="Arial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2395728"/>
            <a:ext cx="1536192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0">
                <a:solidFill>
                  <a:srgbClr val="607681"/>
                </a:solidFill>
                <a:latin typeface="Arial"/>
              </a:rPr>
              <a:t>map + trajectory
frame log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36592" y="2194560"/>
            <a:ext cx="237744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924044" y="2144268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5776" y="1060704"/>
            <a:ext cx="2011680" cy="226771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93792" y="1225296"/>
            <a:ext cx="384048" cy="384048"/>
          </a:xfrm>
          <a:prstGeom prst="ellipse">
            <a:avLst/>
          </a:prstGeom>
          <a:solidFill>
            <a:srgbClr val="C36B31"/>
          </a:solidFill>
          <a:ln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298448"/>
            <a:ext cx="384048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5816" y="1755648"/>
            <a:ext cx="137160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8323F"/>
                </a:solidFill>
                <a:latin typeface="Arial"/>
              </a:rPr>
              <a:t>Align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395728"/>
            <a:ext cx="1536192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0">
                <a:solidFill>
                  <a:srgbClr val="607681"/>
                </a:solidFill>
                <a:latin typeface="Arial"/>
              </a:rPr>
              <a:t>Umeyama Sim(3)
to GT cameras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95744" y="2194560"/>
            <a:ext cx="237744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7283196" y="214426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24928" y="1060704"/>
            <a:ext cx="2011680" cy="2267712"/>
          </a:xfrm>
          <a:prstGeom prst="roundRect">
            <a:avLst>
              <a:gd name="adj" fmla="val 7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52944" y="1225296"/>
            <a:ext cx="384048" cy="384048"/>
          </a:xfrm>
          <a:prstGeom prst="ellipse">
            <a:avLst/>
          </a:prstGeom>
          <a:solidFill>
            <a:srgbClr val="A14D78"/>
          </a:solidFill>
          <a:ln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2944" y="1298448"/>
            <a:ext cx="384048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8" y="1755648"/>
            <a:ext cx="137160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8323F"/>
                </a:solidFill>
                <a:latin typeface="Arial"/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2395728"/>
            <a:ext cx="1536192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0">
                <a:solidFill>
                  <a:srgbClr val="607681"/>
                </a:solidFill>
                <a:latin typeface="Arial"/>
              </a:rPr>
              <a:t>same cameras
full exported SH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54896" y="2194560"/>
            <a:ext cx="237744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9642348" y="2144268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784080" y="1060704"/>
            <a:ext cx="2011680" cy="226771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12096" y="1225296"/>
            <a:ext cx="384048" cy="384048"/>
          </a:xfrm>
          <a:prstGeom prst="ellipse">
            <a:avLst/>
          </a:prstGeom>
          <a:solidFill>
            <a:srgbClr val="168077"/>
          </a:solidFill>
          <a:ln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12096" y="1298448"/>
            <a:ext cx="384048" cy="20116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1755648"/>
            <a:ext cx="1371600" cy="4114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8323F"/>
                </a:solidFill>
                <a:latin typeface="Arial"/>
              </a:rPr>
              <a:t>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1824" y="2395728"/>
            <a:ext cx="1536192" cy="62179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0">
                <a:solidFill>
                  <a:srgbClr val="607681"/>
                </a:solidFill>
                <a:latin typeface="Arial"/>
              </a:rPr>
              <a:t>PSNR + LPIPS
JSON + hashes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" y="3822191"/>
            <a:ext cx="10991088" cy="1005840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 w="1270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4005072"/>
            <a:ext cx="10479024" cy="64008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logs/paper_ral_20261007/&lt;scene&gt;/metrics.json
stores per-frame MSE, LPIPS, camera alignment, selected views, and SHA256 hashes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" y="5230368"/>
            <a:ext cx="2011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5303520"/>
            <a:ext cx="17922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RA-L PDF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5586983"/>
            <a:ext cx="1792224" cy="42976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7 pages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03320" y="5230368"/>
            <a:ext cx="2011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13048" y="5303520"/>
            <a:ext cx="17922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Review PDF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13048" y="5586983"/>
            <a:ext cx="1792224" cy="42976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anonymous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46520" y="5230368"/>
            <a:ext cx="2011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248" y="5303520"/>
            <a:ext cx="17922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MSc 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5586983"/>
            <a:ext cx="1792224" cy="42976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65 pages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89720" y="5230368"/>
            <a:ext cx="2011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5303520"/>
            <a:ext cx="179222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Source ZIP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99448" y="5586983"/>
            <a:ext cx="1792224" cy="429768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clean rebuild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" y="6236208"/>
            <a:ext cx="1019556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607681"/>
                </a:solidFill>
                <a:latin typeface="Arial"/>
              </a:rPr>
              <a:t>Build: cd docs/Thesis &amp;&amp; ./build.sh [ral|review|master]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733"/>
          </a:solidFill>
          <a:ln w="12700">
            <a:solidFill>
              <a:srgbClr val="102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iew0_ours.png"/>
          <p:cNvPicPr>
            <a:picLocks noChangeAspect="1"/>
          </p:cNvPicPr>
          <p:nvPr/>
        </p:nvPicPr>
        <p:blipFill>
          <a:blip r:embed="rId2"/>
          <a:srcRect l="11984" r="11984"/>
          <a:stretch>
            <a:fillRect/>
          </a:stretch>
        </p:blipFill>
        <p:spPr>
          <a:xfrm>
            <a:off x="6537960" y="502920"/>
            <a:ext cx="5166360" cy="3822191"/>
          </a:xfrm>
          <a:prstGeom prst="rect">
            <a:avLst/>
          </a:prstGeom>
          <a:ln w="10160">
            <a:solidFill>
              <a:srgbClr val="168077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66928" y="594360"/>
            <a:ext cx="5440680" cy="53035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One idea connects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417320"/>
            <a:ext cx="5230368" cy="128016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2100" b="1">
                <a:solidFill>
                  <a:srgbClr val="DCECEF"/>
                </a:solidFill>
                <a:latin typeface="Arial"/>
              </a:rPr>
              <a:t>Give the local map and its observation cameras the same keyframe anchor.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971800"/>
            <a:ext cx="1024128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980944"/>
            <a:ext cx="914400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953512"/>
            <a:ext cx="4096512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Dense local Gaussians in one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3776472"/>
            <a:ext cx="1024128" cy="274320"/>
          </a:xfrm>
          <a:prstGeom prst="roundRect">
            <a:avLst>
              <a:gd name="adj" fmla="val 7000"/>
            </a:avLst>
          </a:prstGeom>
          <a:solidFill>
            <a:srgbClr val="C36B31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785615"/>
            <a:ext cx="914400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3758184"/>
            <a:ext cx="4096512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Pose corrections move map and cameras together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4581144"/>
            <a:ext cx="1024128" cy="274320"/>
          </a:xfrm>
          <a:prstGeom prst="roundRect">
            <a:avLst>
              <a:gd name="adj" fmla="val 7000"/>
            </a:avLst>
          </a:prstGeom>
          <a:solidFill>
            <a:srgbClr val="A14D78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4590288"/>
            <a:ext cx="914400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562856"/>
            <a:ext cx="4096512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Sequence RGB improves appearance downstream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56832" y="4709160"/>
            <a:ext cx="1517904" cy="987552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524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48272" y="4800600"/>
            <a:ext cx="1335024" cy="513527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168077"/>
                </a:solidFill>
                <a:latin typeface="Arial"/>
              </a:rPr>
              <a:t>+3.54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281940"/>
            <a:ext cx="1298448" cy="27651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Replica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4709160"/>
            <a:ext cx="1517904" cy="987552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524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4800600"/>
            <a:ext cx="1335024" cy="513527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3478A5"/>
                </a:solidFill>
                <a:latin typeface="Arial"/>
              </a:rPr>
              <a:t>8 /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281940"/>
            <a:ext cx="1298448" cy="27651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PSNR wins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1552" y="4709160"/>
            <a:ext cx="1517904" cy="987552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524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2992" y="4800600"/>
            <a:ext cx="1335024" cy="513527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C36B31"/>
                </a:solidFill>
                <a:latin typeface="Arial"/>
              </a:rPr>
              <a:t>23.02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5281940"/>
            <a:ext cx="1298448" cy="27651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mean PSNR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2" y="5989320"/>
            <a:ext cx="4992624" cy="3840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Next: retain this quality with a compact causal 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Backup: system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Processes, devices, and shared state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786384"/>
            <a:ext cx="7543800" cy="3401568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914400"/>
            <a:ext cx="3749039" cy="31089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3478A5"/>
                </a:solidFill>
                <a:latin typeface="Arial"/>
              </a:rPr>
              <a:t>GPU 0: SLAM + visualisation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107899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90472"/>
            <a:ext cx="85953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73936"/>
            <a:ext cx="859536" cy="338327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sequence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1792224"/>
            <a:ext cx="310896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5400000">
            <a:off x="1997964" y="1741932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84831" y="1280160"/>
            <a:ext cx="2633472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1353312"/>
            <a:ext cx="2414015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Tracker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636776"/>
            <a:ext cx="2414015" cy="6858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Splatt3R + tracking
frame pose log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01568" y="2414016"/>
            <a:ext cx="0" cy="283464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3351276" y="2647188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84831" y="2743200"/>
            <a:ext cx="263347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2816352"/>
            <a:ext cx="2414015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SharedKeyframes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099816"/>
            <a:ext cx="2414015" cy="5760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images | pointmaps | local Gaussians | poses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75504" y="1280160"/>
            <a:ext cx="2267712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5232" y="1353312"/>
            <a:ext cx="204825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Visualiser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5232" y="1636776"/>
            <a:ext cx="2048256" cy="685800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bake current anchors
subscribe to snapshots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4736592" y="2414016"/>
            <a:ext cx="1042416" cy="82296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3102590">
            <a:off x="5728716" y="2363724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75504" y="2743200"/>
            <a:ext cx="226771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5232" y="2816352"/>
            <a:ext cx="2048256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3099816"/>
            <a:ext cx="2048256" cy="576072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retrieval + pose graph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736592" y="3236976"/>
            <a:ext cx="402336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4686300" y="3186684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4048" y="4425696"/>
            <a:ext cx="5614416" cy="1517904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4553712"/>
            <a:ext cx="292608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168077"/>
                </a:solidFill>
                <a:latin typeface="Arial"/>
              </a:rPr>
              <a:t>GPU 1: map refinement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07008" y="4937760"/>
            <a:ext cx="38862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16736" y="5010912"/>
            <a:ext cx="3666744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Refiner process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16736" y="5294376"/>
            <a:ext cx="3666744" cy="338327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local Gaussian map + Adam state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3401568" y="3767328"/>
            <a:ext cx="0" cy="621792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>
            <a:off x="3351276" y="3717036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27648" y="4425696"/>
            <a:ext cx="5413248" cy="1517904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553712"/>
            <a:ext cx="3200400" cy="29260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300" b="1">
                <a:solidFill>
                  <a:srgbClr val="C36B31"/>
                </a:solidFill>
                <a:latin typeface="Arial"/>
              </a:rPr>
              <a:t>CPU shared memory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84848" y="4937760"/>
            <a:ext cx="2048256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94576" y="5010912"/>
            <a:ext cx="18288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Supervision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94576" y="5294376"/>
            <a:ext cx="1828800" cy="338327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RGB + relative poses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62288" y="4937760"/>
            <a:ext cx="2048256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2015" y="5010912"/>
            <a:ext cx="18288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200" b="1">
                <a:solidFill>
                  <a:srgbClr val="18323F"/>
                </a:solidFill>
                <a:latin typeface="Arial"/>
              </a:rPr>
              <a:t>Snapshot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2015" y="5294376"/>
            <a:ext cx="1828800" cy="338327"/>
          </a:xfrm>
          <a:prstGeom prst="rect">
            <a:avLst/>
          </a:prstGeom>
          <a:noFill/>
        </p:spPr>
        <p:txBody>
          <a:bodyPr wrap="none" lIns="27432" rIns="27432" tIns="9144" bIns="9144" anchor="t">
            <a:spAutoFit/>
          </a:bodyPr>
          <a:lstStyle/>
          <a:p>
            <a:pPr algn="l"/>
            <a:r>
              <a:rPr sz="869" b="0">
                <a:solidFill>
                  <a:srgbClr val="607681"/>
                </a:solidFill>
                <a:latin typeface="Arial"/>
              </a:rPr>
              <a:t>versioned refined 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16752" y="5303520"/>
            <a:ext cx="731520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5400000">
            <a:off x="6697980" y="5253228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6035040" y="5303520"/>
            <a:ext cx="3108960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6200000">
            <a:off x="5984748" y="5253228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H="1" flipV="1">
            <a:off x="6492240" y="2331720"/>
            <a:ext cx="3694176" cy="2569464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18289220">
            <a:off x="6441948" y="2281427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16" y="6217920"/>
            <a:ext cx="1097280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18323F"/>
                </a:solidFill>
                <a:latin typeface="Arial"/>
              </a:rPr>
              <a:t>Tracking owns poses. Refinement publishes maps. No cross-process partial state.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Backup: SOTA evidence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Existing skill records and saved metrics support the claim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05840"/>
            <a:ext cx="2029968" cy="2834640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261872"/>
            <a:ext cx="1737360" cy="42062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3478A5"/>
                </a:solidFill>
                <a:latin typeface="Arial"/>
              </a:rPr>
              <a:t>1.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1664208" cy="1298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saved maps
trajectories
SHA256 hashes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59736" y="2404872"/>
            <a:ext cx="219456" cy="0"/>
          </a:xfrm>
          <a:prstGeom prst="line">
            <a:avLst/>
          </a:prstGeom>
          <a:ln w="20320">
            <a:solidFill>
              <a:srgbClr val="34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628900" y="2354579"/>
            <a:ext cx="100584" cy="100584"/>
          </a:xfrm>
          <a:prstGeom prst="triangle">
            <a:avLst/>
          </a:prstGeom>
          <a:solidFill>
            <a:srgbClr val="347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1005840"/>
            <a:ext cx="2029968" cy="2834640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1261872"/>
            <a:ext cx="1737360" cy="42062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68077"/>
                </a:solidFill>
                <a:latin typeface="Arial"/>
              </a:rPr>
              <a:t>2. Align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1993392"/>
            <a:ext cx="1664208" cy="1298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GT Sim(3)
common cameras
100 views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54880" y="2404872"/>
            <a:ext cx="219456" cy="0"/>
          </a:xfrm>
          <a:prstGeom prst="line">
            <a:avLst/>
          </a:prstGeom>
          <a:ln w="20320">
            <a:solidFill>
              <a:srgbClr val="1680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924044" y="2354579"/>
            <a:ext cx="100584" cy="100584"/>
          </a:xfrm>
          <a:prstGeom prst="triangle">
            <a:avLst/>
          </a:prstGeom>
          <a:solidFill>
            <a:srgbClr val="168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01768" y="1005840"/>
            <a:ext cx="2029968" cy="2834640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270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072" y="1261872"/>
            <a:ext cx="1737360" cy="42062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C36B31"/>
                </a:solidFill>
                <a:latin typeface="Arial"/>
              </a:rPr>
              <a:t>3. 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93392"/>
            <a:ext cx="1664208" cy="1298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same image size
full exported SH
one code path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0024" y="2404872"/>
            <a:ext cx="219455" cy="0"/>
          </a:xfrm>
          <a:prstGeom prst="line">
            <a:avLst/>
          </a:prstGeom>
          <a:ln w="20320">
            <a:solidFill>
              <a:srgbClr val="C36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219188" y="2354579"/>
            <a:ext cx="100584" cy="100584"/>
          </a:xfrm>
          <a:prstGeom prst="triangle">
            <a:avLst/>
          </a:prstGeom>
          <a:solidFill>
            <a:srgbClr val="C36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96912" y="1005840"/>
            <a:ext cx="2029968" cy="2834640"/>
          </a:xfrm>
          <a:prstGeom prst="roundRect">
            <a:avLst>
              <a:gd name="adj" fmla="val 7000"/>
            </a:avLst>
          </a:prstGeom>
          <a:solidFill>
            <a:srgbClr val="F8EDF3"/>
          </a:solidFill>
          <a:ln w="12700">
            <a:solidFill>
              <a:srgbClr val="A1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3216" y="1261872"/>
            <a:ext cx="1737360" cy="42062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A14D78"/>
                </a:solidFill>
                <a:latin typeface="Arial"/>
              </a:rPr>
              <a:t>4.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1993392"/>
            <a:ext cx="1664208" cy="1298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scene PSNR
LPIPS-AlexNet
macro mean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45168" y="2404872"/>
            <a:ext cx="219456" cy="0"/>
          </a:xfrm>
          <a:prstGeom prst="line">
            <a:avLst/>
          </a:prstGeom>
          <a:ln w="20320">
            <a:solidFill>
              <a:srgbClr val="A1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9514332" y="2354579"/>
            <a:ext cx="100584" cy="100584"/>
          </a:xfrm>
          <a:prstGeom prst="triangle">
            <a:avLst/>
          </a:prstGeom>
          <a:solidFill>
            <a:srgbClr val="A1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92056" y="1005840"/>
            <a:ext cx="2029968" cy="2834640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270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1261872"/>
            <a:ext cx="1737360" cy="42062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500" b="1">
                <a:solidFill>
                  <a:srgbClr val="168077"/>
                </a:solidFill>
                <a:latin typeface="Arial"/>
              </a:rPr>
              <a:t>5.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4936" y="1993392"/>
            <a:ext cx="1664208" cy="129844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8323F"/>
                </a:solidFill>
                <a:latin typeface="Arial"/>
              </a:rPr>
              <a:t>23.02 dB
+3.54 dB
8 / 8 wins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79392"/>
            <a:ext cx="10808208" cy="1170432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 w="1270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462272"/>
            <a:ext cx="10314432" cy="7863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200" b="1">
                <a:solidFill>
                  <a:srgbClr val="18323F"/>
                </a:solidFill>
                <a:latin typeface="Arial"/>
              </a:rPr>
              <a:t>Claim: Splatt3R-SLAM achieves state-of-the-art performance.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5715000"/>
            <a:ext cx="2011680" cy="749808"/>
          </a:xfrm>
          <a:prstGeom prst="roundRect">
            <a:avLst>
              <a:gd name="adj" fmla="val 7000"/>
            </a:avLst>
          </a:prstGeom>
          <a:solidFill>
            <a:srgbClr val="EAF3F8"/>
          </a:solidFill>
          <a:ln w="1524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5960" y="5806440"/>
            <a:ext cx="1828800" cy="3899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3478A5"/>
                </a:solidFill>
                <a:latin typeface="Arial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4248" y="6149888"/>
            <a:ext cx="1792224" cy="20994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Replica scenes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5715000"/>
            <a:ext cx="2011680" cy="749808"/>
          </a:xfrm>
          <a:prstGeom prst="roundRect">
            <a:avLst>
              <a:gd name="adj" fmla="val 7000"/>
            </a:avLst>
          </a:prstGeom>
          <a:solidFill>
            <a:srgbClr val="FBEFE8"/>
          </a:solidFill>
          <a:ln w="15240">
            <a:solidFill>
              <a:srgbClr val="C36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66359" y="5806440"/>
            <a:ext cx="1828800" cy="3899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C36B31"/>
                </a:solidFill>
                <a:latin typeface="Arial"/>
              </a:rPr>
              <a:t>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4648" y="6149888"/>
            <a:ext cx="1792224" cy="20994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scored views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5715000"/>
            <a:ext cx="2011680" cy="749808"/>
          </a:xfrm>
          <a:prstGeom prst="roundRect">
            <a:avLst>
              <a:gd name="adj" fmla="val 7000"/>
            </a:avLst>
          </a:prstGeom>
          <a:solidFill>
            <a:srgbClr val="E9F6F3"/>
          </a:solidFill>
          <a:ln w="15240">
            <a:solidFill>
              <a:srgbClr val="168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5806440"/>
            <a:ext cx="1828800" cy="38990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168077"/>
                </a:solidFill>
                <a:latin typeface="Arial"/>
              </a:rPr>
              <a:t>8 / 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8" y="6149888"/>
            <a:ext cx="1792224" cy="209946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18323F"/>
                </a:solidFill>
                <a:latin typeface="Arial"/>
              </a:rPr>
              <a:t>PSNR wins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955279" cy="329184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900" b="1">
                <a:solidFill>
                  <a:srgbClr val="18323F"/>
                </a:solidFill>
                <a:latin typeface="Arial"/>
              </a:rPr>
              <a:t>Backup: settings that define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128016"/>
            <a:ext cx="3429000" cy="25603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900" b="0">
                <a:solidFill>
                  <a:srgbClr val="607681"/>
                </a:solidFill>
                <a:latin typeface="Arial"/>
              </a:rPr>
              <a:t>The headline number is one explicit configuration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" y="502920"/>
            <a:ext cx="11548872" cy="0"/>
          </a:xfrm>
          <a:prstGeom prst="line">
            <a:avLst/>
          </a:prstGeom>
          <a:ln w="10160">
            <a:solidFill>
              <a:srgbClr val="CA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6629400"/>
            <a:ext cx="365760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650" b="1">
                <a:solidFill>
                  <a:srgbClr val="607681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629400"/>
            <a:ext cx="411480" cy="1188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r"/>
            <a:r>
              <a:rPr sz="650" b="1">
                <a:solidFill>
                  <a:srgbClr val="607681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841248"/>
            <a:ext cx="2331720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850392"/>
            <a:ext cx="2221991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08376" y="841248"/>
            <a:ext cx="2926079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850392"/>
            <a:ext cx="2816351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841248"/>
            <a:ext cx="5102352" cy="274320"/>
          </a:xfrm>
          <a:prstGeom prst="roundRect">
            <a:avLst>
              <a:gd name="adj" fmla="val 7000"/>
            </a:avLst>
          </a:prstGeom>
          <a:solidFill>
            <a:srgbClr val="3478A5"/>
          </a:solidFill>
          <a:ln w="1270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850392"/>
            <a:ext cx="4992624" cy="246888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261872"/>
            <a:ext cx="2331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325880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8376" y="1261872"/>
            <a:ext cx="2926079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8104" y="1325880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monocular RGB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1261872"/>
            <a:ext cx="51023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1325880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all systems in the primary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1847088"/>
            <a:ext cx="2331720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911095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Head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08376" y="1847088"/>
            <a:ext cx="2926079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18104" y="1911095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released Splatt3R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17336" y="1847088"/>
            <a:ext cx="5102352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7064" y="1911095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no family adaptation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2432304"/>
            <a:ext cx="2331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2496312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Insertion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08376" y="2432304"/>
            <a:ext cx="2926079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18104" y="2496312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attenuation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17336" y="2432304"/>
            <a:ext cx="51023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27064" y="2496312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lambda = 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3017520"/>
            <a:ext cx="2331720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3081527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Centres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08376" y="3017520"/>
            <a:ext cx="2926079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4" y="3081527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fixed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17336" y="3017520"/>
            <a:ext cx="5102352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3081527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appearance-only external polish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3602736"/>
            <a:ext cx="2331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3666744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Polish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08376" y="3602736"/>
            <a:ext cx="2926079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18104" y="3666744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300 seconds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17336" y="3602736"/>
            <a:ext cx="51023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7064" y="3666744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post-sequence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4187952"/>
            <a:ext cx="2331720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251960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Evaluation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08376" y="4187952"/>
            <a:ext cx="2926079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18104" y="4251960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100 non-keyframes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17336" y="4187952"/>
            <a:ext cx="5102352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27064" y="4251960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common GT cameras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4773168"/>
            <a:ext cx="2331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4" y="4837176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Colour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08376" y="4773168"/>
            <a:ext cx="2926079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18104" y="4837176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full exported 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17336" y="4773168"/>
            <a:ext cx="51023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27064" y="4837176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degree differs by system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3776" y="5358384"/>
            <a:ext cx="2331720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4" y="5422392"/>
            <a:ext cx="211226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Metrics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08376" y="5358384"/>
            <a:ext cx="2926079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18104" y="5422392"/>
            <a:ext cx="2706624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18323F"/>
                </a:solidFill>
                <a:latin typeface="Arial"/>
              </a:rPr>
              <a:t>PSNR + LPIPS-AlexNet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17336" y="5358384"/>
            <a:ext cx="5102352" cy="493776"/>
          </a:xfrm>
          <a:prstGeom prst="rect">
            <a:avLst/>
          </a:prstGeom>
          <a:solidFill>
            <a:srgbClr val="F7F9FA"/>
          </a:solidFill>
          <a:ln w="6350">
            <a:solidFill>
              <a:srgbClr val="CA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7064" y="5422392"/>
            <a:ext cx="4882896" cy="347472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l"/>
            <a:r>
              <a:rPr sz="1000" b="0">
                <a:solidFill>
                  <a:srgbClr val="18323F"/>
                </a:solidFill>
                <a:latin typeface="Arial"/>
              </a:rPr>
              <a:t>scene macro mean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6144768"/>
            <a:ext cx="10927080" cy="274320"/>
          </a:xfrm>
          <a:prstGeom prst="rect">
            <a:avLst/>
          </a:prstGeom>
          <a:noFill/>
        </p:spPr>
        <p:txBody>
          <a:bodyPr wrap="none" lIns="27432" rIns="27432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C36B31"/>
                </a:solidFill>
                <a:latin typeface="Arial"/>
              </a:rPr>
              <a:t>Changing any row defines a different experiment.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Splatt3R-SLAM: From Image Pairs to Persistent Maps</dc:title>
  <dc:subject>Master's thesis defense</dc:subject>
  <dc:creator>Zelong Li</dc:creator>
  <cp:keywords>SLAM, 3D Gaussian splatting, thesis defense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