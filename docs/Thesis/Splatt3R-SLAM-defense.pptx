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Relationship Id="rId7" Type="http://schemas.openxmlformats.org/officeDocument/2006/relationships/image" Target="../media/image21.png"/><Relationship Id="rId8" Type="http://schemas.openxmlformats.org/officeDocument/2006/relationships/image" Target="../media/image8.png"/><Relationship Id="rId9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02733"/>
          </a:solidFill>
          <a:ln w="12700">
            <a:solidFill>
              <a:srgbClr val="102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ew0_ours.png"/>
          <p:cNvPicPr>
            <a:picLocks noChangeAspect="1"/>
          </p:cNvPicPr>
          <p:nvPr/>
        </p:nvPicPr>
        <p:blipFill>
          <a:blip r:embed="rId2"/>
          <a:srcRect l="19325" r="19325"/>
          <a:stretch>
            <a:fillRect/>
          </a:stretch>
        </p:blipFill>
        <p:spPr>
          <a:xfrm>
            <a:off x="4709160" y="0"/>
            <a:ext cx="7479792" cy="685800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502920" y="566928"/>
            <a:ext cx="2286000" cy="310896"/>
          </a:xfrm>
          <a:prstGeom prst="roundRect">
            <a:avLst>
              <a:gd name="adj" fmla="val 7000"/>
            </a:avLst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594360"/>
            <a:ext cx="2084831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MASTER'S THESIS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3657600" cy="15544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"/>
              </a:rPr>
              <a:t>Splatt3R-SLAM:
From Image Pairs
to Persistent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3246120"/>
            <a:ext cx="3611880" cy="73152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500" b="0">
                <a:solidFill>
                  <a:srgbClr val="D7E8EC"/>
                </a:solidFill>
                <a:latin typeface="Arial"/>
              </a:rPr>
              <a:t>Fast local predictions.
One map that survives pose correction.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4846320"/>
            <a:ext cx="3438144" cy="0"/>
          </a:xfrm>
          <a:prstGeom prst="line">
            <a:avLst/>
          </a:prstGeom>
          <a:ln w="2540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5047488"/>
            <a:ext cx="3611880" cy="6766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Zelong Li
MSc Computer Science | University of Amsterdam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062472"/>
            <a:ext cx="361188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850" b="0">
                <a:solidFill>
                  <a:srgbClr val="B9CBD1"/>
                </a:solidFill>
                <a:latin typeface="Arial"/>
              </a:rPr>
              <a:t>Supervisors: Prof. Martin Oswald | Dr. Qi Zhang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OPENING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A pair is not a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The gap between a local prediction and a lasting scene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749808"/>
            <a:ext cx="1444752" cy="274320"/>
          </a:xfrm>
          <a:prstGeom prst="roundRect">
            <a:avLst>
              <a:gd name="adj" fmla="val 7000"/>
            </a:avLst>
          </a:prstGeom>
          <a:solidFill>
            <a:srgbClr val="3478A5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758952"/>
            <a:ext cx="1335024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ONE IMAGE PAIR</a:t>
            </a:r>
          </a:p>
        </p:txBody>
      </p:sp>
      <p:pic>
        <p:nvPicPr>
          <p:cNvPr id="9" name="Picture 8" descr="view0_gt.png"/>
          <p:cNvPicPr>
            <a:picLocks noChangeAspect="1"/>
          </p:cNvPicPr>
          <p:nvPr/>
        </p:nvPicPr>
        <p:blipFill>
          <a:blip r:embed="rId2"/>
          <a:srcRect t="282" b="282"/>
          <a:stretch>
            <a:fillRect/>
          </a:stretch>
        </p:blipFill>
        <p:spPr>
          <a:xfrm>
            <a:off x="384048" y="1161288"/>
            <a:ext cx="2157984" cy="1609344"/>
          </a:xfrm>
          <a:prstGeom prst="rect">
            <a:avLst/>
          </a:prstGeom>
          <a:ln w="10160">
            <a:solidFill>
              <a:srgbClr val="3478A5"/>
            </a:solidFill>
          </a:ln>
        </p:spPr>
      </p:pic>
      <p:pic>
        <p:nvPicPr>
          <p:cNvPr id="10" name="Picture 9" descr="view1_gt.png"/>
          <p:cNvPicPr>
            <a:picLocks noChangeAspect="1"/>
          </p:cNvPicPr>
          <p:nvPr/>
        </p:nvPicPr>
        <p:blipFill>
          <a:blip r:embed="rId3"/>
          <a:srcRect t="282" b="282"/>
          <a:stretch>
            <a:fillRect/>
          </a:stretch>
        </p:blipFill>
        <p:spPr>
          <a:xfrm>
            <a:off x="749808" y="2194560"/>
            <a:ext cx="2157984" cy="1609344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cxnSp>
        <p:nvCxnSpPr>
          <p:cNvPr id="11" name="Connector 10"/>
          <p:cNvCxnSpPr/>
          <p:nvPr/>
        </p:nvCxnSpPr>
        <p:spPr>
          <a:xfrm>
            <a:off x="2944368" y="2231136"/>
            <a:ext cx="438912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3332988" y="2180844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3008" y="749808"/>
            <a:ext cx="1755648" cy="274320"/>
          </a:xfrm>
          <a:prstGeom prst="roundRect">
            <a:avLst>
              <a:gd name="adj" fmla="val 7000"/>
            </a:avLst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758952"/>
            <a:ext cx="1645919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ONE LOCAL MAP</a:t>
            </a:r>
          </a:p>
        </p:txBody>
      </p:sp>
      <p:pic>
        <p:nvPicPr>
          <p:cNvPr id="15" name="Picture 14" descr="before.png"/>
          <p:cNvPicPr>
            <a:picLocks noChangeAspect="1"/>
          </p:cNvPicPr>
          <p:nvPr/>
        </p:nvPicPr>
        <p:blipFill>
          <a:blip r:embed="rId4"/>
          <a:srcRect l="1033" r="1033"/>
          <a:stretch>
            <a:fillRect/>
          </a:stretch>
        </p:blipFill>
        <p:spPr>
          <a:xfrm>
            <a:off x="3493008" y="1161288"/>
            <a:ext cx="2889504" cy="2212848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3493008" y="3502152"/>
            <a:ext cx="2889504" cy="4114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68077"/>
                </a:solidFill>
                <a:latin typeface="Arial"/>
              </a:rPr>
              <a:t>Useful immediately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65392" y="2231136"/>
            <a:ext cx="448056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963156" y="2180844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0" y="749808"/>
            <a:ext cx="2057400" cy="274320"/>
          </a:xfrm>
          <a:prstGeom prst="roundRect">
            <a:avLst>
              <a:gd name="adj" fmla="val 7000"/>
            </a:avLst>
          </a:prstGeom>
          <a:solidFill>
            <a:srgbClr val="C36B31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7183" y="758952"/>
            <a:ext cx="1947672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A VIDEO SEQUENCE</a:t>
            </a:r>
          </a:p>
        </p:txBody>
      </p:sp>
      <p:pic>
        <p:nvPicPr>
          <p:cNvPr id="21" name="Picture 20" descr="view0_ours.png"/>
          <p:cNvPicPr>
            <a:picLocks noChangeAspect="1"/>
          </p:cNvPicPr>
          <p:nvPr/>
        </p:nvPicPr>
        <p:blipFill>
          <a:blip r:embed="rId5"/>
          <a:srcRect l="9730" r="9730"/>
          <a:stretch>
            <a:fillRect/>
          </a:stretch>
        </p:blipFill>
        <p:spPr>
          <a:xfrm>
            <a:off x="7205472" y="1188720"/>
            <a:ext cx="2880360" cy="2011680"/>
          </a:xfrm>
          <a:prstGeom prst="rect">
            <a:avLst/>
          </a:prstGeom>
          <a:ln w="10160">
            <a:solidFill>
              <a:srgbClr val="3478A5"/>
            </a:solidFill>
          </a:ln>
        </p:spPr>
      </p:pic>
      <p:pic>
        <p:nvPicPr>
          <p:cNvPr id="22" name="Picture 21" descr="view0_ours.png"/>
          <p:cNvPicPr>
            <a:picLocks noChangeAspect="1"/>
          </p:cNvPicPr>
          <p:nvPr/>
        </p:nvPicPr>
        <p:blipFill>
          <a:blip r:embed="rId6"/>
          <a:srcRect l="9730" r="9730"/>
          <a:stretch>
            <a:fillRect/>
          </a:stretch>
        </p:blipFill>
        <p:spPr>
          <a:xfrm>
            <a:off x="7863840" y="1664208"/>
            <a:ext cx="2880360" cy="2011680"/>
          </a:xfrm>
          <a:prstGeom prst="rect">
            <a:avLst/>
          </a:prstGeom>
          <a:ln w="10160">
            <a:solidFill>
              <a:srgbClr val="C36B31"/>
            </a:solidFill>
          </a:ln>
        </p:spPr>
      </p:pic>
      <p:pic>
        <p:nvPicPr>
          <p:cNvPr id="23" name="Picture 22" descr="view0_ours.png"/>
          <p:cNvPicPr>
            <a:picLocks noChangeAspect="1"/>
          </p:cNvPicPr>
          <p:nvPr/>
        </p:nvPicPr>
        <p:blipFill>
          <a:blip r:embed="rId7"/>
          <a:srcRect l="9730" r="9730"/>
          <a:stretch>
            <a:fillRect/>
          </a:stretch>
        </p:blipFill>
        <p:spPr>
          <a:xfrm>
            <a:off x="8522208" y="2139696"/>
            <a:ext cx="2880360" cy="2011680"/>
          </a:xfrm>
          <a:prstGeom prst="rect">
            <a:avLst/>
          </a:prstGeom>
          <a:ln w="10160">
            <a:solidFill>
              <a:srgbClr val="A14D78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7360920" y="4224528"/>
            <a:ext cx="4133087" cy="6583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18323F"/>
                </a:solidFill>
                <a:latin typeface="Arial"/>
              </a:rPr>
              <a:t>Many local frames
Many overlapping surfaces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38928"/>
            <a:ext cx="10927080" cy="841248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85232"/>
            <a:ext cx="10469880" cy="5029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900" b="1">
                <a:solidFill>
                  <a:srgbClr val="C36B31"/>
                </a:solidFill>
                <a:latin typeface="Arial"/>
              </a:rPr>
              <a:t>The research question: how can pairwise predictions become one persistent map?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A persistent map must survive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Three requirements for a useful appearance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24128"/>
            <a:ext cx="3246120" cy="4462272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778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234440"/>
            <a:ext cx="2807208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3478A5"/>
                </a:solidFill>
                <a:latin typeface="Arial"/>
              </a:rPr>
              <a:t>REVISIT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4718304"/>
            <a:ext cx="2734056" cy="4754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8323F"/>
                </a:solidFill>
                <a:latin typeface="Arial"/>
              </a:rPr>
              <a:t>A later camera must still localise.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024128"/>
            <a:ext cx="3246120" cy="4462272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778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1234440"/>
            <a:ext cx="2807208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C36B31"/>
                </a:solidFill>
                <a:latin typeface="Arial"/>
              </a:rPr>
              <a:t>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4718304"/>
            <a:ext cx="2734056" cy="4754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8323F"/>
                </a:solidFill>
                <a:latin typeface="Arial"/>
              </a:rPr>
              <a:t>Loop closure must move old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024128"/>
            <a:ext cx="3246120" cy="4462272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778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46136" y="1234440"/>
            <a:ext cx="2807208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168077"/>
                </a:solidFill>
                <a:latin typeface="Arial"/>
              </a:rPr>
              <a:t>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1" y="4718304"/>
            <a:ext cx="2734056" cy="4754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8323F"/>
                </a:solidFill>
                <a:latin typeface="Arial"/>
              </a:rPr>
              <a:t>A new view must look like the scene.</a:t>
            </a:r>
          </a:p>
        </p:txBody>
      </p:sp>
      <p:sp>
        <p:nvSpPr>
          <p:cNvPr id="16" name="Trapezoid 15"/>
          <p:cNvSpPr/>
          <p:nvPr/>
        </p:nvSpPr>
        <p:spPr>
          <a:xfrm rot="5400000">
            <a:off x="960120" y="2139696"/>
            <a:ext cx="715060" cy="504748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317650" y="2392070"/>
            <a:ext cx="546811" cy="0"/>
          </a:xfrm>
          <a:prstGeom prst="line">
            <a:avLst/>
          </a:prstGeom>
          <a:ln w="1270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814169" y="2341778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83080" y="2258568"/>
            <a:ext cx="73152" cy="73152"/>
          </a:xfrm>
          <a:prstGeom prst="ellipse">
            <a:avLst/>
          </a:prstGeom>
          <a:solidFill>
            <a:srgbClr val="3478A5"/>
          </a:solidFill>
          <a:ln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93976" y="2427845"/>
            <a:ext cx="73152" cy="73152"/>
          </a:xfrm>
          <a:prstGeom prst="ellipse">
            <a:avLst/>
          </a:prstGeom>
          <a:solidFill>
            <a:srgbClr val="3478A5"/>
          </a:solidFill>
          <a:ln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04872" y="2441489"/>
            <a:ext cx="73152" cy="73152"/>
          </a:xfrm>
          <a:prstGeom prst="ellipse">
            <a:avLst/>
          </a:prstGeom>
          <a:solidFill>
            <a:srgbClr val="3478A5"/>
          </a:solidFill>
          <a:ln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15768" y="2286956"/>
            <a:ext cx="73152" cy="73152"/>
          </a:xfrm>
          <a:prstGeom prst="ellipse">
            <a:avLst/>
          </a:prstGeom>
          <a:solidFill>
            <a:srgbClr val="3478A5"/>
          </a:solidFill>
          <a:ln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463040" y="2788920"/>
            <a:ext cx="1353312" cy="41148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4385274">
            <a:off x="2766060" y="2738627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37760" y="2103120"/>
            <a:ext cx="658368" cy="658368"/>
          </a:xfrm>
          <a:prstGeom prst="ellipse">
            <a:avLst/>
          </a:prstGeom>
          <a:solidFill>
            <a:srgbClr val="FBEFE8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2212848"/>
            <a:ext cx="65836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C36B31"/>
                </a:solidFill>
                <a:latin typeface="Arial"/>
              </a:rPr>
              <a:t>k</a:t>
            </a:r>
          </a:p>
        </p:txBody>
      </p:sp>
      <p:sp>
        <p:nvSpPr>
          <p:cNvPr id="27" name="Trapezoid 26"/>
          <p:cNvSpPr/>
          <p:nvPr/>
        </p:nvSpPr>
        <p:spPr>
          <a:xfrm rot="5400000">
            <a:off x="4480560" y="3108960"/>
            <a:ext cx="497433" cy="351129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729276" y="3284524"/>
            <a:ext cx="380391" cy="0"/>
          </a:xfrm>
          <a:prstGeom prst="line">
            <a:avLst/>
          </a:prstGeom>
          <a:ln w="1270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5059375" y="3234232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 rot="900000">
            <a:off x="5577840" y="3119932"/>
            <a:ext cx="435254" cy="192024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 rot="20400000">
            <a:off x="5936284" y="2915107"/>
            <a:ext cx="384048" cy="179222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 rot="600000">
            <a:off x="6064300" y="3273552"/>
            <a:ext cx="460857" cy="204825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20880000">
            <a:off x="6448348" y="3043123"/>
            <a:ext cx="345643" cy="166420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4919472" y="2724912"/>
            <a:ext cx="365760" cy="54864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2821404">
            <a:off x="4869180" y="3223260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285232" y="2724912"/>
            <a:ext cx="530352" cy="521208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8070107">
            <a:off x="5765292" y="3195827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view0_ours.png"/>
          <p:cNvPicPr>
            <a:picLocks noChangeAspect="1"/>
          </p:cNvPicPr>
          <p:nvPr/>
        </p:nvPicPr>
        <p:blipFill>
          <a:blip r:embed="rId2"/>
          <a:srcRect l="12586" r="12586"/>
          <a:stretch>
            <a:fillRect/>
          </a:stretch>
        </p:blipFill>
        <p:spPr>
          <a:xfrm>
            <a:off x="8028431" y="1828800"/>
            <a:ext cx="2651760" cy="1993392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pic>
        <p:nvPicPr>
          <p:cNvPr id="39" name="Picture 38" descr="view0_gt.png"/>
          <p:cNvPicPr>
            <a:picLocks noChangeAspect="1"/>
          </p:cNvPicPr>
          <p:nvPr/>
        </p:nvPicPr>
        <p:blipFill>
          <a:blip r:embed="rId3"/>
          <a:srcRect l="12586" r="12586"/>
          <a:stretch>
            <a:fillRect/>
          </a:stretch>
        </p:blipFill>
        <p:spPr>
          <a:xfrm>
            <a:off x="8503920" y="2834640"/>
            <a:ext cx="2651760" cy="1993392"/>
          </a:xfrm>
          <a:prstGeom prst="rect">
            <a:avLst/>
          </a:prstGeom>
          <a:ln w="10160">
            <a:solidFill>
              <a:srgbClr val="3478A5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502920" y="5742432"/>
            <a:ext cx="10881360" cy="4754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18323F"/>
                </a:solidFill>
                <a:latin typeface="Arial"/>
              </a:rPr>
              <a:t>Tracking, correction, and rendering must agree on the same scene.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Why direct accumulation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The sequence adds problems that a two-view model never sees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3200400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5216" y="1170432"/>
            <a:ext cx="475488" cy="475488"/>
          </a:xfrm>
          <a:prstGeom prst="ellipse">
            <a:avLst/>
          </a:prstGeom>
          <a:solidFill>
            <a:srgbClr val="3478A5"/>
          </a:solidFill>
          <a:ln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252728"/>
            <a:ext cx="475488" cy="23774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52144"/>
            <a:ext cx="2139696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400" b="1">
                <a:solidFill>
                  <a:srgbClr val="18323F"/>
                </a:solidFill>
                <a:latin typeface="Arial"/>
              </a:rPr>
              <a:t>Different coordinates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553712"/>
            <a:ext cx="2651760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Each pair predicts in its own camera 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78224" y="960120"/>
            <a:ext cx="3200400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9392" y="1170432"/>
            <a:ext cx="475488" cy="475488"/>
          </a:xfrm>
          <a:prstGeom prst="ellipse">
            <a:avLst/>
          </a:prstGeom>
          <a:solidFill>
            <a:srgbClr val="A14D78"/>
          </a:solidFill>
          <a:ln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252728"/>
            <a:ext cx="475488" cy="23774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1152144"/>
            <a:ext cx="2139696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400" b="1">
                <a:solidFill>
                  <a:srgbClr val="18323F"/>
                </a:solidFill>
                <a:latin typeface="Arial"/>
              </a:rPr>
              <a:t>Repeated surfaces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4553712"/>
            <a:ext cx="2651760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Several keyframes place colour and opacity on one ray.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960120"/>
            <a:ext cx="3200400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73568" y="1170432"/>
            <a:ext cx="475488" cy="475488"/>
          </a:xfrm>
          <a:prstGeom prst="ellipse">
            <a:avLst/>
          </a:prstGeom>
          <a:solidFill>
            <a:srgbClr val="C36B31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1252728"/>
            <a:ext cx="475488" cy="23774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1152144"/>
            <a:ext cx="2139696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400" b="1">
                <a:solidFill>
                  <a:srgbClr val="18323F"/>
                </a:solidFill>
                <a:latin typeface="Arial"/>
              </a:rPr>
              <a:t>Pose corrections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553712"/>
            <a:ext cx="2651760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Loop closure changes where old predictions belong.</a:t>
            </a:r>
          </a:p>
        </p:txBody>
      </p:sp>
      <p:sp>
        <p:nvSpPr>
          <p:cNvPr id="22" name="Trapezoid 21"/>
          <p:cNvSpPr/>
          <p:nvPr/>
        </p:nvSpPr>
        <p:spPr>
          <a:xfrm rot="5400000">
            <a:off x="969264" y="2194560"/>
            <a:ext cx="435254" cy="307238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186891" y="2348179"/>
            <a:ext cx="332841" cy="0"/>
          </a:xfrm>
          <a:prstGeom prst="line">
            <a:avLst/>
          </a:prstGeom>
          <a:ln w="1270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469440" y="2297887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rapezoid 24"/>
          <p:cNvSpPr/>
          <p:nvPr/>
        </p:nvSpPr>
        <p:spPr>
          <a:xfrm rot="5400000">
            <a:off x="2057400" y="2798064"/>
            <a:ext cx="435254" cy="307238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275027" y="2951683"/>
            <a:ext cx="332841" cy="0"/>
          </a:xfrm>
          <a:prstGeom prst="line">
            <a:avLst/>
          </a:prstGeom>
          <a:ln w="1270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2557576" y="2901391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900000">
            <a:off x="1298448" y="3207715"/>
            <a:ext cx="497433" cy="219456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 rot="20400000">
            <a:off x="1708099" y="2973628"/>
            <a:ext cx="438912" cy="204825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 rot="600000">
            <a:off x="1854403" y="3383280"/>
            <a:ext cx="526694" cy="234086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 rot="20880000">
            <a:off x="2293315" y="3119932"/>
            <a:ext cx="395020" cy="190195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 rot="20700000">
            <a:off x="4718304" y="2240280"/>
            <a:ext cx="960120" cy="384048"/>
          </a:xfrm>
          <a:prstGeom prst="ellipse">
            <a:avLst/>
          </a:prstGeom>
          <a:solidFill>
            <a:srgbClr val="3478A5"/>
          </a:solidFill>
          <a:ln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600000">
            <a:off x="5038344" y="2514600"/>
            <a:ext cx="960120" cy="384048"/>
          </a:xfrm>
          <a:prstGeom prst="ellipse">
            <a:avLst/>
          </a:prstGeom>
          <a:solidFill>
            <a:srgbClr val="A14D78"/>
          </a:solidFill>
          <a:ln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21300000">
            <a:off x="5358384" y="2240280"/>
            <a:ext cx="960120" cy="384048"/>
          </a:xfrm>
          <a:prstGeom prst="ellipse">
            <a:avLst/>
          </a:prstGeom>
          <a:solidFill>
            <a:srgbClr val="C36B31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 rot="1080000">
            <a:off x="5678424" y="2514600"/>
            <a:ext cx="960120" cy="384048"/>
          </a:xfrm>
          <a:prstGeom prst="ellipse">
            <a:avLst/>
          </a:prstGeom>
          <a:solidFill>
            <a:srgbClr val="168077"/>
          </a:solidFill>
          <a:ln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23376" y="2048256"/>
            <a:ext cx="640080" cy="640080"/>
          </a:xfrm>
          <a:prstGeom prst="ellipse">
            <a:avLst/>
          </a:prstGeom>
          <a:solidFill>
            <a:srgbClr val="FBEFE8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3376" y="2157984"/>
            <a:ext cx="640080" cy="23774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C36B31"/>
                </a:solidFill>
                <a:latin typeface="Arial"/>
              </a:rPr>
              <a:t>k</a:t>
            </a:r>
          </a:p>
        </p:txBody>
      </p:sp>
      <p:sp>
        <p:nvSpPr>
          <p:cNvPr id="38" name="Trapezoid 37"/>
          <p:cNvSpPr/>
          <p:nvPr/>
        </p:nvSpPr>
        <p:spPr>
          <a:xfrm rot="5400000">
            <a:off x="8366760" y="3246120"/>
            <a:ext cx="466344" cy="329184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599932" y="3410712"/>
            <a:ext cx="356616" cy="0"/>
          </a:xfrm>
          <a:prstGeom prst="line">
            <a:avLst/>
          </a:prstGeom>
          <a:ln w="1270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8906256" y="3360420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 rot="900000">
            <a:off x="9555480" y="3266236"/>
            <a:ext cx="435254" cy="192024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 rot="20400000">
            <a:off x="9913924" y="3061411"/>
            <a:ext cx="384048" cy="179222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 rot="600000">
            <a:off x="10041940" y="3419856"/>
            <a:ext cx="460857" cy="204825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 rot="20880000">
            <a:off x="10425988" y="3189427"/>
            <a:ext cx="345643" cy="166420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H="1">
            <a:off x="8732520" y="2779776"/>
            <a:ext cx="338328" cy="64008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12471579">
            <a:off x="8682228" y="3369564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9070848" y="2779776"/>
            <a:ext cx="731520" cy="621792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7821872">
            <a:off x="9752076" y="3351276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9070848" y="1490472"/>
            <a:ext cx="576072" cy="338328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3574453">
            <a:off x="9596628" y="1440180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77240" y="5742432"/>
            <a:ext cx="10607040" cy="493776"/>
          </a:xfrm>
          <a:prstGeom prst="roundRect">
            <a:avLst>
              <a:gd name="adj" fmla="val 7000"/>
            </a:avLst>
          </a:prstGeom>
          <a:solidFill>
            <a:srgbClr val="F8EDED"/>
          </a:solidFill>
          <a:ln w="12700">
            <a:solidFill>
              <a:srgbClr val="B4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" y="5806440"/>
            <a:ext cx="10241280" cy="3200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700" b="1">
                <a:solidFill>
                  <a:srgbClr val="B44D4D"/>
                </a:solidFill>
                <a:latin typeface="Arial"/>
              </a:rPr>
              <a:t>Concatenation is not sequence-level mapping.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The thesis: share the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Move the local scene and its observation cameras together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896112"/>
            <a:ext cx="5230368" cy="4956048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4736592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3478A5"/>
                </a:solidFill>
                <a:latin typeface="Arial"/>
              </a:rPr>
              <a:t>Before pose correction</a:t>
            </a:r>
          </a:p>
        </p:txBody>
      </p:sp>
      <p:sp>
        <p:nvSpPr>
          <p:cNvPr id="9" name="Oval 8"/>
          <p:cNvSpPr/>
          <p:nvPr/>
        </p:nvSpPr>
        <p:spPr>
          <a:xfrm>
            <a:off x="2697480" y="1828800"/>
            <a:ext cx="676656" cy="676656"/>
          </a:xfrm>
          <a:prstGeom prst="ellipse">
            <a:avLst/>
          </a:prstGeom>
          <a:solidFill>
            <a:srgbClr val="FBEFE8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938528"/>
            <a:ext cx="67665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C36B31"/>
                </a:solidFill>
                <a:latin typeface="Arial"/>
              </a:rPr>
              <a:t>anchor k</a:t>
            </a:r>
          </a:p>
        </p:txBody>
      </p:sp>
      <p:sp>
        <p:nvSpPr>
          <p:cNvPr id="11" name="Trapezoid 10"/>
          <p:cNvSpPr/>
          <p:nvPr/>
        </p:nvSpPr>
        <p:spPr>
          <a:xfrm rot="5400000">
            <a:off x="1143000" y="3246120"/>
            <a:ext cx="652881" cy="460857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469440" y="3476548"/>
            <a:ext cx="499263" cy="0"/>
          </a:xfrm>
          <a:prstGeom prst="line">
            <a:avLst/>
          </a:prstGeom>
          <a:ln w="1270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1918411" y="342625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900000">
            <a:off x="3456432" y="3339388"/>
            <a:ext cx="590702" cy="260603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20400000">
            <a:off x="3942892" y="3061411"/>
            <a:ext cx="521207" cy="243230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600000">
            <a:off x="4116628" y="3547872"/>
            <a:ext cx="625449" cy="277977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20880000">
            <a:off x="4637836" y="3235147"/>
            <a:ext cx="469087" cy="225856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1755648" y="2487168"/>
            <a:ext cx="1261872" cy="100584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3886496">
            <a:off x="1705356" y="3442715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017520" y="2487168"/>
            <a:ext cx="1097280" cy="100584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7950627">
            <a:off x="4064508" y="3442715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10328"/>
            <a:ext cx="4251960" cy="4572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8323F"/>
                </a:solidFill>
                <a:latin typeface="Arial"/>
              </a:rPr>
              <a:t>camera + local Gaussian map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42432" y="3246120"/>
            <a:ext cx="548640" cy="0"/>
          </a:xfrm>
          <a:prstGeom prst="line">
            <a:avLst/>
          </a:prstGeom>
          <a:ln w="3048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240780" y="3195827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19088" y="896112"/>
            <a:ext cx="5321808" cy="4956048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097280"/>
            <a:ext cx="4809744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68077"/>
                </a:solidFill>
                <a:latin typeface="Arial"/>
              </a:rPr>
              <a:t>After pose correction</a:t>
            </a:r>
          </a:p>
        </p:txBody>
      </p:sp>
      <p:sp>
        <p:nvSpPr>
          <p:cNvPr id="27" name="Oval 26"/>
          <p:cNvSpPr/>
          <p:nvPr/>
        </p:nvSpPr>
        <p:spPr>
          <a:xfrm>
            <a:off x="9601200" y="1600200"/>
            <a:ext cx="676656" cy="676656"/>
          </a:xfrm>
          <a:prstGeom prst="ellipse">
            <a:avLst/>
          </a:prstGeom>
          <a:solidFill>
            <a:srgbClr val="FBEFE8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1709928"/>
            <a:ext cx="67665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C36B31"/>
                </a:solidFill>
                <a:latin typeface="Arial"/>
              </a:rPr>
              <a:t>anchor k'</a:t>
            </a:r>
          </a:p>
        </p:txBody>
      </p:sp>
      <p:sp>
        <p:nvSpPr>
          <p:cNvPr id="29" name="Trapezoid 28"/>
          <p:cNvSpPr/>
          <p:nvPr/>
        </p:nvSpPr>
        <p:spPr>
          <a:xfrm rot="5400000">
            <a:off x="7635240" y="2926080"/>
            <a:ext cx="652881" cy="460857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961680" y="3156508"/>
            <a:ext cx="499263" cy="0"/>
          </a:xfrm>
          <a:prstGeom prst="line">
            <a:avLst/>
          </a:prstGeom>
          <a:ln w="1270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8410651" y="3106216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 rot="900000">
            <a:off x="9802368" y="2873044"/>
            <a:ext cx="590702" cy="260603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20400000">
            <a:off x="10288828" y="2595067"/>
            <a:ext cx="521207" cy="243230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600000">
            <a:off x="10462564" y="3081527"/>
            <a:ext cx="625449" cy="277977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 rot="20880000">
            <a:off x="10983772" y="2768803"/>
            <a:ext cx="469087" cy="225856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8229600" y="2267712"/>
            <a:ext cx="1691640" cy="91440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14496419">
            <a:off x="8179308" y="3131820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9921240" y="2267712"/>
            <a:ext cx="548640" cy="795528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8724463">
            <a:off x="10419588" y="3012948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76288" y="4910328"/>
            <a:ext cx="4370832" cy="4572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8323F"/>
                </a:solidFill>
                <a:latin typeface="Arial"/>
              </a:rPr>
              <a:t>the same relative relation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48840" y="5961888"/>
            <a:ext cx="7909560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31720" y="6035040"/>
            <a:ext cx="754380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700" b="1">
                <a:solidFill>
                  <a:srgbClr val="C36B31"/>
                </a:solidFill>
                <a:latin typeface="Arial"/>
              </a:rPr>
              <a:t>T_WCf^-1 T_WCk = T_CkCf^-1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One theory, three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Each contribution supports the same persistent-map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78992"/>
            <a:ext cx="3182112" cy="4370832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778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" y="1298448"/>
            <a:ext cx="1097280" cy="274320"/>
          </a:xfrm>
          <a:prstGeom prst="roundRect">
            <a:avLst>
              <a:gd name="adj" fmla="val 7000"/>
            </a:avLst>
          </a:prstGeom>
          <a:solidFill>
            <a:srgbClr val="3478A5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07592"/>
            <a:ext cx="987552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83664"/>
            <a:ext cx="2670048" cy="60350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900" b="1">
                <a:solidFill>
                  <a:srgbClr val="18323F"/>
                </a:solidFill>
                <a:latin typeface="Arial"/>
              </a:rPr>
              <a:t>Dense local map</a:t>
            </a:r>
          </a:p>
        </p:txBody>
      </p:sp>
      <p:sp>
        <p:nvSpPr>
          <p:cNvPr id="11" name="Trapezoid 10"/>
          <p:cNvSpPr/>
          <p:nvPr/>
        </p:nvSpPr>
        <p:spPr>
          <a:xfrm rot="5400000">
            <a:off x="996696" y="2834640"/>
            <a:ext cx="466344" cy="329184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229868" y="2999232"/>
            <a:ext cx="356616" cy="0"/>
          </a:xfrm>
          <a:prstGeom prst="line">
            <a:avLst/>
          </a:prstGeom>
          <a:ln w="1270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1536192" y="2948940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900000">
            <a:off x="2039112" y="2976372"/>
            <a:ext cx="388620" cy="171450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20400000">
            <a:off x="2359152" y="2793491"/>
            <a:ext cx="342900" cy="160020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600000">
            <a:off x="2473452" y="3113532"/>
            <a:ext cx="411479" cy="182880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20880000">
            <a:off x="2816352" y="2907791"/>
            <a:ext cx="308610" cy="148590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2633472" cy="58521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One forward pass gives geometry and appearance.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11880" y="3172968"/>
            <a:ext cx="393192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3954780" y="312267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0" y="1078992"/>
            <a:ext cx="3182112" cy="4370832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778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34256" y="1298448"/>
            <a:ext cx="1097280" cy="274320"/>
          </a:xfrm>
          <a:prstGeom prst="roundRect">
            <a:avLst>
              <a:gd name="adj" fmla="val 7000"/>
            </a:avLst>
          </a:prstGeom>
          <a:solidFill>
            <a:srgbClr val="C36B31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307592"/>
            <a:ext cx="987552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ANCHOR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1883664"/>
            <a:ext cx="2670048" cy="60350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900" b="1">
                <a:solidFill>
                  <a:srgbClr val="18323F"/>
                </a:solidFill>
                <a:latin typeface="Arial"/>
              </a:rPr>
              <a:t>Coordinate consistency</a:t>
            </a:r>
          </a:p>
        </p:txBody>
      </p:sp>
      <p:sp>
        <p:nvSpPr>
          <p:cNvPr id="25" name="Oval 24"/>
          <p:cNvSpPr/>
          <p:nvPr/>
        </p:nvSpPr>
        <p:spPr>
          <a:xfrm>
            <a:off x="5376672" y="2761488"/>
            <a:ext cx="658368" cy="658368"/>
          </a:xfrm>
          <a:prstGeom prst="ellipse">
            <a:avLst/>
          </a:prstGeom>
          <a:solidFill>
            <a:srgbClr val="FBEFE8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6672" y="2871216"/>
            <a:ext cx="658368" cy="23774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C36B31"/>
                </a:solidFill>
                <a:latin typeface="Arial"/>
              </a:rPr>
              <a:t>k</a:t>
            </a:r>
          </a:p>
        </p:txBody>
      </p:sp>
      <p:sp>
        <p:nvSpPr>
          <p:cNvPr id="27" name="Trapezoid 26"/>
          <p:cNvSpPr/>
          <p:nvPr/>
        </p:nvSpPr>
        <p:spPr>
          <a:xfrm rot="5400000">
            <a:off x="4773168" y="3675887"/>
            <a:ext cx="388620" cy="274320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967478" y="3813048"/>
            <a:ext cx="297179" cy="0"/>
          </a:xfrm>
          <a:prstGeom prst="line">
            <a:avLst/>
          </a:prstGeom>
          <a:ln w="1270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5214366" y="3762756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 rot="900000">
            <a:off x="5943600" y="3693261"/>
            <a:ext cx="326440" cy="144018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 rot="20400000">
            <a:off x="6212433" y="3539642"/>
            <a:ext cx="288036" cy="134416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 rot="600000">
            <a:off x="6308445" y="3808476"/>
            <a:ext cx="345643" cy="153619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20880000">
            <a:off x="6596481" y="3635654"/>
            <a:ext cx="259232" cy="124815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407408"/>
            <a:ext cx="2633472" cy="58521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Map and supervision follow the pose graph.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0" y="3172968"/>
            <a:ext cx="393192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7658100" y="3122676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18120" y="1078992"/>
            <a:ext cx="3182112" cy="4370832"/>
          </a:xfrm>
          <a:prstGeom prst="roundRect">
            <a:avLst>
              <a:gd name="adj" fmla="val 7000"/>
            </a:avLst>
          </a:prstGeom>
          <a:solidFill>
            <a:srgbClr val="F8EDF3"/>
          </a:solidFill>
          <a:ln w="1778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37576" y="1298448"/>
            <a:ext cx="1097280" cy="274320"/>
          </a:xfrm>
          <a:prstGeom prst="roundRect">
            <a:avLst>
              <a:gd name="adj" fmla="val 7000"/>
            </a:avLst>
          </a:prstGeom>
          <a:solidFill>
            <a:srgbClr val="A14D78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1307592"/>
            <a:ext cx="987552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REFINE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4152" y="1883664"/>
            <a:ext cx="2670048" cy="60350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900" b="1">
                <a:solidFill>
                  <a:srgbClr val="18323F"/>
                </a:solidFill>
                <a:latin typeface="Arial"/>
              </a:rPr>
              <a:t>Sequence evidence</a:t>
            </a:r>
          </a:p>
        </p:txBody>
      </p:sp>
      <p:pic>
        <p:nvPicPr>
          <p:cNvPr id="41" name="Picture 40" descr="before.png"/>
          <p:cNvPicPr>
            <a:picLocks noChangeAspect="1"/>
          </p:cNvPicPr>
          <p:nvPr/>
        </p:nvPicPr>
        <p:blipFill>
          <a:blip r:embed="rId2"/>
          <a:srcRect l="11522" r="11522"/>
          <a:stretch>
            <a:fillRect/>
          </a:stretch>
        </p:blipFill>
        <p:spPr>
          <a:xfrm>
            <a:off x="8165592" y="2788920"/>
            <a:ext cx="1078992" cy="1051560"/>
          </a:xfrm>
          <a:prstGeom prst="rect">
            <a:avLst/>
          </a:prstGeom>
          <a:ln w="10160">
            <a:solidFill>
              <a:srgbClr val="607681"/>
            </a:solidFill>
          </a:ln>
        </p:spPr>
      </p:pic>
      <p:cxnSp>
        <p:nvCxnSpPr>
          <p:cNvPr id="42" name="Connector 41"/>
          <p:cNvCxnSpPr/>
          <p:nvPr/>
        </p:nvCxnSpPr>
        <p:spPr>
          <a:xfrm>
            <a:off x="9317736" y="3310128"/>
            <a:ext cx="274320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5400000">
            <a:off x="9541764" y="3259836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after.png"/>
          <p:cNvPicPr>
            <a:picLocks noChangeAspect="1"/>
          </p:cNvPicPr>
          <p:nvPr/>
        </p:nvPicPr>
        <p:blipFill>
          <a:blip r:embed="rId3"/>
          <a:srcRect l="11522" r="11522"/>
          <a:stretch>
            <a:fillRect/>
          </a:stretch>
        </p:blipFill>
        <p:spPr>
          <a:xfrm>
            <a:off x="9665208" y="2788920"/>
            <a:ext cx="1078992" cy="105156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45" name="TextBox 44"/>
          <p:cNvSpPr txBox="1"/>
          <p:nvPr/>
        </p:nvSpPr>
        <p:spPr>
          <a:xfrm>
            <a:off x="8092440" y="4407408"/>
            <a:ext cx="2633472" cy="58521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Tracked RGB improves appearance without changing poses.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815584"/>
            <a:ext cx="11109960" cy="3840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18323F"/>
                </a:solidFill>
                <a:latin typeface="Arial"/>
              </a:rPr>
              <a:t>The experiments ask whether each step preserves the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Where this work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Prediction-first initialization plus sequence-level SLAM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5394960"/>
            <a:ext cx="9829800" cy="0"/>
          </a:xfrm>
          <a:prstGeom prst="line">
            <a:avLst/>
          </a:prstGeom>
          <a:ln w="19050">
            <a:solidFill>
              <a:srgbClr val="183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771632" y="5394960"/>
            <a:ext cx="274320" cy="0"/>
          </a:xfrm>
          <a:prstGeom prst="line">
            <a:avLst/>
          </a:prstGeom>
          <a:ln w="19050">
            <a:solidFill>
              <a:srgbClr val="183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10995660" y="5344668"/>
            <a:ext cx="100584" cy="100584"/>
          </a:xfrm>
          <a:prstGeom prst="triangle">
            <a:avLst/>
          </a:prstGeom>
          <a:solidFill>
            <a:srgbClr val="183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1097280" y="960120"/>
            <a:ext cx="0" cy="4434840"/>
          </a:xfrm>
          <a:prstGeom prst="line">
            <a:avLst/>
          </a:prstGeom>
          <a:ln w="19050">
            <a:solidFill>
              <a:srgbClr val="183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" y="850392"/>
            <a:ext cx="0" cy="283464"/>
          </a:xfrm>
          <a:prstGeom prst="line">
            <a:avLst/>
          </a:prstGeom>
          <a:ln w="19050">
            <a:solidFill>
              <a:srgbClr val="183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>
            <a:off x="1046988" y="800100"/>
            <a:ext cx="100584" cy="100584"/>
          </a:xfrm>
          <a:prstGeom prst="triangle">
            <a:avLst/>
          </a:prstGeom>
          <a:solidFill>
            <a:srgbClr val="183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504688"/>
            <a:ext cx="384048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607681"/>
                </a:solidFill>
                <a:latin typeface="Arial"/>
              </a:rPr>
              <a:t>OPTIMIZATION-FIRST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5504688"/>
            <a:ext cx="31089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1">
                <a:solidFill>
                  <a:srgbClr val="607681"/>
                </a:solidFill>
                <a:latin typeface="Arial"/>
              </a:rPr>
              <a:t>PREDICTION-FIRST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1024128"/>
            <a:ext cx="685800" cy="7498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607681"/>
                </a:solidFill>
                <a:latin typeface="Arial"/>
              </a:rPr>
              <a:t>FULL
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4590288"/>
            <a:ext cx="685800" cy="5943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607681"/>
                </a:solidFill>
                <a:latin typeface="Arial"/>
              </a:rPr>
              <a:t>LOCAL
PAIR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4389120"/>
            <a:ext cx="1572768" cy="502920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39112" y="4462272"/>
            <a:ext cx="1426464" cy="3200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3478A5"/>
                </a:solidFill>
                <a:latin typeface="Arial"/>
              </a:rPr>
              <a:t>MonoGS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474720"/>
            <a:ext cx="1572768" cy="502920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3547872"/>
            <a:ext cx="1426464" cy="3200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3478A5"/>
                </a:solidFill>
                <a:latin typeface="Arial"/>
              </a:rPr>
              <a:t>Photo-SLAM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1874519"/>
            <a:ext cx="1572768" cy="502920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1947672"/>
            <a:ext cx="1426464" cy="3200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C36B31"/>
                </a:solidFill>
                <a:latin typeface="Arial"/>
              </a:rPr>
              <a:t>Splat-SLAM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331720"/>
            <a:ext cx="1572768" cy="502920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2404872"/>
            <a:ext cx="1426464" cy="3200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C36B31"/>
                </a:solidFill>
                <a:latin typeface="Arial"/>
              </a:rPr>
              <a:t>SEGS-SLAM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4572000"/>
            <a:ext cx="1572768" cy="502920"/>
          </a:xfrm>
          <a:prstGeom prst="roundRect">
            <a:avLst>
              <a:gd name="adj" fmla="val 7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7112" y="4645152"/>
            <a:ext cx="1426464" cy="3200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A14D78"/>
                </a:solidFill>
                <a:latin typeface="Arial"/>
              </a:rPr>
              <a:t>Splatt3R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1572768"/>
            <a:ext cx="1572768" cy="502920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1645920"/>
            <a:ext cx="1426464" cy="3200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68077"/>
                </a:solidFill>
                <a:latin typeface="Arial"/>
              </a:rPr>
              <a:t>Splatt3R-SLAM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2249424"/>
            <a:ext cx="1481328" cy="5029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68077"/>
                </a:solidFill>
                <a:latin typeface="Arial"/>
              </a:rPr>
              <a:t>shared anchors
+ refinement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927848" y="1920240"/>
            <a:ext cx="438912" cy="41148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2810857">
            <a:off x="8316468" y="1869948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938528" y="5943600"/>
            <a:ext cx="8430768" cy="384048"/>
          </a:xfrm>
          <a:prstGeom prst="roundRect">
            <a:avLst>
              <a:gd name="adj" fmla="val 7000"/>
            </a:avLst>
          </a:prstGeom>
          <a:solidFill>
            <a:srgbClr val="F7F9FA"/>
          </a:solidFill>
          <a:ln w="1270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5998464"/>
            <a:ext cx="8193024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607681"/>
                </a:solidFill>
                <a:latin typeface="Arial"/>
              </a:rPr>
              <a:t>Positioning diagram only. Quantitative ranking requires a common protocol.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2000" y="439020"/>
            <a:ext cx="1274335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(a) 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2000" y="803967"/>
            <a:ext cx="1385217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Ch. 2 · Eq. (2.7)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3199" y="439020"/>
            <a:ext cx="1273890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(b)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3199" y="803967"/>
            <a:ext cx="1828046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Ch. 4 · Eqs. (4.1–4.3)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9954" y="439020"/>
            <a:ext cx="1160024" cy="276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2" b="1">
                <a:solidFill>
                  <a:srgbClr val="20282C"/>
                </a:solidFill>
                <a:latin typeface="DejaVu Sans"/>
              </a:rPr>
              <a:t>(c) Refine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9954" y="803967"/>
            <a:ext cx="1385217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Ch. 7 · Eq. (7.1)</a:t>
            </a:r>
          </a:p>
        </p:txBody>
      </p:sp>
      <p:sp>
        <p:nvSpPr>
          <p:cNvPr id="8" name="Freeform 7"/>
          <p:cNvSpPr/>
          <p:nvPr/>
        </p:nvSpPr>
        <p:spPr>
          <a:xfrm>
            <a:off x="372000" y="1114647"/>
            <a:ext cx="11444951" cy="0"/>
          </a:xfrm>
          <a:custGeom>
            <a:avLst/>
            <a:gdLst/>
            <a:ahLst/>
            <a:cxnLst/>
            <a:rect l="l" t="t" r="r" b="b"/>
            <a:pathLst>
              <a:path w="11444951" h="0">
                <a:moveTo>
                  <a:pt x="0" y="0"/>
                </a:moveTo>
                <a:lnTo>
                  <a:pt x="11444951" y="0"/>
                </a:lnTo>
              </a:path>
            </a:pathLst>
          </a:custGeom>
          <a:noFill/>
          <a:ln w="11305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view0_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00" y="1489090"/>
            <a:ext cx="1107050" cy="830287"/>
          </a:xfrm>
          <a:prstGeom prst="rect">
            <a:avLst/>
          </a:prstGeom>
        </p:spPr>
      </p:pic>
      <p:pic>
        <p:nvPicPr>
          <p:cNvPr id="10" name="Picture 9" descr="view1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00" y="2579861"/>
            <a:ext cx="1107050" cy="8302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2202" y="1173798"/>
            <a:ext cx="1014086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Image pair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0016" y="1993775"/>
            <a:ext cx="1530334" cy="1123330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4991" y="2112982"/>
            <a:ext cx="1040385" cy="5104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Shared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0531" y="2803351"/>
            <a:ext cx="809305" cy="2367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59636A"/>
                </a:solidFill>
                <a:latin typeface="DejaVu Sans"/>
              </a:rPr>
              <a:t>Splatt3R</a:t>
            </a:r>
          </a:p>
        </p:txBody>
      </p:sp>
      <p:sp>
        <p:nvSpPr>
          <p:cNvPr id="15" name="Freeform 14"/>
          <p:cNvSpPr/>
          <p:nvPr/>
        </p:nvSpPr>
        <p:spPr>
          <a:xfrm>
            <a:off x="1479051" y="1896094"/>
            <a:ext cx="520965" cy="374444"/>
          </a:xfrm>
          <a:custGeom>
            <a:avLst/>
            <a:gdLst/>
            <a:ahLst/>
            <a:cxnLst/>
            <a:rect l="l" t="t" r="r" b="b"/>
            <a:pathLst>
              <a:path w="520965" h="374444">
                <a:moveTo>
                  <a:pt x="0" y="0"/>
                </a:moveTo>
                <a:lnTo>
                  <a:pt x="276763" y="0"/>
                </a:lnTo>
                <a:lnTo>
                  <a:pt x="276763" y="374444"/>
                </a:lnTo>
                <a:lnTo>
                  <a:pt x="520965" y="374444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79051" y="2986865"/>
            <a:ext cx="520965" cy="0"/>
          </a:xfrm>
          <a:custGeom>
            <a:avLst/>
            <a:gdLst/>
            <a:ahLst/>
            <a:cxnLst/>
            <a:rect l="l" t="t" r="r" b="b"/>
            <a:pathLst>
              <a:path w="520965" h="0">
                <a:moveTo>
                  <a:pt x="0" y="0"/>
                </a:moveTo>
                <a:lnTo>
                  <a:pt x="520965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3199" y="1456530"/>
            <a:ext cx="2686225" cy="65120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9653" y="1656052"/>
            <a:ext cx="2293318" cy="2521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9" b="1">
                <a:solidFill>
                  <a:srgbClr val="20282C"/>
                </a:solidFill>
                <a:latin typeface="DejaVu Sans"/>
              </a:rPr>
              <a:t>Tracker + pose graph</a:t>
            </a:r>
          </a:p>
        </p:txBody>
      </p:sp>
      <p:sp>
        <p:nvSpPr>
          <p:cNvPr id="19" name="Freeform 18"/>
          <p:cNvSpPr/>
          <p:nvPr/>
        </p:nvSpPr>
        <p:spPr>
          <a:xfrm>
            <a:off x="3530351" y="1782133"/>
            <a:ext cx="862848" cy="488405"/>
          </a:xfrm>
          <a:custGeom>
            <a:avLst/>
            <a:gdLst/>
            <a:ahLst/>
            <a:cxnLst/>
            <a:rect l="l" t="t" r="r" b="b"/>
            <a:pathLst>
              <a:path w="862848" h="488405">
                <a:moveTo>
                  <a:pt x="0" y="488405"/>
                </a:moveTo>
                <a:lnTo>
                  <a:pt x="374443" y="488405"/>
                </a:lnTo>
                <a:lnTo>
                  <a:pt x="374443" y="0"/>
                </a:lnTo>
                <a:lnTo>
                  <a:pt x="862848" y="0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2485" y="1422613"/>
            <a:ext cx="912446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376687"/>
                </a:solidFill>
                <a:latin typeface="DejaVu Sans"/>
              </a:rPr>
              <a:t>Geometry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3199" y="2710102"/>
            <a:ext cx="2686225" cy="1514054"/>
          </a:xfrm>
          <a:prstGeom prst="rect">
            <a:avLst/>
          </a:prstGeom>
          <a:solidFill>
            <a:srgbClr val="FFFFFF"/>
          </a:solidFill>
          <a:ln w="15827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3440" y="2326614"/>
            <a:ext cx="156990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Anchor k: T_WCₖ</a:t>
            </a:r>
          </a:p>
        </p:txBody>
      </p:sp>
      <p:sp>
        <p:nvSpPr>
          <p:cNvPr id="23" name="Freeform 22"/>
          <p:cNvSpPr/>
          <p:nvPr/>
        </p:nvSpPr>
        <p:spPr>
          <a:xfrm>
            <a:off x="6786382" y="2107736"/>
            <a:ext cx="0" cy="602366"/>
          </a:xfrm>
          <a:custGeom>
            <a:avLst/>
            <a:gdLst/>
            <a:ahLst/>
            <a:cxnLst/>
            <a:rect l="l" t="t" r="r" b="b"/>
            <a:pathLst>
              <a:path w="0" h="602366">
                <a:moveTo>
                  <a:pt x="0" y="0"/>
                </a:moveTo>
                <a:lnTo>
                  <a:pt x="0" y="602366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20100000">
            <a:off x="4557303" y="3026588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 rot="1200000">
            <a:off x="4744851" y="2943234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20700000">
            <a:off x="4911559" y="3068266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1080000">
            <a:off x="4671915" y="3162039"/>
            <a:ext cx="270901" cy="109402"/>
          </a:xfrm>
          <a:prstGeom prst="ellipse">
            <a:avLst/>
          </a:prstGeom>
          <a:solidFill>
            <a:srgbClr val="FFFFFF"/>
          </a:solidFill>
          <a:ln w="15827">
            <a:solidFill>
              <a:srgbClr val="1675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8849" y="3010381"/>
            <a:ext cx="1255183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Local map Gₖ</a:t>
            </a:r>
          </a:p>
        </p:txBody>
      </p:sp>
      <p:sp>
        <p:nvSpPr>
          <p:cNvPr id="29" name="Freeform 28"/>
          <p:cNvSpPr/>
          <p:nvPr/>
        </p:nvSpPr>
        <p:spPr>
          <a:xfrm>
            <a:off x="4572281" y="3708401"/>
            <a:ext cx="262436" cy="282624"/>
          </a:xfrm>
          <a:custGeom>
            <a:avLst/>
            <a:gdLst/>
            <a:ahLst/>
            <a:cxnLst/>
            <a:rect l="l" t="t" r="r" b="b"/>
            <a:pathLst>
              <a:path w="262436" h="282624">
                <a:moveTo>
                  <a:pt x="0" y="141312"/>
                </a:moveTo>
                <a:lnTo>
                  <a:pt x="262436" y="0"/>
                </a:lnTo>
                <a:lnTo>
                  <a:pt x="262436" y="282624"/>
                </a:lnTo>
                <a:lnTo>
                  <a:pt x="0" y="141312"/>
                </a:lnTo>
              </a:path>
            </a:pathLst>
          </a:custGeom>
          <a:noFill/>
          <a:ln w="18089">
            <a:solidFill>
              <a:srgbClr val="3766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834717" y="3647839"/>
            <a:ext cx="141312" cy="403748"/>
          </a:xfrm>
          <a:custGeom>
            <a:avLst/>
            <a:gdLst/>
            <a:ahLst/>
            <a:cxnLst/>
            <a:rect l="l" t="t" r="r" b="b"/>
            <a:pathLst>
              <a:path w="141312" h="403748">
                <a:moveTo>
                  <a:pt x="0" y="60562"/>
                </a:moveTo>
                <a:lnTo>
                  <a:pt x="141312" y="0"/>
                </a:lnTo>
                <a:lnTo>
                  <a:pt x="141312" y="403748"/>
                </a:lnTo>
                <a:lnTo>
                  <a:pt x="0" y="343186"/>
                </a:lnTo>
              </a:path>
            </a:pathLst>
          </a:custGeom>
          <a:noFill/>
          <a:ln w="13566">
            <a:solidFill>
              <a:srgbClr val="3766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8849" y="3599541"/>
            <a:ext cx="1360071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RGB + relative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8849" y="3892584"/>
            <a:ext cx="1204564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camera pose</a:t>
            </a:r>
          </a:p>
        </p:txBody>
      </p:sp>
      <p:sp>
        <p:nvSpPr>
          <p:cNvPr id="33" name="Freeform 32"/>
          <p:cNvSpPr/>
          <p:nvPr/>
        </p:nvSpPr>
        <p:spPr>
          <a:xfrm>
            <a:off x="3530351" y="2775223"/>
            <a:ext cx="862848" cy="358163"/>
          </a:xfrm>
          <a:custGeom>
            <a:avLst/>
            <a:gdLst/>
            <a:ahLst/>
            <a:cxnLst/>
            <a:rect l="l" t="t" r="r" b="b"/>
            <a:pathLst>
              <a:path w="862848" h="358163">
                <a:moveTo>
                  <a:pt x="0" y="0"/>
                </a:moveTo>
                <a:lnTo>
                  <a:pt x="325603" y="0"/>
                </a:lnTo>
                <a:lnTo>
                  <a:pt x="325603" y="358163"/>
                </a:lnTo>
                <a:lnTo>
                  <a:pt x="862848" y="358163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57347" y="3260733"/>
            <a:ext cx="941275" cy="233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3" b="0">
                <a:solidFill>
                  <a:srgbClr val="167568"/>
                </a:solidFill>
                <a:latin typeface="DejaVu Sans"/>
              </a:rPr>
              <a:t>Gaussians</a:t>
            </a:r>
          </a:p>
        </p:txBody>
      </p:sp>
      <p:sp>
        <p:nvSpPr>
          <p:cNvPr id="35" name="Freeform 34"/>
          <p:cNvSpPr/>
          <p:nvPr/>
        </p:nvSpPr>
        <p:spPr>
          <a:xfrm>
            <a:off x="1479051" y="3231067"/>
            <a:ext cx="2914148" cy="667486"/>
          </a:xfrm>
          <a:custGeom>
            <a:avLst/>
            <a:gdLst/>
            <a:ahLst/>
            <a:cxnLst/>
            <a:rect l="l" t="t" r="r" b="b"/>
            <a:pathLst>
              <a:path w="2914148" h="667486">
                <a:moveTo>
                  <a:pt x="0" y="0"/>
                </a:moveTo>
                <a:lnTo>
                  <a:pt x="162802" y="0"/>
                </a:lnTo>
                <a:lnTo>
                  <a:pt x="162802" y="667486"/>
                </a:lnTo>
                <a:lnTo>
                  <a:pt x="2914148" y="667486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79363" y="3620434"/>
            <a:ext cx="1139081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Tracked RGB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39954" y="2791503"/>
            <a:ext cx="1448933" cy="68376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2815" y="3005768"/>
            <a:ext cx="823211" cy="2552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Render</a:t>
            </a:r>
          </a:p>
        </p:txBody>
      </p:sp>
      <p:sp>
        <p:nvSpPr>
          <p:cNvPr id="39" name="Freeform 38"/>
          <p:cNvSpPr/>
          <p:nvPr/>
        </p:nvSpPr>
        <p:spPr>
          <a:xfrm>
            <a:off x="7079425" y="3133386"/>
            <a:ext cx="960529" cy="0"/>
          </a:xfrm>
          <a:custGeom>
            <a:avLst/>
            <a:gdLst/>
            <a:ahLst/>
            <a:cxnLst/>
            <a:rect l="l" t="t" r="r" b="b"/>
            <a:pathLst>
              <a:path w="960529" h="0">
                <a:moveTo>
                  <a:pt x="0" y="0"/>
                </a:moveTo>
                <a:lnTo>
                  <a:pt x="960529" y="0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39954" y="3817153"/>
            <a:ext cx="1709416" cy="65120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7548" y="4019750"/>
            <a:ext cx="1214228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Sample view</a:t>
            </a:r>
          </a:p>
        </p:txBody>
      </p:sp>
      <p:sp>
        <p:nvSpPr>
          <p:cNvPr id="42" name="Freeform 41"/>
          <p:cNvSpPr/>
          <p:nvPr/>
        </p:nvSpPr>
        <p:spPr>
          <a:xfrm>
            <a:off x="7079425" y="3947394"/>
            <a:ext cx="960529" cy="195362"/>
          </a:xfrm>
          <a:custGeom>
            <a:avLst/>
            <a:gdLst/>
            <a:ahLst/>
            <a:cxnLst/>
            <a:rect l="l" t="t" r="r" b="b"/>
            <a:pathLst>
              <a:path w="960529" h="195362">
                <a:moveTo>
                  <a:pt x="0" y="0"/>
                </a:moveTo>
                <a:lnTo>
                  <a:pt x="504685" y="0"/>
                </a:lnTo>
                <a:lnTo>
                  <a:pt x="504685" y="195362"/>
                </a:lnTo>
                <a:lnTo>
                  <a:pt x="960529" y="195362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8756281" y="3475269"/>
            <a:ext cx="0" cy="341884"/>
          </a:xfrm>
          <a:custGeom>
            <a:avLst/>
            <a:gdLst/>
            <a:ahLst/>
            <a:cxnLst/>
            <a:rect l="l" t="t" r="r" b="b"/>
            <a:pathLst>
              <a:path w="0" h="341884">
                <a:moveTo>
                  <a:pt x="0" y="341884"/>
                </a:moveTo>
                <a:lnTo>
                  <a:pt x="0" y="0"/>
                </a:lnTo>
              </a:path>
            </a:pathLst>
          </a:custGeom>
          <a:noFill/>
          <a:ln w="18089">
            <a:solidFill>
              <a:srgbClr val="37668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35456" y="2791503"/>
            <a:ext cx="1448933" cy="68376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96331" y="3005768"/>
            <a:ext cx="527185" cy="2552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77625" y="3552238"/>
            <a:ext cx="934308" cy="2367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59636A"/>
                </a:solidFill>
                <a:latin typeface="DejaVu Sans"/>
              </a:rPr>
              <a:t>L1 + SSIM</a:t>
            </a:r>
          </a:p>
        </p:txBody>
      </p:sp>
      <p:sp>
        <p:nvSpPr>
          <p:cNvPr id="47" name="Freeform 46"/>
          <p:cNvSpPr/>
          <p:nvPr/>
        </p:nvSpPr>
        <p:spPr>
          <a:xfrm>
            <a:off x="9488888" y="3133386"/>
            <a:ext cx="846568" cy="0"/>
          </a:xfrm>
          <a:custGeom>
            <a:avLst/>
            <a:gdLst/>
            <a:ahLst/>
            <a:cxnLst/>
            <a:rect l="l" t="t" r="r" b="b"/>
            <a:pathLst>
              <a:path w="846568" h="0">
                <a:moveTo>
                  <a:pt x="0" y="0"/>
                </a:moveTo>
                <a:lnTo>
                  <a:pt x="846568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84250" y="2782458"/>
            <a:ext cx="45584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Î</a:t>
            </a:r>
          </a:p>
        </p:txBody>
      </p:sp>
      <p:sp>
        <p:nvSpPr>
          <p:cNvPr id="49" name="Freeform 48"/>
          <p:cNvSpPr/>
          <p:nvPr/>
        </p:nvSpPr>
        <p:spPr>
          <a:xfrm>
            <a:off x="9749371" y="3475269"/>
            <a:ext cx="1921058" cy="667487"/>
          </a:xfrm>
          <a:custGeom>
            <a:avLst/>
            <a:gdLst/>
            <a:ahLst/>
            <a:cxnLst/>
            <a:rect l="l" t="t" r="r" b="b"/>
            <a:pathLst>
              <a:path w="1921058" h="667487">
                <a:moveTo>
                  <a:pt x="0" y="667487"/>
                </a:moveTo>
                <a:lnTo>
                  <a:pt x="1921058" y="667487"/>
                </a:lnTo>
                <a:lnTo>
                  <a:pt x="1921058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47052" y="3791828"/>
            <a:ext cx="455844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35456" y="1456530"/>
            <a:ext cx="1448933" cy="651206"/>
          </a:xfrm>
          <a:prstGeom prst="rect">
            <a:avLst/>
          </a:prstGeom>
          <a:solidFill>
            <a:srgbClr val="FFFFFF"/>
          </a:solidFill>
          <a:ln w="15827">
            <a:solidFill>
              <a:srgbClr val="2028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26202" y="1654515"/>
            <a:ext cx="667442" cy="2552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>
                <a:solidFill>
                  <a:srgbClr val="20282C"/>
                </a:solidFill>
                <a:latin typeface="DejaVu Sans"/>
              </a:rPr>
              <a:t>Adam</a:t>
            </a:r>
          </a:p>
        </p:txBody>
      </p:sp>
      <p:sp>
        <p:nvSpPr>
          <p:cNvPr id="53" name="Freeform 52"/>
          <p:cNvSpPr/>
          <p:nvPr/>
        </p:nvSpPr>
        <p:spPr>
          <a:xfrm>
            <a:off x="11059923" y="2107736"/>
            <a:ext cx="0" cy="683767"/>
          </a:xfrm>
          <a:custGeom>
            <a:avLst/>
            <a:gdLst/>
            <a:ahLst/>
            <a:cxnLst/>
            <a:rect l="l" t="t" r="r" b="b"/>
            <a:pathLst>
              <a:path w="0" h="683767">
                <a:moveTo>
                  <a:pt x="0" y="683767"/>
                </a:moveTo>
                <a:lnTo>
                  <a:pt x="0" y="0"/>
                </a:lnTo>
              </a:path>
            </a:pathLst>
          </a:custGeom>
          <a:noFill/>
          <a:ln w="18089">
            <a:solidFill>
              <a:srgbClr val="20282C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6672" y="2326614"/>
            <a:ext cx="470909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20282C"/>
                </a:solidFill>
                <a:latin typeface="DejaVu Sans"/>
              </a:rPr>
              <a:t>∇θ L</a:t>
            </a:r>
          </a:p>
        </p:txBody>
      </p:sp>
      <p:sp>
        <p:nvSpPr>
          <p:cNvPr id="55" name="Freeform 54"/>
          <p:cNvSpPr/>
          <p:nvPr/>
        </p:nvSpPr>
        <p:spPr>
          <a:xfrm>
            <a:off x="7079425" y="1782133"/>
            <a:ext cx="3256031" cy="1041930"/>
          </a:xfrm>
          <a:custGeom>
            <a:avLst/>
            <a:gdLst/>
            <a:ahLst/>
            <a:cxnLst/>
            <a:rect l="l" t="t" r="r" b="b"/>
            <a:pathLst>
              <a:path w="3256031" h="1041930">
                <a:moveTo>
                  <a:pt x="3256031" y="0"/>
                </a:moveTo>
                <a:lnTo>
                  <a:pt x="407004" y="0"/>
                </a:lnTo>
                <a:lnTo>
                  <a:pt x="407004" y="1041930"/>
                </a:lnTo>
                <a:lnTo>
                  <a:pt x="0" y="1041930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3011" y="1431205"/>
            <a:ext cx="879100" cy="24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4" b="0">
                <a:solidFill>
                  <a:srgbClr val="167568"/>
                </a:solidFill>
                <a:latin typeface="DejaVu Sans"/>
              </a:rPr>
              <a:t>Update θ</a:t>
            </a:r>
          </a:p>
        </p:txBody>
      </p:sp>
      <p:sp>
        <p:nvSpPr>
          <p:cNvPr id="57" name="Freeform 56"/>
          <p:cNvSpPr/>
          <p:nvPr/>
        </p:nvSpPr>
        <p:spPr>
          <a:xfrm>
            <a:off x="372000" y="4680001"/>
            <a:ext cx="11444951" cy="0"/>
          </a:xfrm>
          <a:custGeom>
            <a:avLst/>
            <a:gdLst/>
            <a:ahLst/>
            <a:cxnLst/>
            <a:rect l="l" t="t" r="r" b="b"/>
            <a:pathLst>
              <a:path w="11444951" h="0">
                <a:moveTo>
                  <a:pt x="0" y="0"/>
                </a:moveTo>
                <a:lnTo>
                  <a:pt x="11444951" y="0"/>
                </a:lnTo>
              </a:path>
            </a:pathLst>
          </a:custGeom>
          <a:noFill/>
          <a:ln w="11305">
            <a:solidFill>
              <a:srgbClr val="C5CB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00" y="5021884"/>
            <a:ext cx="1530334" cy="114775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36396" y="4743765"/>
            <a:ext cx="1601544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20282C"/>
                </a:solidFill>
                <a:latin typeface="DejaVu Sans"/>
              </a:rPr>
              <a:t>Before refinement</a:t>
            </a:r>
          </a:p>
        </p:txBody>
      </p:sp>
      <p:pic>
        <p:nvPicPr>
          <p:cNvPr id="60" name="Picture 59" descr="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8903" y="5021884"/>
            <a:ext cx="1530334" cy="1147751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779264" y="4743765"/>
            <a:ext cx="1469612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20282C"/>
                </a:solidFill>
                <a:latin typeface="DejaVu Sans"/>
              </a:rPr>
              <a:t>After refinement</a:t>
            </a:r>
          </a:p>
        </p:txBody>
      </p:sp>
      <p:sp>
        <p:nvSpPr>
          <p:cNvPr id="62" name="Freeform 61"/>
          <p:cNvSpPr/>
          <p:nvPr/>
        </p:nvSpPr>
        <p:spPr>
          <a:xfrm>
            <a:off x="1902335" y="5575410"/>
            <a:ext cx="846568" cy="0"/>
          </a:xfrm>
          <a:custGeom>
            <a:avLst/>
            <a:gdLst/>
            <a:ahLst/>
            <a:cxnLst/>
            <a:rect l="l" t="t" r="r" b="b"/>
            <a:pathLst>
              <a:path w="846568" h="0">
                <a:moveTo>
                  <a:pt x="0" y="0"/>
                </a:moveTo>
                <a:lnTo>
                  <a:pt x="846568" y="0"/>
                </a:lnTo>
              </a:path>
            </a:pathLst>
          </a:custGeom>
          <a:noFill/>
          <a:ln w="18089">
            <a:solidFill>
              <a:srgbClr val="16756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39767" y="4848501"/>
            <a:ext cx="2441797" cy="2490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20282C"/>
                </a:solidFill>
                <a:latin typeface="DejaVu Sans"/>
              </a:rPr>
              <a:t>Shared-anchor relation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767" y="5193730"/>
            <a:ext cx="3549342" cy="3075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20282C"/>
                </a:solidFill>
                <a:latin typeface="DejaVu Sans"/>
              </a:rPr>
              <a:t>T</a:t>
            </a:r>
            <a:r>
              <a:rPr sz="1246" b="0" baseline="-25000">
                <a:solidFill>
                  <a:srgbClr val="20282C"/>
                </a:solidFill>
                <a:latin typeface="DejaVu Sans"/>
              </a:rPr>
              <a:t>WCf</a:t>
            </a:r>
            <a:r>
              <a:rPr sz="1246" b="0" baseline="35000">
                <a:solidFill>
                  <a:srgbClr val="20282C"/>
                </a:solidFill>
                <a:latin typeface="DejaVu Sans"/>
              </a:rPr>
              <a:t>−1</a:t>
            </a:r>
            <a:r>
              <a:rPr sz="1780" b="0">
                <a:solidFill>
                  <a:srgbClr val="20282C"/>
                </a:solidFill>
                <a:latin typeface="DejaVu Sans"/>
              </a:rPr>
              <a:t> T</a:t>
            </a:r>
            <a:r>
              <a:rPr sz="1246" b="0" baseline="-25000">
                <a:solidFill>
                  <a:srgbClr val="20282C"/>
                </a:solidFill>
                <a:latin typeface="DejaVu Sans"/>
              </a:rPr>
              <a:t>WCk</a:t>
            </a:r>
            <a:r>
              <a:rPr sz="1780" b="0">
                <a:solidFill>
                  <a:srgbClr val="20282C"/>
                </a:solidFill>
                <a:latin typeface="DejaVu Sans"/>
              </a:rPr>
              <a:t> = T</a:t>
            </a:r>
            <a:r>
              <a:rPr sz="1246" b="0" baseline="-25000">
                <a:solidFill>
                  <a:srgbClr val="20282C"/>
                </a:solidFill>
                <a:latin typeface="DejaVu Sans"/>
              </a:rPr>
              <a:t>CkCf</a:t>
            </a:r>
            <a:r>
              <a:rPr sz="1246" b="0" baseline="35000">
                <a:solidFill>
                  <a:srgbClr val="20282C"/>
                </a:solidFill>
                <a:latin typeface="DejaVu Sans"/>
              </a:rPr>
              <a:t>−1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767" y="5634561"/>
            <a:ext cx="4541370" cy="23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8" b="0">
                <a:solidFill>
                  <a:srgbClr val="20282C"/>
                </a:solidFill>
                <a:latin typeface="DejaVu Sans"/>
              </a:rPr>
              <a:t>Pose corrections move map and cameras together.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9767" y="5997337"/>
            <a:ext cx="3578746" cy="230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5" b="0">
                <a:solidFill>
                  <a:srgbClr val="59636A"/>
                </a:solidFill>
                <a:latin typeface="DejaVu Sans"/>
              </a:rPr>
              <a:t>Optional initialisation: Chs. 5–6 · Eq. (6.1)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METHOD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Predict: one pass, two lanes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A shared network supports tracking and appearance mapping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9</a:t>
            </a:r>
          </a:p>
        </p:txBody>
      </p:sp>
      <p:pic>
        <p:nvPicPr>
          <p:cNvPr id="7" name="Picture 6" descr="view0_gt.png"/>
          <p:cNvPicPr>
            <a:picLocks noChangeAspect="1"/>
          </p:cNvPicPr>
          <p:nvPr/>
        </p:nvPicPr>
        <p:blipFill>
          <a:blip r:embed="rId2"/>
          <a:srcRect l="312" r="312"/>
          <a:stretch>
            <a:fillRect/>
          </a:stretch>
        </p:blipFill>
        <p:spPr>
          <a:xfrm>
            <a:off x="384048" y="1005840"/>
            <a:ext cx="2423160" cy="1828800"/>
          </a:xfrm>
          <a:prstGeom prst="rect">
            <a:avLst/>
          </a:prstGeom>
          <a:ln w="10160">
            <a:solidFill>
              <a:srgbClr val="3478A5"/>
            </a:solidFill>
          </a:ln>
        </p:spPr>
      </p:pic>
      <p:pic>
        <p:nvPicPr>
          <p:cNvPr id="8" name="Picture 7" descr="view1_gt.png"/>
          <p:cNvPicPr>
            <a:picLocks noChangeAspect="1"/>
          </p:cNvPicPr>
          <p:nvPr/>
        </p:nvPicPr>
        <p:blipFill>
          <a:blip r:embed="rId3"/>
          <a:srcRect l="312" r="312"/>
          <a:stretch>
            <a:fillRect/>
          </a:stretch>
        </p:blipFill>
        <p:spPr>
          <a:xfrm>
            <a:off x="749808" y="2340864"/>
            <a:ext cx="2423160" cy="182880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cxnSp>
        <p:nvCxnSpPr>
          <p:cNvPr id="9" name="Connector 8"/>
          <p:cNvCxnSpPr/>
          <p:nvPr/>
        </p:nvCxnSpPr>
        <p:spPr>
          <a:xfrm>
            <a:off x="3172968" y="2487168"/>
            <a:ext cx="502919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3625595" y="243687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30752" y="1225296"/>
            <a:ext cx="2304288" cy="2523744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298448"/>
            <a:ext cx="208483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Shared predictor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581912"/>
            <a:ext cx="2084832" cy="2112263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Frozen MASt3R encoder + decoder
Gaussian DPT head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1938528"/>
            <a:ext cx="484632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515100" y="188823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080760" y="3017520"/>
            <a:ext cx="484632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6515100" y="2967227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1042415"/>
            <a:ext cx="2167128" cy="1444752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1115568"/>
            <a:ext cx="194767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Geometry 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1399031"/>
            <a:ext cx="1947672" cy="103327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pointmaps
matching 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761488"/>
            <a:ext cx="2167128" cy="1444752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2834640"/>
            <a:ext cx="194767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Gaussian lane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3118104"/>
            <a:ext cx="1947672" cy="103327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mean, scale, rotation
opacity, SH colour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51392" y="1938528"/>
            <a:ext cx="475488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9276588" y="188823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851392" y="3456432"/>
            <a:ext cx="475488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9276588" y="3406139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81744" y="1042415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91472" y="1115568"/>
            <a:ext cx="21122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Tracker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1399031"/>
            <a:ext cx="2112263" cy="103327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pose + keyframes + graph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81744" y="2761488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91472" y="2834640"/>
            <a:ext cx="21122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Local 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2" y="3118104"/>
            <a:ext cx="2112263" cy="103327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one Gaussian per valid pixel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34640" y="4754880"/>
            <a:ext cx="6537960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99232" y="4855464"/>
            <a:ext cx="6217920" cy="4572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18323F"/>
                </a:solidFill>
                <a:latin typeface="Arial"/>
              </a:rPr>
              <a:t>mu_n = x_n + Delta_n     |     Sigma_n = R(q_n) diag(s_n^2) R(q_n)^T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687568"/>
            <a:ext cx="5669280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607681"/>
                </a:solidFill>
                <a:latin typeface="Arial"/>
              </a:rPr>
              <a:t>Paper Sec. III-A / Eq. (1) | Thesis Ch. 2 / Eq. (2.7)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Why the supervision camera shares the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Coordinate control and refinement loop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822960"/>
            <a:ext cx="3337560" cy="2084831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96112"/>
            <a:ext cx="311810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Before a loop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79576"/>
            <a:ext cx="3118104" cy="167335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Local map and camera use keyframe k.
Their relative transform is fixed.</a:t>
            </a:r>
          </a:p>
        </p:txBody>
      </p:sp>
      <p:sp>
        <p:nvSpPr>
          <p:cNvPr id="8" name="Trapezoid 7"/>
          <p:cNvSpPr/>
          <p:nvPr/>
        </p:nvSpPr>
        <p:spPr>
          <a:xfrm rot="5400000">
            <a:off x="786384" y="2029968"/>
            <a:ext cx="435254" cy="307238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04011" y="2183587"/>
            <a:ext cx="332841" cy="0"/>
          </a:xfrm>
          <a:prstGeom prst="line">
            <a:avLst/>
          </a:prstGeom>
          <a:ln w="1270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1286560" y="2133295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900000">
            <a:off x="1892807" y="2115007"/>
            <a:ext cx="419709" cy="185166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20400000">
            <a:off x="2238451" y="1917496"/>
            <a:ext cx="370332" cy="172821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600000">
            <a:off x="2361895" y="2263139"/>
            <a:ext cx="444398" cy="197510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20880000">
            <a:off x="2732227" y="2040940"/>
            <a:ext cx="333298" cy="160477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325880" y="2212848"/>
            <a:ext cx="594360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1869948" y="216255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23744"/>
            <a:ext cx="2724912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8323F"/>
                </a:solidFill>
                <a:latin typeface="Arial"/>
              </a:rPr>
              <a:t>T_WCf^-1 T_WCk = T_CkCf^-1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67328" y="1847088"/>
            <a:ext cx="393192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4110228" y="1796796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87952" y="822960"/>
            <a:ext cx="3310128" cy="2084831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896112"/>
            <a:ext cx="309067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Pose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179576"/>
            <a:ext cx="3090672" cy="167335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The pose graph changes T_WCk.
The map and camera move together.</a:t>
            </a:r>
          </a:p>
        </p:txBody>
      </p:sp>
      <p:sp>
        <p:nvSpPr>
          <p:cNvPr id="23" name="Trapezoid 22"/>
          <p:cNvSpPr/>
          <p:nvPr/>
        </p:nvSpPr>
        <p:spPr>
          <a:xfrm rot="5400000">
            <a:off x="4681728" y="1856231"/>
            <a:ext cx="435254" cy="307238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899355" y="2009851"/>
            <a:ext cx="332841" cy="0"/>
          </a:xfrm>
          <a:prstGeom prst="line">
            <a:avLst/>
          </a:prstGeom>
          <a:ln w="1270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5181904" y="1959559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900000">
            <a:off x="5742432" y="1831543"/>
            <a:ext cx="419709" cy="185166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20400000">
            <a:off x="6088075" y="1634032"/>
            <a:ext cx="370332" cy="172821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600000">
            <a:off x="6211519" y="1979676"/>
            <a:ext cx="444398" cy="197510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 rot="20880000">
            <a:off x="6581851" y="1757476"/>
            <a:ext cx="333298" cy="160477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2523744"/>
            <a:ext cx="2770632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C36B31"/>
                </a:solidFill>
                <a:latin typeface="Arial"/>
              </a:rPr>
              <a:t>shared anchor: relation preserved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62088" y="1847088"/>
            <a:ext cx="393191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7904988" y="1796796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82712" y="822960"/>
            <a:ext cx="3794760" cy="2084831"/>
          </a:xfrm>
          <a:prstGeom prst="roundRect">
            <a:avLst>
              <a:gd name="adj" fmla="val 8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896112"/>
            <a:ext cx="357530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Controlled 6% scale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1179576"/>
            <a:ext cx="3575304" cy="167335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Fixed world camera: refinement reverses the correction.
Shared anchor: correction remains after about 500 steps.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2286000"/>
            <a:ext cx="3337560" cy="3840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A14D78"/>
                </a:solidFill>
                <a:latin typeface="Arial"/>
              </a:rPr>
              <a:t>Desk + room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273552"/>
            <a:ext cx="31089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68077"/>
                </a:solidFill>
                <a:latin typeface="Arial"/>
              </a:rPr>
              <a:t>REFINEMENT LOOP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sample RGB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304288" y="4224528"/>
            <a:ext cx="246888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2500884" y="4174236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4320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52928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compose pose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636008" y="4224528"/>
            <a:ext cx="246888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4832604" y="4174236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7492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render map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967727" y="4224528"/>
            <a:ext cx="246889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7164324" y="417423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40664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6367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L1 + SSIM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299448" y="4224528"/>
            <a:ext cx="246888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9496044" y="4174236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738359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48087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Adam update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029200"/>
            <a:ext cx="10972800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Only Gaussian scale, rotation, opacity, and DC color receive gradients.</a:t>
            </a:r>
          </a:p>
        </p:txBody>
      </p:sp>
      <p:pic>
        <p:nvPicPr>
          <p:cNvPr id="57" name="Picture 56" descr="before.png"/>
          <p:cNvPicPr>
            <a:picLocks noChangeAspect="1"/>
          </p:cNvPicPr>
          <p:nvPr/>
        </p:nvPicPr>
        <p:blipFill>
          <a:blip r:embed="rId2"/>
          <a:srcRect t="18783" b="18783"/>
          <a:stretch>
            <a:fillRect/>
          </a:stretch>
        </p:blipFill>
        <p:spPr>
          <a:xfrm>
            <a:off x="1938528" y="5486400"/>
            <a:ext cx="2304288" cy="1078992"/>
          </a:xfrm>
          <a:prstGeom prst="rect">
            <a:avLst/>
          </a:prstGeom>
          <a:ln w="10160">
            <a:solidFill>
              <a:srgbClr val="607681"/>
            </a:solidFill>
          </a:ln>
        </p:spPr>
      </p:pic>
      <p:pic>
        <p:nvPicPr>
          <p:cNvPr id="58" name="Picture 57" descr="after.png"/>
          <p:cNvPicPr>
            <a:picLocks noChangeAspect="1"/>
          </p:cNvPicPr>
          <p:nvPr/>
        </p:nvPicPr>
        <p:blipFill>
          <a:blip r:embed="rId3"/>
          <a:srcRect t="18783" b="18783"/>
          <a:stretch>
            <a:fillRect/>
          </a:stretch>
        </p:blipFill>
        <p:spPr>
          <a:xfrm>
            <a:off x="7955279" y="5486400"/>
            <a:ext cx="2304288" cy="1078992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cxnSp>
        <p:nvCxnSpPr>
          <p:cNvPr id="59" name="Connector 58"/>
          <p:cNvCxnSpPr/>
          <p:nvPr/>
        </p:nvCxnSpPr>
        <p:spPr>
          <a:xfrm>
            <a:off x="4325112" y="6025896"/>
            <a:ext cx="3538728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7813548" y="5975604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METHOD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Refine: use the sequence without moving the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The real control loop is sampling, rendering, and Adam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11</a:t>
            </a:r>
          </a:p>
        </p:txBody>
      </p:sp>
      <p:pic>
        <p:nvPicPr>
          <p:cNvPr id="7" name="Picture 6" descr="before.png"/>
          <p:cNvPicPr>
            <a:picLocks noChangeAspect="1"/>
          </p:cNvPicPr>
          <p:nvPr/>
        </p:nvPicPr>
        <p:blipFill>
          <a:blip r:embed="rId2"/>
          <a:srcRect t="1657" b="1657"/>
          <a:stretch>
            <a:fillRect/>
          </a:stretch>
        </p:blipFill>
        <p:spPr>
          <a:xfrm>
            <a:off x="384048" y="960120"/>
            <a:ext cx="3127248" cy="2267712"/>
          </a:xfrm>
          <a:prstGeom prst="rect">
            <a:avLst/>
          </a:prstGeom>
          <a:ln w="10160">
            <a:solidFill>
              <a:srgbClr val="607681"/>
            </a:solidFill>
          </a:ln>
        </p:spPr>
      </p:pic>
      <p:pic>
        <p:nvPicPr>
          <p:cNvPr id="8" name="Picture 7" descr="after.png"/>
          <p:cNvPicPr>
            <a:picLocks noChangeAspect="1"/>
          </p:cNvPicPr>
          <p:nvPr/>
        </p:nvPicPr>
        <p:blipFill>
          <a:blip r:embed="rId3"/>
          <a:srcRect t="1657" b="1657"/>
          <a:stretch>
            <a:fillRect/>
          </a:stretch>
        </p:blipFill>
        <p:spPr>
          <a:xfrm>
            <a:off x="384048" y="3675887"/>
            <a:ext cx="3127248" cy="2267712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93776" y="3282696"/>
            <a:ext cx="2907792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607681"/>
                </a:solidFill>
                <a:latin typeface="Arial"/>
              </a:rPr>
              <a:t>same camera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56816" y="3236976"/>
            <a:ext cx="0" cy="402336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1906524" y="3589020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859536"/>
            <a:ext cx="306324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68077"/>
                </a:solidFill>
                <a:latin typeface="Arial"/>
              </a:rPr>
              <a:t>SUPERVISION POOL</a:t>
            </a:r>
          </a:p>
        </p:txBody>
      </p:sp>
      <p:pic>
        <p:nvPicPr>
          <p:cNvPr id="13" name="Picture 12" descr="view0_gt.png"/>
          <p:cNvPicPr>
            <a:picLocks noChangeAspect="1"/>
          </p:cNvPicPr>
          <p:nvPr/>
        </p:nvPicPr>
        <p:blipFill>
          <a:blip r:embed="rId4"/>
          <a:srcRect t="5696" b="5696"/>
          <a:stretch>
            <a:fillRect/>
          </a:stretch>
        </p:blipFill>
        <p:spPr>
          <a:xfrm>
            <a:off x="3968496" y="1261872"/>
            <a:ext cx="1444752" cy="960120"/>
          </a:xfrm>
          <a:prstGeom prst="rect">
            <a:avLst/>
          </a:prstGeom>
          <a:ln w="10160">
            <a:solidFill>
              <a:srgbClr val="3478A5"/>
            </a:solidFill>
          </a:ln>
        </p:spPr>
      </p:pic>
      <p:pic>
        <p:nvPicPr>
          <p:cNvPr id="14" name="Picture 13" descr="view1_gt.png"/>
          <p:cNvPicPr>
            <a:picLocks noChangeAspect="1"/>
          </p:cNvPicPr>
          <p:nvPr/>
        </p:nvPicPr>
        <p:blipFill>
          <a:blip r:embed="rId5"/>
          <a:srcRect t="5696" b="5696"/>
          <a:stretch>
            <a:fillRect/>
          </a:stretch>
        </p:blipFill>
        <p:spPr>
          <a:xfrm>
            <a:off x="4498848" y="1408175"/>
            <a:ext cx="1444752" cy="9601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pic>
        <p:nvPicPr>
          <p:cNvPr id="15" name="Picture 14" descr="view0_gt.png"/>
          <p:cNvPicPr>
            <a:picLocks noChangeAspect="1"/>
          </p:cNvPicPr>
          <p:nvPr/>
        </p:nvPicPr>
        <p:blipFill>
          <a:blip r:embed="rId4"/>
          <a:srcRect t="5696" b="5696"/>
          <a:stretch>
            <a:fillRect/>
          </a:stretch>
        </p:blipFill>
        <p:spPr>
          <a:xfrm>
            <a:off x="5029200" y="1554480"/>
            <a:ext cx="1444752" cy="960120"/>
          </a:xfrm>
          <a:prstGeom prst="rect">
            <a:avLst/>
          </a:prstGeom>
          <a:ln w="10160">
            <a:solidFill>
              <a:srgbClr val="3478A5"/>
            </a:solidFill>
          </a:ln>
        </p:spPr>
      </p:pic>
      <p:pic>
        <p:nvPicPr>
          <p:cNvPr id="16" name="Picture 15" descr="view1_gt.png"/>
          <p:cNvPicPr>
            <a:picLocks noChangeAspect="1"/>
          </p:cNvPicPr>
          <p:nvPr/>
        </p:nvPicPr>
        <p:blipFill>
          <a:blip r:embed="rId5"/>
          <a:srcRect t="5696" b="5696"/>
          <a:stretch>
            <a:fillRect/>
          </a:stretch>
        </p:blipFill>
        <p:spPr>
          <a:xfrm>
            <a:off x="5559552" y="1700784"/>
            <a:ext cx="1444752" cy="9601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17" name="Rounded Rectangle 16"/>
          <p:cNvSpPr/>
          <p:nvPr/>
        </p:nvSpPr>
        <p:spPr>
          <a:xfrm>
            <a:off x="4096512" y="3035808"/>
            <a:ext cx="2487168" cy="1115568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3108960"/>
            <a:ext cx="226771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Reservoir + recent 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392424"/>
            <a:ext cx="2267712" cy="70408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200 historical | 64 recent
30% recent sampling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11696" y="3593592"/>
            <a:ext cx="438912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100316" y="3543300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2697480"/>
            <a:ext cx="1938528" cy="1810512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2770632"/>
            <a:ext cx="171907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054096"/>
            <a:ext cx="1719072" cy="139903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compose live anchors
render one RGB view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08008" y="3593592"/>
            <a:ext cx="438912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9596628" y="3543300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10928" y="2697480"/>
            <a:ext cx="1938528" cy="1810512"/>
          </a:xfrm>
          <a:prstGeom prst="roundRect">
            <a:avLst>
              <a:gd name="adj" fmla="val 8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0655" y="2770632"/>
            <a:ext cx="171907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Loss + Adam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5" y="3054096"/>
            <a:ext cx="1719072" cy="139903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0.8 L1 + 0.2 D-SSIM
update appearance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0680192" y="1627632"/>
            <a:ext cx="0" cy="1033272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>
            <a:off x="10629900" y="1577340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H="1">
            <a:off x="7040880" y="1627632"/>
            <a:ext cx="3639312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6200000">
            <a:off x="6990588" y="1577340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7728" y="1280160"/>
            <a:ext cx="3794760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A14D78"/>
                </a:solidFill>
                <a:latin typeface="Arial"/>
              </a:rPr>
              <a:t>repeat with another tracked 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77639" y="5047488"/>
            <a:ext cx="7699248" cy="694944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5166360"/>
            <a:ext cx="7242048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C36B31"/>
                </a:solidFill>
                <a:latin typeface="Arial"/>
              </a:rPr>
              <a:t>Gradients update Gaussian appearance. They never update poses or tracking weights.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5925312"/>
            <a:ext cx="612648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607681"/>
                </a:solidFill>
                <a:latin typeface="Arial"/>
              </a:rPr>
              <a:t>Paper Sec. III-C / Eq. (5) | Thesis Ch. 7 / Eq. (7.1)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Improve the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Two optional interventions act before sequence refinement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932688"/>
            <a:ext cx="5413248" cy="5074920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188720"/>
            <a:ext cx="1170432" cy="274320"/>
          </a:xfrm>
          <a:prstGeom prst="roundRect">
            <a:avLst>
              <a:gd name="adj" fmla="val 7000"/>
            </a:avLst>
          </a:prstGeom>
          <a:solidFill>
            <a:srgbClr val="3478A5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197864"/>
            <a:ext cx="1060704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37360"/>
            <a:ext cx="4828032" cy="5029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000" b="1">
                <a:solidFill>
                  <a:srgbClr val="18323F"/>
                </a:solidFill>
                <a:latin typeface="Arial"/>
              </a:rPr>
              <a:t>Head-only adaptation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560320"/>
            <a:ext cx="1609344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633472"/>
            <a:ext cx="138988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Frozen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16936"/>
            <a:ext cx="1389888" cy="72237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encoder
decoder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70048" y="3127248"/>
            <a:ext cx="384048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3003803" y="307695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27248" y="2560320"/>
            <a:ext cx="1847088" cy="1133856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2633472"/>
            <a:ext cx="162763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Trainable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6976" y="2916936"/>
            <a:ext cx="1627632" cy="72237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Gaussian DPT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60520"/>
            <a:ext cx="4370832" cy="5943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3478A5"/>
                </a:solidFill>
                <a:latin typeface="Arial"/>
              </a:rPr>
              <a:t>Changes pairwise appearance
without changing tracking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102352"/>
            <a:ext cx="4370832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8323F"/>
                </a:solidFill>
                <a:latin typeface="Arial"/>
              </a:rPr>
              <a:t>MSE + 0.25 LPIPS-VGG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932688"/>
            <a:ext cx="5440680" cy="5074920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65392" y="1188720"/>
            <a:ext cx="1170432" cy="274320"/>
          </a:xfrm>
          <a:prstGeom prst="roundRect">
            <a:avLst>
              <a:gd name="adj" fmla="val 7000"/>
            </a:avLst>
          </a:prstGeom>
          <a:solidFill>
            <a:srgbClr val="C36B31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5" y="1197864"/>
            <a:ext cx="1060704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INSERTION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1737360"/>
            <a:ext cx="4828032" cy="5029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000" b="1">
                <a:solidFill>
                  <a:srgbClr val="18323F"/>
                </a:solidFill>
                <a:latin typeface="Arial"/>
              </a:rPr>
              <a:t>Opacity attenuation</a:t>
            </a:r>
          </a:p>
        </p:txBody>
      </p:sp>
      <p:sp>
        <p:nvSpPr>
          <p:cNvPr id="25" name="Oval 24"/>
          <p:cNvSpPr/>
          <p:nvPr/>
        </p:nvSpPr>
        <p:spPr>
          <a:xfrm rot="900000">
            <a:off x="6839712" y="2980944"/>
            <a:ext cx="621792" cy="274320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20400000">
            <a:off x="7351776" y="2688336"/>
            <a:ext cx="548640" cy="256032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600000">
            <a:off x="7534656" y="3200400"/>
            <a:ext cx="658368" cy="292608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20880000">
            <a:off x="8083296" y="2871215"/>
            <a:ext cx="493776" cy="237744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668512" y="3063240"/>
            <a:ext cx="548640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9166860" y="3012948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 rot="900000">
            <a:off x="9418320" y="2873959"/>
            <a:ext cx="419709" cy="185166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 rot="20400000">
            <a:off x="9763963" y="2676448"/>
            <a:ext cx="370332" cy="172821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600000">
            <a:off x="9887407" y="3022091"/>
            <a:ext cx="444398" cy="197510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20880000">
            <a:off x="10257739" y="2799892"/>
            <a:ext cx="333298" cy="160477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4050791"/>
            <a:ext cx="4828032" cy="6583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C36B31"/>
                </a:solidFill>
                <a:latin typeface="Arial"/>
              </a:rPr>
              <a:t>Lower initial opacity
for low-confidence predictions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001768"/>
            <a:ext cx="4828032" cy="49377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18323F"/>
                </a:solidFill>
                <a:latin typeface="Arial"/>
              </a:rPr>
              <a:t>alpha' = alpha clip(1 - 2 lambda (1 - rank), 0.1, 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6181344"/>
            <a:ext cx="1019556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607681"/>
                </a:solidFill>
                <a:latin typeface="Arial"/>
              </a:rPr>
              <a:t>External baseline comparison: released head, attenuation 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Every claim has a matching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The evaluation follows the theory, not a list of unrelated scores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41248"/>
            <a:ext cx="2926080" cy="274320"/>
          </a:xfrm>
          <a:prstGeom prst="roundRect">
            <a:avLst>
              <a:gd name="adj" fmla="val 7000"/>
            </a:avLst>
          </a:prstGeom>
          <a:solidFill>
            <a:srgbClr val="3478A5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850392"/>
            <a:ext cx="2816352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8768" y="841248"/>
            <a:ext cx="2926080" cy="274320"/>
          </a:xfrm>
          <a:prstGeom prst="roundRect">
            <a:avLst>
              <a:gd name="adj" fmla="val 7000"/>
            </a:avLst>
          </a:prstGeom>
          <a:solidFill>
            <a:srgbClr val="C36B31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1" y="850392"/>
            <a:ext cx="2816352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841248"/>
            <a:ext cx="2926080" cy="274320"/>
          </a:xfrm>
          <a:prstGeom prst="roundRect">
            <a:avLst>
              <a:gd name="adj" fmla="val 7000"/>
            </a:avLst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4656" y="850392"/>
            <a:ext cx="2816352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335024"/>
            <a:ext cx="3154680" cy="850392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435608"/>
            <a:ext cx="289864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Shared anchors preserve relations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8768" y="1335024"/>
            <a:ext cx="3291840" cy="850392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6783" y="1435608"/>
            <a:ext cx="303580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6% block pose correction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79792" y="1335024"/>
            <a:ext cx="4297680" cy="850392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8" y="1435608"/>
            <a:ext cx="404164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correction survives refinement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66160" y="1755648"/>
            <a:ext cx="246888" cy="0"/>
          </a:xfrm>
          <a:prstGeom prst="line">
            <a:avLst/>
          </a:prstGeom>
          <a:ln w="20320">
            <a:solidFill>
              <a:srgbClr val="60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3762756" y="1705356"/>
            <a:ext cx="100584" cy="100584"/>
          </a:xfrm>
          <a:prstGeom prst="triangle">
            <a:avLst/>
          </a:prstGeom>
          <a:solidFill>
            <a:srgbClr val="607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78040" y="1755648"/>
            <a:ext cx="256032" cy="0"/>
          </a:xfrm>
          <a:prstGeom prst="line">
            <a:avLst/>
          </a:prstGeom>
          <a:ln w="20320">
            <a:solidFill>
              <a:srgbClr val="60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7383780" y="1705356"/>
            <a:ext cx="100584" cy="100584"/>
          </a:xfrm>
          <a:prstGeom prst="triangle">
            <a:avLst/>
          </a:prstGeom>
          <a:solidFill>
            <a:srgbClr val="607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4048" y="2523744"/>
            <a:ext cx="3154680" cy="850392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624327"/>
            <a:ext cx="289864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Refinement stays downstream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58768" y="2523744"/>
            <a:ext cx="3291840" cy="850392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6783" y="2624327"/>
            <a:ext cx="303580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refiner on/off + 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9792" y="2523744"/>
            <a:ext cx="4297680" cy="850392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624327"/>
            <a:ext cx="404164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1.00-8.69 dB; ATE unchanged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66160" y="2944368"/>
            <a:ext cx="246888" cy="0"/>
          </a:xfrm>
          <a:prstGeom prst="line">
            <a:avLst/>
          </a:prstGeom>
          <a:ln w="20320">
            <a:solidFill>
              <a:srgbClr val="60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3762756" y="2894075"/>
            <a:ext cx="100584" cy="100584"/>
          </a:xfrm>
          <a:prstGeom prst="triangle">
            <a:avLst/>
          </a:prstGeom>
          <a:solidFill>
            <a:srgbClr val="607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178040" y="2944368"/>
            <a:ext cx="256032" cy="0"/>
          </a:xfrm>
          <a:prstGeom prst="line">
            <a:avLst/>
          </a:prstGeom>
          <a:ln w="20320">
            <a:solidFill>
              <a:srgbClr val="60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7383780" y="2894075"/>
            <a:ext cx="100584" cy="100584"/>
          </a:xfrm>
          <a:prstGeom prst="triangle">
            <a:avLst/>
          </a:prstGeom>
          <a:solidFill>
            <a:srgbClr val="607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4048" y="3712464"/>
            <a:ext cx="3154680" cy="850392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3813048"/>
            <a:ext cx="289864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Initialization matters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58768" y="3712464"/>
            <a:ext cx="3291840" cy="850392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86783" y="3813048"/>
            <a:ext cx="303580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head + 12 thinning cells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9792" y="3712464"/>
            <a:ext cx="4297680" cy="850392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3813048"/>
            <a:ext cx="404164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10/12 LPIPS gains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66160" y="4133088"/>
            <a:ext cx="246888" cy="0"/>
          </a:xfrm>
          <a:prstGeom prst="line">
            <a:avLst/>
          </a:prstGeom>
          <a:ln w="20320">
            <a:solidFill>
              <a:srgbClr val="60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3762756" y="4082796"/>
            <a:ext cx="100584" cy="100584"/>
          </a:xfrm>
          <a:prstGeom prst="triangle">
            <a:avLst/>
          </a:prstGeom>
          <a:solidFill>
            <a:srgbClr val="607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178040" y="4133088"/>
            <a:ext cx="256032" cy="0"/>
          </a:xfrm>
          <a:prstGeom prst="line">
            <a:avLst/>
          </a:prstGeom>
          <a:ln w="20320">
            <a:solidFill>
              <a:srgbClr val="60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7383780" y="4082796"/>
            <a:ext cx="100584" cy="100584"/>
          </a:xfrm>
          <a:prstGeom prst="triangle">
            <a:avLst/>
          </a:prstGeom>
          <a:solidFill>
            <a:srgbClr val="607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84048" y="4901184"/>
            <a:ext cx="3154680" cy="850392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" y="5001768"/>
            <a:ext cx="289864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The full system improves maps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58768" y="4901184"/>
            <a:ext cx="3291840" cy="850392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86783" y="5001768"/>
            <a:ext cx="303580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8323F"/>
                </a:solidFill>
                <a:latin typeface="Arial"/>
              </a:rPr>
              <a:t>common renderer + common cameras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79792" y="4901184"/>
            <a:ext cx="4297680" cy="850392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7808" y="5001768"/>
            <a:ext cx="4041648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+3.54 dB; 8/8 Replica wins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6160" y="5321808"/>
            <a:ext cx="246888" cy="0"/>
          </a:xfrm>
          <a:prstGeom prst="line">
            <a:avLst/>
          </a:prstGeom>
          <a:ln w="20320">
            <a:solidFill>
              <a:srgbClr val="60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5400000">
            <a:off x="3762756" y="5271516"/>
            <a:ext cx="100584" cy="100584"/>
          </a:xfrm>
          <a:prstGeom prst="triangle">
            <a:avLst/>
          </a:prstGeom>
          <a:solidFill>
            <a:srgbClr val="607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7178040" y="5321808"/>
            <a:ext cx="256032" cy="0"/>
          </a:xfrm>
          <a:prstGeom prst="line">
            <a:avLst/>
          </a:prstGeom>
          <a:ln w="20320">
            <a:solidFill>
              <a:srgbClr val="60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7383780" y="5271516"/>
            <a:ext cx="100584" cy="100584"/>
          </a:xfrm>
          <a:prstGeom prst="triangle">
            <a:avLst/>
          </a:prstGeom>
          <a:solidFill>
            <a:srgbClr val="607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" y="6254496"/>
            <a:ext cx="1101852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607681"/>
                </a:solidFill>
                <a:latin typeface="Arial"/>
              </a:rPr>
              <a:t>RQ1-RQ4 in the thesis use this same chain.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A common renderer makes the comparison meaningful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Same target cameras, resolution, alignment, and metrics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14</a:t>
            </a:r>
          </a:p>
        </p:txBody>
      </p:sp>
      <p:pic>
        <p:nvPicPr>
          <p:cNvPr id="7" name="Picture 6" descr="view0_photo.png"/>
          <p:cNvPicPr>
            <a:picLocks noChangeAspect="1"/>
          </p:cNvPicPr>
          <p:nvPr/>
        </p:nvPicPr>
        <p:blipFill>
          <a:blip r:embed="rId2"/>
          <a:srcRect t="5033" b="5033"/>
          <a:stretch>
            <a:fillRect/>
          </a:stretch>
        </p:blipFill>
        <p:spPr>
          <a:xfrm>
            <a:off x="411480" y="1005840"/>
            <a:ext cx="2331720" cy="1572768"/>
          </a:xfrm>
          <a:prstGeom prst="rect">
            <a:avLst/>
          </a:prstGeom>
          <a:ln w="10160">
            <a:solidFill>
              <a:srgbClr val="3478A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1480" y="2651760"/>
            <a:ext cx="23317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3478A5"/>
                </a:solidFill>
                <a:latin typeface="Arial"/>
              </a:rPr>
              <a:t>Photo-SLAM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81912" y="2999232"/>
            <a:ext cx="6601967" cy="493776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656639">
            <a:off x="8133588" y="3442715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iew0_mono.png"/>
          <p:cNvPicPr>
            <a:picLocks noChangeAspect="1"/>
          </p:cNvPicPr>
          <p:nvPr/>
        </p:nvPicPr>
        <p:blipFill>
          <a:blip r:embed="rId3"/>
          <a:srcRect t="5033" b="5033"/>
          <a:stretch>
            <a:fillRect/>
          </a:stretch>
        </p:blipFill>
        <p:spPr>
          <a:xfrm>
            <a:off x="3063240" y="1005840"/>
            <a:ext cx="2331720" cy="1572768"/>
          </a:xfrm>
          <a:prstGeom prst="rect">
            <a:avLst/>
          </a:prstGeom>
          <a:ln w="10160">
            <a:solidFill>
              <a:srgbClr val="C36B3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063240" y="2651760"/>
            <a:ext cx="23317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C36B31"/>
                </a:solidFill>
                <a:latin typeface="Arial"/>
              </a:rPr>
              <a:t>MonoGS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33672" y="2999232"/>
            <a:ext cx="3950207" cy="493776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827501">
            <a:off x="8133588" y="3442715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fter.png"/>
          <p:cNvPicPr>
            <a:picLocks noChangeAspect="1"/>
          </p:cNvPicPr>
          <p:nvPr/>
        </p:nvPicPr>
        <p:blipFill>
          <a:blip r:embed="rId4"/>
          <a:srcRect t="5033" b="5033"/>
          <a:stretch>
            <a:fillRect/>
          </a:stretch>
        </p:blipFill>
        <p:spPr>
          <a:xfrm>
            <a:off x="5715000" y="1005840"/>
            <a:ext cx="2331720" cy="1572768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715000" y="2651760"/>
            <a:ext cx="23317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68077"/>
                </a:solidFill>
                <a:latin typeface="Arial"/>
              </a:rPr>
              <a:t>Splatt3R-SLAM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85432" y="2999232"/>
            <a:ext cx="1298447" cy="493776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6649254">
            <a:off x="8133588" y="3442715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pezoid 18"/>
          <p:cNvSpPr/>
          <p:nvPr/>
        </p:nvSpPr>
        <p:spPr>
          <a:xfrm rot="5400000">
            <a:off x="8302752" y="3182112"/>
            <a:ext cx="715060" cy="504748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660282" y="3434486"/>
            <a:ext cx="546811" cy="0"/>
          </a:xfrm>
          <a:prstGeom prst="line">
            <a:avLst/>
          </a:prstGeom>
          <a:ln w="1270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9156801" y="3384194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3950208"/>
            <a:ext cx="2423160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A14D78"/>
                </a:solidFill>
                <a:latin typeface="Arial"/>
              </a:rPr>
              <a:t>one GT camera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81728"/>
            <a:ext cx="2468880" cy="1078992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54880"/>
            <a:ext cx="224942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100 frames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5038344"/>
            <a:ext cx="2249424" cy="66751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outside the union of keyframes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4992" y="4681728"/>
            <a:ext cx="2468880" cy="1078992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4754880"/>
            <a:ext cx="224942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Full 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038344"/>
            <a:ext cx="2249424" cy="66751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all exported colour bands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4681728"/>
            <a:ext cx="2468880" cy="1078992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4754880"/>
            <a:ext cx="224942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Same image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5038344"/>
            <a:ext cx="2249424" cy="66751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512x288 or 512x384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4681728"/>
            <a:ext cx="2468880" cy="1078992"/>
          </a:xfrm>
          <a:prstGeom prst="roundRect">
            <a:avLst>
              <a:gd name="adj" fmla="val 8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8007" y="4754880"/>
            <a:ext cx="224942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Same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8007" y="5038344"/>
            <a:ext cx="2249424" cy="66751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PSNR + LPIPS-AlexNet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089904"/>
            <a:ext cx="10789920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18323F"/>
                </a:solidFill>
                <a:latin typeface="Arial"/>
              </a:rPr>
              <a:t>Replica: 8 scenes | TUM desk: 3 renderable systems | TUM: 9-sequence 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State-of-the-art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Replica | all eight scenes | monocular input | common renderer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524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1965960" cy="6419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168077"/>
                </a:solidFill>
                <a:latin typeface="Arial"/>
              </a:rPr>
              <a:t>23.02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630375"/>
            <a:ext cx="1929384" cy="345643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Splatt3R-SLAM mean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914400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524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005840"/>
            <a:ext cx="1965960" cy="6419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C36B31"/>
                </a:solidFill>
                <a:latin typeface="Arial"/>
              </a:rPr>
              <a:t>+3.54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630375"/>
            <a:ext cx="1929384" cy="345643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over Photo-SLAM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914400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524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005840"/>
            <a:ext cx="1965960" cy="6419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3478A5"/>
                </a:solidFill>
                <a:latin typeface="Arial"/>
              </a:rPr>
              <a:t>8 /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1630375"/>
            <a:ext cx="1929384" cy="345643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scene PSNR wins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914400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F8EDF3"/>
          </a:solidFill>
          <a:ln w="1524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005840"/>
            <a:ext cx="1965960" cy="6419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A14D78"/>
                </a:solidFill>
                <a:latin typeface="Arial"/>
              </a:rPr>
              <a:t>5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7" y="1630375"/>
            <a:ext cx="1929384" cy="345643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scene LPIPS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42032"/>
            <a:ext cx="411480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8323F"/>
                </a:solidFill>
                <a:latin typeface="Arial"/>
              </a:rPr>
              <a:t>MEAN PSNR (dB)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26080"/>
            <a:ext cx="1508760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Photo-SLAM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39696" y="2999232"/>
            <a:ext cx="2011680" cy="420623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39696" y="2999232"/>
            <a:ext cx="1451613" cy="420623"/>
          </a:xfrm>
          <a:prstGeom prst="rect">
            <a:avLst/>
          </a:prstGeom>
          <a:solidFill>
            <a:srgbClr val="607681"/>
          </a:solidFill>
          <a:ln w="12700">
            <a:solidFill>
              <a:srgbClr val="607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2926080"/>
            <a:ext cx="530352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607681"/>
                </a:solidFill>
                <a:latin typeface="Arial"/>
              </a:rPr>
              <a:t>19.48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84448"/>
            <a:ext cx="1508760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Splatt3R-SLAM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39696" y="3657600"/>
            <a:ext cx="2011680" cy="420623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39696" y="3657600"/>
            <a:ext cx="1715068" cy="420623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3584448"/>
            <a:ext cx="530352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23.02</a:t>
            </a:r>
          </a:p>
        </p:txBody>
      </p:sp>
      <p:pic>
        <p:nvPicPr>
          <p:cNvPr id="28" name="Picture 27" descr="view0_photo.png"/>
          <p:cNvPicPr>
            <a:picLocks noChangeAspect="1"/>
          </p:cNvPicPr>
          <p:nvPr/>
        </p:nvPicPr>
        <p:blipFill>
          <a:blip r:embed="rId2"/>
          <a:srcRect l="7716" r="7716"/>
          <a:stretch>
            <a:fillRect/>
          </a:stretch>
        </p:blipFill>
        <p:spPr>
          <a:xfrm>
            <a:off x="502920" y="4480560"/>
            <a:ext cx="1993392" cy="1325880"/>
          </a:xfrm>
          <a:prstGeom prst="rect">
            <a:avLst/>
          </a:prstGeom>
          <a:ln w="10160">
            <a:solidFill>
              <a:srgbClr val="607681"/>
            </a:solidFill>
          </a:ln>
        </p:spPr>
      </p:pic>
      <p:pic>
        <p:nvPicPr>
          <p:cNvPr id="29" name="Picture 28" descr="view0_ours.png"/>
          <p:cNvPicPr>
            <a:picLocks noChangeAspect="1"/>
          </p:cNvPicPr>
          <p:nvPr/>
        </p:nvPicPr>
        <p:blipFill>
          <a:blip r:embed="rId3"/>
          <a:srcRect l="7716" r="7716"/>
          <a:stretch>
            <a:fillRect/>
          </a:stretch>
        </p:blipFill>
        <p:spPr>
          <a:xfrm>
            <a:off x="2724912" y="4480560"/>
            <a:ext cx="1993392" cy="132588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502920" y="5870448"/>
            <a:ext cx="1993392" cy="23774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607681"/>
                </a:solidFill>
                <a:latin typeface="Arial"/>
              </a:rPr>
              <a:t>Photo-SLAM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5870448"/>
            <a:ext cx="1993392" cy="23774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168077"/>
                </a:solidFill>
                <a:latin typeface="Arial"/>
              </a:rPr>
              <a:t>Splatt3R-SLAM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2542032"/>
            <a:ext cx="612648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8323F"/>
                </a:solidFill>
                <a:latin typeface="Arial"/>
              </a:rPr>
              <a:t>OURS - PHOTO-SLAM, PER SCENE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2926080"/>
            <a:ext cx="502920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o0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61303" y="2999232"/>
            <a:ext cx="4818888" cy="219456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61303" y="2999232"/>
            <a:ext cx="2596203" cy="219456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35056" y="2926080"/>
            <a:ext cx="530352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+4.11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3346704"/>
            <a:ext cx="502920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o1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61303" y="3419856"/>
            <a:ext cx="4818888" cy="219456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61303" y="3419856"/>
            <a:ext cx="2720817" cy="219456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35056" y="3346704"/>
            <a:ext cx="530352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+4.31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0368" y="3767328"/>
            <a:ext cx="502920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o2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61303" y="3840480"/>
            <a:ext cx="4818888" cy="219456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61303" y="3840480"/>
            <a:ext cx="518749" cy="219456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35056" y="3767328"/>
            <a:ext cx="530352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+0.82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0368" y="4187952"/>
            <a:ext cx="502920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o3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61303" y="4261104"/>
            <a:ext cx="4818888" cy="219456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61303" y="4261104"/>
            <a:ext cx="616271" cy="219456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35056" y="4187952"/>
            <a:ext cx="530352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+0.98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0368" y="4608576"/>
            <a:ext cx="502920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o4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61303" y="4681728"/>
            <a:ext cx="4818888" cy="219456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61303" y="4681728"/>
            <a:ext cx="4552527" cy="219456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35056" y="4608576"/>
            <a:ext cx="530352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+7.21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0368" y="5029200"/>
            <a:ext cx="502920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r0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61303" y="5102352"/>
            <a:ext cx="4818888" cy="219456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861303" y="5102352"/>
            <a:ext cx="4818888" cy="219456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35056" y="5029200"/>
            <a:ext cx="530352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+7.64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0368" y="5449824"/>
            <a:ext cx="502920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r1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61303" y="5522976"/>
            <a:ext cx="4818888" cy="219456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861303" y="5522976"/>
            <a:ext cx="144879" cy="219456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35056" y="5449824"/>
            <a:ext cx="530352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+0.23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0368" y="5870448"/>
            <a:ext cx="502920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r2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61303" y="5943600"/>
            <a:ext cx="4818888" cy="219456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1303" y="5943600"/>
            <a:ext cx="1882064" cy="219456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35056" y="5870448"/>
            <a:ext cx="530352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+2.98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0" y="6291072"/>
            <a:ext cx="5897880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0">
                <a:solidFill>
                  <a:srgbClr val="607681"/>
                </a:solidFill>
                <a:latin typeface="Arial"/>
              </a:rPr>
              <a:t>Smallest margin: room1 +0.23 dB | largest: room0 +7.64 dB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Replica reconstruction across scenes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Four representative scenes | common cameras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31720" y="667512"/>
            <a:ext cx="30175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67512"/>
            <a:ext cx="30175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Photo-SLAM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59" y="667512"/>
            <a:ext cx="30175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68077"/>
                </a:solidFill>
                <a:latin typeface="Arial"/>
              </a:rPr>
              <a:t>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office0</a:t>
            </a:r>
          </a:p>
        </p:txBody>
      </p:sp>
      <p:pic>
        <p:nvPicPr>
          <p:cNvPr id="9" name="Picture 8" descr="view0_gt.png"/>
          <p:cNvPicPr>
            <a:picLocks noChangeAspect="1"/>
          </p:cNvPicPr>
          <p:nvPr/>
        </p:nvPicPr>
        <p:blipFill>
          <a:blip r:embed="rId2"/>
          <a:srcRect t="14983" b="14983"/>
          <a:stretch>
            <a:fillRect/>
          </a:stretch>
        </p:blipFill>
        <p:spPr>
          <a:xfrm>
            <a:off x="2331720" y="987552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0" name="Picture 9" descr="view0_photo.png"/>
          <p:cNvPicPr>
            <a:picLocks noChangeAspect="1"/>
          </p:cNvPicPr>
          <p:nvPr/>
        </p:nvPicPr>
        <p:blipFill>
          <a:blip r:embed="rId3"/>
          <a:srcRect t="14983" b="14983"/>
          <a:stretch>
            <a:fillRect/>
          </a:stretch>
        </p:blipFill>
        <p:spPr>
          <a:xfrm>
            <a:off x="5577840" y="987552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1" name="Picture 10" descr="view0_ours.png"/>
          <p:cNvPicPr>
            <a:picLocks noChangeAspect="1"/>
          </p:cNvPicPr>
          <p:nvPr/>
        </p:nvPicPr>
        <p:blipFill>
          <a:blip r:embed="rId4"/>
          <a:srcRect t="14983" b="14983"/>
          <a:stretch>
            <a:fillRect/>
          </a:stretch>
        </p:blipFill>
        <p:spPr>
          <a:xfrm>
            <a:off x="8823959" y="987552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11480" y="2770632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office2</a:t>
            </a:r>
          </a:p>
        </p:txBody>
      </p:sp>
      <p:pic>
        <p:nvPicPr>
          <p:cNvPr id="13" name="Picture 12" descr="view0_gt.png"/>
          <p:cNvPicPr>
            <a:picLocks noChangeAspect="1"/>
          </p:cNvPicPr>
          <p:nvPr/>
        </p:nvPicPr>
        <p:blipFill>
          <a:blip r:embed="rId5"/>
          <a:srcRect t="14983" b="14983"/>
          <a:stretch>
            <a:fillRect/>
          </a:stretch>
        </p:blipFill>
        <p:spPr>
          <a:xfrm>
            <a:off x="2331720" y="2340864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4" name="Picture 13" descr="view0_photo.png"/>
          <p:cNvPicPr>
            <a:picLocks noChangeAspect="1"/>
          </p:cNvPicPr>
          <p:nvPr/>
        </p:nvPicPr>
        <p:blipFill>
          <a:blip r:embed="rId6"/>
          <a:srcRect t="14983" b="14983"/>
          <a:stretch>
            <a:fillRect/>
          </a:stretch>
        </p:blipFill>
        <p:spPr>
          <a:xfrm>
            <a:off x="5577840" y="2340864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5" name="Picture 14" descr="view0_ours.png"/>
          <p:cNvPicPr>
            <a:picLocks noChangeAspect="1"/>
          </p:cNvPicPr>
          <p:nvPr/>
        </p:nvPicPr>
        <p:blipFill>
          <a:blip r:embed="rId7"/>
          <a:srcRect t="14983" b="14983"/>
          <a:stretch>
            <a:fillRect/>
          </a:stretch>
        </p:blipFill>
        <p:spPr>
          <a:xfrm>
            <a:off x="8823959" y="2340864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11480" y="4123944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room0</a:t>
            </a:r>
          </a:p>
        </p:txBody>
      </p:sp>
      <p:pic>
        <p:nvPicPr>
          <p:cNvPr id="17" name="Picture 16" descr="view0_gt.png"/>
          <p:cNvPicPr>
            <a:picLocks noChangeAspect="1"/>
          </p:cNvPicPr>
          <p:nvPr/>
        </p:nvPicPr>
        <p:blipFill>
          <a:blip r:embed="rId8"/>
          <a:srcRect t="14983" b="14983"/>
          <a:stretch>
            <a:fillRect/>
          </a:stretch>
        </p:blipFill>
        <p:spPr>
          <a:xfrm>
            <a:off x="2331720" y="3694176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8" name="Picture 17" descr="view0_photo.png"/>
          <p:cNvPicPr>
            <a:picLocks noChangeAspect="1"/>
          </p:cNvPicPr>
          <p:nvPr/>
        </p:nvPicPr>
        <p:blipFill>
          <a:blip r:embed="rId9"/>
          <a:srcRect t="14983" b="14983"/>
          <a:stretch>
            <a:fillRect/>
          </a:stretch>
        </p:blipFill>
        <p:spPr>
          <a:xfrm>
            <a:off x="5577840" y="3694176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9" name="Picture 18" descr="view0_ours.png"/>
          <p:cNvPicPr>
            <a:picLocks noChangeAspect="1"/>
          </p:cNvPicPr>
          <p:nvPr/>
        </p:nvPicPr>
        <p:blipFill>
          <a:blip r:embed="rId10"/>
          <a:srcRect t="14983" b="14983"/>
          <a:stretch>
            <a:fillRect/>
          </a:stretch>
        </p:blipFill>
        <p:spPr>
          <a:xfrm>
            <a:off x="8823959" y="3694176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411480" y="5477255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room2</a:t>
            </a:r>
          </a:p>
        </p:txBody>
      </p:sp>
      <p:pic>
        <p:nvPicPr>
          <p:cNvPr id="21" name="Picture 20" descr="view0_gt.png"/>
          <p:cNvPicPr>
            <a:picLocks noChangeAspect="1"/>
          </p:cNvPicPr>
          <p:nvPr/>
        </p:nvPicPr>
        <p:blipFill>
          <a:blip r:embed="rId11"/>
          <a:srcRect t="14983" b="14983"/>
          <a:stretch>
            <a:fillRect/>
          </a:stretch>
        </p:blipFill>
        <p:spPr>
          <a:xfrm>
            <a:off x="2331720" y="5047488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22" name="Picture 21" descr="view0_photo.png"/>
          <p:cNvPicPr>
            <a:picLocks noChangeAspect="1"/>
          </p:cNvPicPr>
          <p:nvPr/>
        </p:nvPicPr>
        <p:blipFill>
          <a:blip r:embed="rId12"/>
          <a:srcRect t="14983" b="14983"/>
          <a:stretch>
            <a:fillRect/>
          </a:stretch>
        </p:blipFill>
        <p:spPr>
          <a:xfrm>
            <a:off x="5577840" y="5047488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23" name="Picture 22" descr="view0_ours.png"/>
          <p:cNvPicPr>
            <a:picLocks noChangeAspect="1"/>
          </p:cNvPicPr>
          <p:nvPr/>
        </p:nvPicPr>
        <p:blipFill>
          <a:blip r:embed="rId13"/>
          <a:srcRect t="14983" b="14983"/>
          <a:stretch>
            <a:fillRect/>
          </a:stretch>
        </p:blipFill>
        <p:spPr>
          <a:xfrm>
            <a:off x="8823959" y="5047488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607681"/>
                </a:solidFill>
                <a:latin typeface="Arial"/>
              </a:rPr>
              <a:t>All images use the same selected camera within each scene.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Qualitative reconstruction at common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Measured renders; identical crops and scales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Ground truth</a:t>
            </a:r>
          </a:p>
        </p:txBody>
      </p:sp>
      <p:pic>
        <p:nvPicPr>
          <p:cNvPr id="6" name="Picture 5" descr="view0_gt.png"/>
          <p:cNvPicPr>
            <a:picLocks noChangeAspect="1"/>
          </p:cNvPicPr>
          <p:nvPr/>
        </p:nvPicPr>
        <p:blipFill>
          <a:blip r:embed="rId2"/>
          <a:srcRect t="11778" b="11778"/>
          <a:stretch>
            <a:fillRect/>
          </a:stretch>
        </p:blipFill>
        <p:spPr>
          <a:xfrm>
            <a:off x="365760" y="1005840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7" name="Picture 6" descr="view0_gt.png"/>
          <p:cNvPicPr>
            <a:picLocks noChangeAspect="1"/>
          </p:cNvPicPr>
          <p:nvPr/>
        </p:nvPicPr>
        <p:blipFill>
          <a:blip r:embed="rId2"/>
          <a:srcRect l="30273" r="26758" t="29167" b="45833"/>
          <a:stretch>
            <a:fillRect/>
          </a:stretch>
        </p:blipFill>
        <p:spPr>
          <a:xfrm>
            <a:off x="365760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8" name="Picture 7" descr="view1_gt.png"/>
          <p:cNvPicPr>
            <a:picLocks noChangeAspect="1"/>
          </p:cNvPicPr>
          <p:nvPr/>
        </p:nvPicPr>
        <p:blipFill>
          <a:blip r:embed="rId3"/>
          <a:srcRect t="11778" b="11778"/>
          <a:stretch>
            <a:fillRect/>
          </a:stretch>
        </p:blipFill>
        <p:spPr>
          <a:xfrm>
            <a:off x="365760" y="3493008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9" name="Picture 8" descr="view1_gt.png"/>
          <p:cNvPicPr>
            <a:picLocks noChangeAspect="1"/>
          </p:cNvPicPr>
          <p:nvPr/>
        </p:nvPicPr>
        <p:blipFill>
          <a:blip r:embed="rId3"/>
          <a:srcRect l="11328" r="45703" t="10417" b="64583"/>
          <a:stretch>
            <a:fillRect/>
          </a:stretch>
        </p:blipFill>
        <p:spPr>
          <a:xfrm>
            <a:off x="365760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273552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Photo-SLAM</a:t>
            </a:r>
          </a:p>
        </p:txBody>
      </p:sp>
      <p:pic>
        <p:nvPicPr>
          <p:cNvPr id="11" name="Picture 10" descr="view0_photo.png"/>
          <p:cNvPicPr>
            <a:picLocks noChangeAspect="1"/>
          </p:cNvPicPr>
          <p:nvPr/>
        </p:nvPicPr>
        <p:blipFill>
          <a:blip r:embed="rId4"/>
          <a:srcRect t="11778" b="11778"/>
          <a:stretch>
            <a:fillRect/>
          </a:stretch>
        </p:blipFill>
        <p:spPr>
          <a:xfrm>
            <a:off x="3273552" y="1005840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2" name="Picture 11" descr="view0_photo.png"/>
          <p:cNvPicPr>
            <a:picLocks noChangeAspect="1"/>
          </p:cNvPicPr>
          <p:nvPr/>
        </p:nvPicPr>
        <p:blipFill>
          <a:blip r:embed="rId4"/>
          <a:srcRect l="30273" r="26758" t="29167" b="45833"/>
          <a:stretch>
            <a:fillRect/>
          </a:stretch>
        </p:blipFill>
        <p:spPr>
          <a:xfrm>
            <a:off x="3273552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13" name="Picture 12" descr="view1_photo.png"/>
          <p:cNvPicPr>
            <a:picLocks noChangeAspect="1"/>
          </p:cNvPicPr>
          <p:nvPr/>
        </p:nvPicPr>
        <p:blipFill>
          <a:blip r:embed="rId5"/>
          <a:srcRect t="11778" b="11778"/>
          <a:stretch>
            <a:fillRect/>
          </a:stretch>
        </p:blipFill>
        <p:spPr>
          <a:xfrm>
            <a:off x="3273552" y="3493008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4" name="Picture 13" descr="view1_photo.png"/>
          <p:cNvPicPr>
            <a:picLocks noChangeAspect="1"/>
          </p:cNvPicPr>
          <p:nvPr/>
        </p:nvPicPr>
        <p:blipFill>
          <a:blip r:embed="rId5"/>
          <a:srcRect l="11328" r="45703" t="10417" b="64583"/>
          <a:stretch>
            <a:fillRect/>
          </a:stretch>
        </p:blipFill>
        <p:spPr>
          <a:xfrm>
            <a:off x="3273552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181344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MonoGS</a:t>
            </a:r>
          </a:p>
        </p:txBody>
      </p:sp>
      <p:pic>
        <p:nvPicPr>
          <p:cNvPr id="16" name="Picture 15" descr="view0_mono.png"/>
          <p:cNvPicPr>
            <a:picLocks noChangeAspect="1"/>
          </p:cNvPicPr>
          <p:nvPr/>
        </p:nvPicPr>
        <p:blipFill>
          <a:blip r:embed="rId6"/>
          <a:srcRect t="11778" b="11778"/>
          <a:stretch>
            <a:fillRect/>
          </a:stretch>
        </p:blipFill>
        <p:spPr>
          <a:xfrm>
            <a:off x="6181344" y="1005840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7" name="Picture 16" descr="view0_mono.png"/>
          <p:cNvPicPr>
            <a:picLocks noChangeAspect="1"/>
          </p:cNvPicPr>
          <p:nvPr/>
        </p:nvPicPr>
        <p:blipFill>
          <a:blip r:embed="rId6"/>
          <a:srcRect l="30273" r="26758" t="29167" b="45833"/>
          <a:stretch>
            <a:fillRect/>
          </a:stretch>
        </p:blipFill>
        <p:spPr>
          <a:xfrm>
            <a:off x="6181344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18" name="Picture 17" descr="view1_mono.png"/>
          <p:cNvPicPr>
            <a:picLocks noChangeAspect="1"/>
          </p:cNvPicPr>
          <p:nvPr/>
        </p:nvPicPr>
        <p:blipFill>
          <a:blip r:embed="rId7"/>
          <a:srcRect t="11778" b="11778"/>
          <a:stretch>
            <a:fillRect/>
          </a:stretch>
        </p:blipFill>
        <p:spPr>
          <a:xfrm>
            <a:off x="6181344" y="3493008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9" name="Picture 18" descr="view1_mono.png"/>
          <p:cNvPicPr>
            <a:picLocks noChangeAspect="1"/>
          </p:cNvPicPr>
          <p:nvPr/>
        </p:nvPicPr>
        <p:blipFill>
          <a:blip r:embed="rId7"/>
          <a:srcRect l="11328" r="45703" t="10417" b="64583"/>
          <a:stretch>
            <a:fillRect/>
          </a:stretch>
        </p:blipFill>
        <p:spPr>
          <a:xfrm>
            <a:off x="6181344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9089136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68077"/>
                </a:solidFill>
                <a:latin typeface="Arial"/>
              </a:rPr>
              <a:t>Ours</a:t>
            </a:r>
          </a:p>
        </p:txBody>
      </p:sp>
      <p:pic>
        <p:nvPicPr>
          <p:cNvPr id="21" name="Picture 20" descr="after.png"/>
          <p:cNvPicPr>
            <a:picLocks noChangeAspect="1"/>
          </p:cNvPicPr>
          <p:nvPr/>
        </p:nvPicPr>
        <p:blipFill>
          <a:blip r:embed="rId8"/>
          <a:srcRect t="11778" b="11778"/>
          <a:stretch>
            <a:fillRect/>
          </a:stretch>
        </p:blipFill>
        <p:spPr>
          <a:xfrm>
            <a:off x="9089136" y="1005840"/>
            <a:ext cx="2743200" cy="1572768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pic>
        <p:nvPicPr>
          <p:cNvPr id="22" name="Picture 21" descr="after.png"/>
          <p:cNvPicPr>
            <a:picLocks noChangeAspect="1"/>
          </p:cNvPicPr>
          <p:nvPr/>
        </p:nvPicPr>
        <p:blipFill>
          <a:blip r:embed="rId8"/>
          <a:srcRect l="30273" r="26758" t="29167" b="45833"/>
          <a:stretch>
            <a:fillRect/>
          </a:stretch>
        </p:blipFill>
        <p:spPr>
          <a:xfrm>
            <a:off x="9089136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23" name="Picture 22" descr="view1_ours.png"/>
          <p:cNvPicPr>
            <a:picLocks noChangeAspect="1"/>
          </p:cNvPicPr>
          <p:nvPr/>
        </p:nvPicPr>
        <p:blipFill>
          <a:blip r:embed="rId9"/>
          <a:srcRect t="11778" b="11778"/>
          <a:stretch>
            <a:fillRect/>
          </a:stretch>
        </p:blipFill>
        <p:spPr>
          <a:xfrm>
            <a:off x="9089136" y="3493008"/>
            <a:ext cx="2743200" cy="1572768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pic>
        <p:nvPicPr>
          <p:cNvPr id="24" name="Picture 23" descr="view1_ours.png"/>
          <p:cNvPicPr>
            <a:picLocks noChangeAspect="1"/>
          </p:cNvPicPr>
          <p:nvPr/>
        </p:nvPicPr>
        <p:blipFill>
          <a:blip r:embed="rId9"/>
          <a:srcRect l="11328" r="45703" t="10417" b="64583"/>
          <a:stretch>
            <a:fillRect/>
          </a:stretch>
        </p:blipFill>
        <p:spPr>
          <a:xfrm>
            <a:off x="9089136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365760" y="5925312"/>
            <a:ext cx="1147572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50" b="0">
                <a:solidFill>
                  <a:srgbClr val="607681"/>
                </a:solidFill>
                <a:latin typeface="Arial"/>
              </a:rPr>
              <a:t>TUM desk: two middle-ranked Ours-minus-MonoGS PSNR 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72784"/>
            <a:ext cx="1147572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C36B31"/>
                </a:solidFill>
                <a:latin typeface="Arial"/>
              </a:rPr>
              <a:t>Orange panels are identical pixel crops across all methods.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Tracking remains the inherited geometric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Nine TUM freiburg1 sequences | Sim(3)-aligned 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553212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8323F"/>
                </a:solidFill>
                <a:latin typeface="Arial"/>
              </a:rPr>
              <a:t>MEAN ATE RMSE (m) - LOWER IS BETTER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508760" cy="51206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9696" y="1399032"/>
            <a:ext cx="3337559" cy="365760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39696" y="1399032"/>
            <a:ext cx="308724" cy="365760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325880"/>
            <a:ext cx="530352" cy="51206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0.030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39112"/>
            <a:ext cx="1508760" cy="51206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MASt3R-SLAM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9696" y="2112264"/>
            <a:ext cx="3337559" cy="365760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39696" y="2112264"/>
            <a:ext cx="313626" cy="365760"/>
          </a:xfrm>
          <a:prstGeom prst="rect">
            <a:avLst/>
          </a:prstGeom>
          <a:solidFill>
            <a:srgbClr val="3478A5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2039112"/>
            <a:ext cx="530352" cy="51206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3478A5"/>
                </a:solidFill>
                <a:latin typeface="Arial"/>
              </a:rPr>
              <a:t>0.030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52344"/>
            <a:ext cx="1508760" cy="51206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VGGT-SLAM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39696" y="2825496"/>
            <a:ext cx="3337559" cy="365760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39696" y="2825496"/>
            <a:ext cx="425643" cy="365760"/>
          </a:xfrm>
          <a:prstGeom prst="rect">
            <a:avLst/>
          </a:prstGeom>
          <a:solidFill>
            <a:srgbClr val="C36B31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2752344"/>
            <a:ext cx="530352" cy="51206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C36B31"/>
                </a:solidFill>
                <a:latin typeface="Arial"/>
              </a:rPr>
              <a:t>0.041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65576"/>
            <a:ext cx="1508760" cy="51206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Photo-SLAM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39696" y="3538728"/>
            <a:ext cx="3337559" cy="365760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39696" y="3538728"/>
            <a:ext cx="1678584" cy="365760"/>
          </a:xfrm>
          <a:prstGeom prst="rect">
            <a:avLst/>
          </a:prstGeom>
          <a:solidFill>
            <a:srgbClr val="A14D78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3465576"/>
            <a:ext cx="530352" cy="51206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A14D78"/>
                </a:solidFill>
                <a:latin typeface="Arial"/>
              </a:rPr>
              <a:t>0.161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78808"/>
            <a:ext cx="1508760" cy="51206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MonoGS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39696" y="4251960"/>
            <a:ext cx="3337559" cy="365760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39696" y="4251960"/>
            <a:ext cx="3058873" cy="365760"/>
          </a:xfrm>
          <a:prstGeom prst="rect">
            <a:avLst/>
          </a:prstGeom>
          <a:solidFill>
            <a:srgbClr val="B44D4D"/>
          </a:solidFill>
          <a:ln w="12700">
            <a:solidFill>
              <a:srgbClr val="B4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4178808"/>
            <a:ext cx="530352" cy="51206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B44D4D"/>
                </a:solidFill>
                <a:latin typeface="Arial"/>
              </a:rPr>
              <a:t>0.293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024128"/>
            <a:ext cx="5212080" cy="1901952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1280160"/>
            <a:ext cx="4700016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168077"/>
                </a:solidFill>
                <a:latin typeface="Arial"/>
              </a:rPr>
              <a:t>What this result proves</a:t>
            </a:r>
          </a:p>
        </p:txBody>
      </p:sp>
      <p:sp>
        <p:nvSpPr>
          <p:cNvPr id="30" name="Oval 29"/>
          <p:cNvSpPr/>
          <p:nvPr/>
        </p:nvSpPr>
        <p:spPr>
          <a:xfrm>
            <a:off x="6903720" y="1965960"/>
            <a:ext cx="100584" cy="100584"/>
          </a:xfrm>
          <a:prstGeom prst="ellips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04888" y="1847088"/>
            <a:ext cx="4233672" cy="45720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8323F"/>
                </a:solidFill>
                <a:latin typeface="Arial"/>
              </a:rPr>
              <a:t>The mapping path does not disturb tracking.</a:t>
            </a:r>
          </a:p>
        </p:txBody>
      </p:sp>
      <p:sp>
        <p:nvSpPr>
          <p:cNvPr id="32" name="Oval 31"/>
          <p:cNvSpPr/>
          <p:nvPr/>
        </p:nvSpPr>
        <p:spPr>
          <a:xfrm>
            <a:off x="6903720" y="2441448"/>
            <a:ext cx="100584" cy="100584"/>
          </a:xfrm>
          <a:prstGeom prst="ellips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04888" y="2322576"/>
            <a:ext cx="4233672" cy="45720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8323F"/>
                </a:solidFill>
                <a:latin typeface="Arial"/>
              </a:rPr>
              <a:t>Ours and MASt3R-SLAM have the same rounded mean.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3273552"/>
            <a:ext cx="5212080" cy="1993392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3511296"/>
            <a:ext cx="4700016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C36B31"/>
                </a:solidFill>
                <a:latin typeface="Arial"/>
              </a:rPr>
              <a:t>What it does not prove</a:t>
            </a:r>
          </a:p>
        </p:txBody>
      </p:sp>
      <p:sp>
        <p:nvSpPr>
          <p:cNvPr id="36" name="Oval 35"/>
          <p:cNvSpPr/>
          <p:nvPr/>
        </p:nvSpPr>
        <p:spPr>
          <a:xfrm>
            <a:off x="6903720" y="4197096"/>
            <a:ext cx="100584" cy="100584"/>
          </a:xfrm>
          <a:prstGeom prst="ellips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04888" y="4078224"/>
            <a:ext cx="4233672" cy="45720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8323F"/>
                </a:solidFill>
                <a:latin typeface="Arial"/>
              </a:rPr>
              <a:t>Tracking is inherited, not a new contribution.</a:t>
            </a:r>
          </a:p>
        </p:txBody>
      </p:sp>
      <p:sp>
        <p:nvSpPr>
          <p:cNvPr id="38" name="Oval 37"/>
          <p:cNvSpPr/>
          <p:nvPr/>
        </p:nvSpPr>
        <p:spPr>
          <a:xfrm>
            <a:off x="6903720" y="4672584"/>
            <a:ext cx="100584" cy="100584"/>
          </a:xfrm>
          <a:prstGeom prst="ellips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04888" y="4553712"/>
            <a:ext cx="4233672" cy="45720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8323F"/>
                </a:solidFill>
                <a:latin typeface="Arial"/>
              </a:rPr>
              <a:t>Single runs can hide system variance.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650992"/>
            <a:ext cx="5120640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8323F"/>
                </a:solidFill>
                <a:latin typeface="Arial"/>
              </a:rPr>
              <a:t>The map improves appearance downstream of pose estimation.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Refinement gives the largest controlled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Same head, same insertion, refiner off versus 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859536"/>
            <a:ext cx="585216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8323F"/>
                </a:solidFill>
                <a:latin typeface="Arial"/>
              </a:rPr>
              <a:t>PSNR GAIN (dB)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508760" cy="5486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ETH3D sofa_1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12264" y="1371600"/>
            <a:ext cx="3474720" cy="402335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12264" y="1371600"/>
            <a:ext cx="3355035" cy="402335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1848" y="1298448"/>
            <a:ext cx="530352" cy="5486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+8.69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01368"/>
            <a:ext cx="1261872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A14D78"/>
                </a:solidFill>
                <a:latin typeface="Arial"/>
              </a:rPr>
              <a:t>LPIPS -58.3%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103120"/>
            <a:ext cx="1508760" cy="5486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Replica office0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12264" y="2176272"/>
            <a:ext cx="3474720" cy="402335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2264" y="2176272"/>
            <a:ext cx="1783689" cy="402335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1848" y="2103120"/>
            <a:ext cx="530352" cy="5486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+4.62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606040"/>
            <a:ext cx="1261872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A14D78"/>
                </a:solidFill>
                <a:latin typeface="Arial"/>
              </a:rPr>
              <a:t>LPIPS -56.8%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2907791"/>
            <a:ext cx="1508760" cy="5486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TUM desk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12264" y="2980944"/>
            <a:ext cx="3474720" cy="402335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12264" y="2980944"/>
            <a:ext cx="1359001" cy="402335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1848" y="2907791"/>
            <a:ext cx="530352" cy="5486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+3.52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410712"/>
            <a:ext cx="1261872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A14D78"/>
                </a:solidFill>
                <a:latin typeface="Arial"/>
              </a:rPr>
              <a:t>LPIPS -27.3%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712464"/>
            <a:ext cx="1508760" cy="5486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EuRoC V1_01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12264" y="3785616"/>
            <a:ext cx="3474720" cy="402335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12264" y="3785616"/>
            <a:ext cx="386080" cy="402335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41848" y="3712464"/>
            <a:ext cx="530352" cy="54864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+1.00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215384"/>
            <a:ext cx="1261872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A14D78"/>
                </a:solidFill>
                <a:latin typeface="Arial"/>
              </a:rPr>
              <a:t>LPIPS -14.5%</a:t>
            </a:r>
          </a:p>
        </p:txBody>
      </p:sp>
      <p:pic>
        <p:nvPicPr>
          <p:cNvPr id="28" name="Picture 27" descr="before.png"/>
          <p:cNvPicPr>
            <a:picLocks noChangeAspect="1"/>
          </p:cNvPicPr>
          <p:nvPr/>
        </p:nvPicPr>
        <p:blipFill>
          <a:blip r:embed="rId2"/>
          <a:srcRect l="4026" r="4026"/>
          <a:stretch>
            <a:fillRect/>
          </a:stretch>
        </p:blipFill>
        <p:spPr>
          <a:xfrm>
            <a:off x="6583680" y="987552"/>
            <a:ext cx="2331720" cy="1901952"/>
          </a:xfrm>
          <a:prstGeom prst="rect">
            <a:avLst/>
          </a:prstGeom>
          <a:ln w="10160">
            <a:solidFill>
              <a:srgbClr val="607681"/>
            </a:solidFill>
          </a:ln>
        </p:spPr>
      </p:pic>
      <p:pic>
        <p:nvPicPr>
          <p:cNvPr id="29" name="Picture 28" descr="after.png"/>
          <p:cNvPicPr>
            <a:picLocks noChangeAspect="1"/>
          </p:cNvPicPr>
          <p:nvPr/>
        </p:nvPicPr>
        <p:blipFill>
          <a:blip r:embed="rId3"/>
          <a:srcRect l="4026" r="4026"/>
          <a:stretch>
            <a:fillRect/>
          </a:stretch>
        </p:blipFill>
        <p:spPr>
          <a:xfrm>
            <a:off x="9235440" y="987552"/>
            <a:ext cx="2331720" cy="1901952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6583680" y="2980944"/>
            <a:ext cx="23317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607681"/>
                </a:solidFill>
                <a:latin typeface="Arial"/>
              </a:rPr>
              <a:t>refiner 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980944"/>
            <a:ext cx="23317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68077"/>
                </a:solidFill>
                <a:latin typeface="Arial"/>
              </a:rPr>
              <a:t>refiner 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685032"/>
            <a:ext cx="4983480" cy="1463040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931920"/>
            <a:ext cx="4434840" cy="3840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3478A5"/>
                </a:solidFill>
                <a:latin typeface="Arial"/>
              </a:rPr>
              <a:t>Why the control is causal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443984"/>
            <a:ext cx="4343400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0">
                <a:solidFill>
                  <a:srgbClr val="18323F"/>
                </a:solidFill>
                <a:latin typeface="Arial"/>
              </a:rPr>
              <a:t>Only the refiner changes.
The tracker and Gaussian head stay fixed.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559552"/>
            <a:ext cx="4983480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168077"/>
                </a:solidFill>
                <a:latin typeface="Arial"/>
              </a:rPr>
              <a:t>Result: sequence observations improve a feed-forward map.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Component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All recorded attenuation cells and refinement controls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94944"/>
            <a:ext cx="557784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Opacity attenuation: relative LPIPS change (%)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32120" y="1097280"/>
            <a:ext cx="0" cy="4709160"/>
          </a:xfrm>
          <a:prstGeom prst="line">
            <a:avLst/>
          </a:prstGeom>
          <a:ln w="12700">
            <a:solidFill>
              <a:srgbClr val="60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8912" y="1143000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o3</a:t>
            </a:r>
          </a:p>
        </p:txBody>
      </p:sp>
      <p:sp>
        <p:nvSpPr>
          <p:cNvPr id="8" name="Rectangle 7"/>
          <p:cNvSpPr/>
          <p:nvPr/>
        </p:nvSpPr>
        <p:spPr>
          <a:xfrm>
            <a:off x="1932127" y="1161288"/>
            <a:ext cx="3599992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65199" y="1143000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517904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0473" y="1536192"/>
            <a:ext cx="3571646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3545" y="1517904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892807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0787" y="1911095"/>
            <a:ext cx="2891332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73859" y="1892807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267712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r0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9290" y="2286000"/>
            <a:ext cx="2522829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2362" y="2267712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-8.9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42615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r1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9525" y="2660903"/>
            <a:ext cx="2012594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2597" y="2642615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-7.1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017520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8577" y="3035808"/>
            <a:ext cx="453542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1649" y="3017520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392424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o0-k.9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9760" y="3410712"/>
            <a:ext cx="1502359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62832" y="3392424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-5.3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3767327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o0-k.6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1884" y="3785615"/>
            <a:ext cx="510235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4956" y="3767327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142231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TUM-rel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17950" y="4160519"/>
            <a:ext cx="1814169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51022" y="4142231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-6.4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517136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TUM-adapt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62041" y="4535423"/>
            <a:ext cx="170078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5113" y="4517136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-0.6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892040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EuRoC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44721" y="4910327"/>
            <a:ext cx="1587398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77793" y="4892040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-5.6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5266944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7S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5285231"/>
            <a:ext cx="45720" cy="182880"/>
          </a:xfrm>
          <a:prstGeom prst="rect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59" y="5266944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800" b="1">
                <a:solidFill>
                  <a:srgbClr val="C36B31"/>
                </a:solidFill>
                <a:latin typeface="Arial"/>
              </a:rPr>
              <a:t>+0.16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694944"/>
            <a:ext cx="5468112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Refiner on vs. off: PSNR gain (dB)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1234440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ETH3D sofa_1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45552" y="1234440"/>
            <a:ext cx="3416838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53830" y="1234440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+8.69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2075688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Replica office0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45552" y="2075688"/>
            <a:ext cx="1816547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53539" y="2075688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+4.62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2916936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TUM desk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5552" y="2916936"/>
            <a:ext cx="1384035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1027" y="2916936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+3.52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3758184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EuRoC V1_01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45552" y="3758184"/>
            <a:ext cx="393192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0183" y="3758184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+1.00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480060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0528" y="4873752"/>
            <a:ext cx="497433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Interpretation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0528" y="5157216"/>
            <a:ext cx="4974336" cy="54864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Refinement gives the largest controlled gain.
Opacity reduction is robust; confidence allocation is not.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199632"/>
            <a:ext cx="1129284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External baseline comparison uses the released head with attenuation off.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RESULTS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Online quality is an iteration-budget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TUM desk causal replay and GPU placement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21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4608576"/>
            <a:ext cx="5760720" cy="0"/>
          </a:xfrm>
          <a:prstGeom prst="line">
            <a:avLst/>
          </a:prstGeom>
          <a:ln w="15240">
            <a:solidFill>
              <a:srgbClr val="183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8" y="1115568"/>
            <a:ext cx="0" cy="3493008"/>
          </a:xfrm>
          <a:prstGeom prst="line">
            <a:avLst/>
          </a:prstGeom>
          <a:ln w="15240">
            <a:solidFill>
              <a:srgbClr val="183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9808" y="4317492"/>
            <a:ext cx="5760720" cy="0"/>
          </a:xfrm>
          <a:prstGeom prst="line">
            <a:avLst/>
          </a:prstGeom>
          <a:ln w="762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6032" y="4198620"/>
            <a:ext cx="411480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0">
                <a:solidFill>
                  <a:srgbClr val="607681"/>
                </a:solidFill>
                <a:latin typeface="Arial"/>
              </a:rPr>
              <a:t>13.5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2862072"/>
            <a:ext cx="5760720" cy="0"/>
          </a:xfrm>
          <a:prstGeom prst="line">
            <a:avLst/>
          </a:prstGeom>
          <a:ln w="762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6032" y="2743200"/>
            <a:ext cx="411480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0">
                <a:solidFill>
                  <a:srgbClr val="607681"/>
                </a:solidFill>
                <a:latin typeface="Arial"/>
              </a:rPr>
              <a:t>14.0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1406651"/>
            <a:ext cx="5760720" cy="0"/>
          </a:xfrm>
          <a:prstGeom prst="line">
            <a:avLst/>
          </a:prstGeom>
          <a:ln w="762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6032" y="1287779"/>
            <a:ext cx="411480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0">
                <a:solidFill>
                  <a:srgbClr val="607681"/>
                </a:solidFill>
                <a:latin typeface="Arial"/>
              </a:rPr>
              <a:t>14.5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" y="4718304"/>
            <a:ext cx="658368" cy="23774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607681"/>
                </a:solidFill>
                <a:latin typeface="Arial"/>
              </a:rP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4718304"/>
            <a:ext cx="658368" cy="23774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607681"/>
                </a:solidFill>
                <a:latin typeface="Arial"/>
              </a:rPr>
              <a:t>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4718304"/>
            <a:ext cx="658368" cy="23774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607681"/>
                </a:solidFill>
                <a:latin typeface="Arial"/>
              </a:rPr>
              <a:t>1000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4718304"/>
            <a:ext cx="658368" cy="23774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607681"/>
                </a:solidFill>
                <a:latin typeface="Arial"/>
              </a:rPr>
              <a:t>3000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49808" y="1715201"/>
            <a:ext cx="1920240" cy="2162754"/>
          </a:xfrm>
          <a:prstGeom prst="line">
            <a:avLst/>
          </a:prstGeom>
          <a:ln w="3048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70048" y="1479423"/>
            <a:ext cx="1920240" cy="235778"/>
          </a:xfrm>
          <a:prstGeom prst="line">
            <a:avLst/>
          </a:prstGeom>
          <a:ln w="3048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90288" y="1479423"/>
            <a:ext cx="1920240" cy="183382"/>
          </a:xfrm>
          <a:prstGeom prst="line">
            <a:avLst/>
          </a:prstGeom>
          <a:ln w="3048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76656" y="3804803"/>
            <a:ext cx="146304" cy="146304"/>
          </a:xfrm>
          <a:prstGeom prst="ellipse">
            <a:avLst/>
          </a:prstGeom>
          <a:solidFill>
            <a:srgbClr val="168077"/>
          </a:solidFill>
          <a:ln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493907"/>
            <a:ext cx="64008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68077"/>
                </a:solidFill>
                <a:latin typeface="Arial"/>
              </a:rPr>
              <a:t>13.65</a:t>
            </a:r>
          </a:p>
        </p:txBody>
      </p:sp>
      <p:sp>
        <p:nvSpPr>
          <p:cNvPr id="24" name="Oval 23"/>
          <p:cNvSpPr/>
          <p:nvPr/>
        </p:nvSpPr>
        <p:spPr>
          <a:xfrm>
            <a:off x="2596896" y="1642049"/>
            <a:ext cx="146304" cy="146304"/>
          </a:xfrm>
          <a:prstGeom prst="ellipse">
            <a:avLst/>
          </a:prstGeom>
          <a:solidFill>
            <a:srgbClr val="168077"/>
          </a:solidFill>
          <a:ln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50008" y="1331153"/>
            <a:ext cx="64008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68077"/>
                </a:solidFill>
                <a:latin typeface="Arial"/>
              </a:rPr>
              <a:t>14.39</a:t>
            </a:r>
          </a:p>
        </p:txBody>
      </p:sp>
      <p:sp>
        <p:nvSpPr>
          <p:cNvPr id="26" name="Oval 25"/>
          <p:cNvSpPr/>
          <p:nvPr/>
        </p:nvSpPr>
        <p:spPr>
          <a:xfrm>
            <a:off x="4517136" y="1406271"/>
            <a:ext cx="146304" cy="146304"/>
          </a:xfrm>
          <a:prstGeom prst="ellipse">
            <a:avLst/>
          </a:prstGeom>
          <a:solidFill>
            <a:srgbClr val="168077"/>
          </a:solidFill>
          <a:ln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1095375"/>
            <a:ext cx="64008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68077"/>
                </a:solidFill>
                <a:latin typeface="Arial"/>
              </a:rPr>
              <a:t>14.47</a:t>
            </a:r>
          </a:p>
        </p:txBody>
      </p:sp>
      <p:sp>
        <p:nvSpPr>
          <p:cNvPr id="28" name="Oval 27"/>
          <p:cNvSpPr/>
          <p:nvPr/>
        </p:nvSpPr>
        <p:spPr>
          <a:xfrm>
            <a:off x="6437376" y="1589653"/>
            <a:ext cx="146304" cy="146304"/>
          </a:xfrm>
          <a:prstGeom prst="ellipse">
            <a:avLst/>
          </a:prstGeom>
          <a:solidFill>
            <a:srgbClr val="168077"/>
          </a:solidFill>
          <a:ln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1278757"/>
            <a:ext cx="64008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68077"/>
                </a:solidFill>
                <a:latin typeface="Arial"/>
              </a:rPr>
              <a:t>14.41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49808" y="1924781"/>
            <a:ext cx="1920240" cy="1519458"/>
          </a:xfrm>
          <a:prstGeom prst="line">
            <a:avLst/>
          </a:prstGeom>
          <a:ln w="3048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670048" y="1837456"/>
            <a:ext cx="1920240" cy="87325"/>
          </a:xfrm>
          <a:prstGeom prst="line">
            <a:avLst/>
          </a:prstGeom>
          <a:ln w="3048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590288" y="1770506"/>
            <a:ext cx="1920240" cy="66950"/>
          </a:xfrm>
          <a:prstGeom prst="line">
            <a:avLst/>
          </a:prstGeom>
          <a:ln w="3048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76656" y="3371087"/>
            <a:ext cx="146304" cy="146304"/>
          </a:xfrm>
          <a:prstGeom prst="ellipse">
            <a:avLst/>
          </a:prstGeom>
          <a:solidFill>
            <a:srgbClr val="C36B31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3060191"/>
            <a:ext cx="64008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C36B31"/>
                </a:solidFill>
                <a:latin typeface="Arial"/>
              </a:rPr>
              <a:t>13.80</a:t>
            </a:r>
          </a:p>
        </p:txBody>
      </p:sp>
      <p:sp>
        <p:nvSpPr>
          <p:cNvPr id="35" name="Oval 34"/>
          <p:cNvSpPr/>
          <p:nvPr/>
        </p:nvSpPr>
        <p:spPr>
          <a:xfrm>
            <a:off x="2596896" y="1851629"/>
            <a:ext cx="146304" cy="146304"/>
          </a:xfrm>
          <a:prstGeom prst="ellipse">
            <a:avLst/>
          </a:prstGeom>
          <a:solidFill>
            <a:srgbClr val="C36B31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1540733"/>
            <a:ext cx="64008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C36B31"/>
                </a:solidFill>
                <a:latin typeface="Arial"/>
              </a:rPr>
              <a:t>14.32</a:t>
            </a:r>
          </a:p>
        </p:txBody>
      </p:sp>
      <p:sp>
        <p:nvSpPr>
          <p:cNvPr id="37" name="Oval 36"/>
          <p:cNvSpPr/>
          <p:nvPr/>
        </p:nvSpPr>
        <p:spPr>
          <a:xfrm>
            <a:off x="4517136" y="1764304"/>
            <a:ext cx="146304" cy="146304"/>
          </a:xfrm>
          <a:prstGeom prst="ellipse">
            <a:avLst/>
          </a:prstGeom>
          <a:solidFill>
            <a:srgbClr val="C36B31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0248" y="1453408"/>
            <a:ext cx="64008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C36B31"/>
                </a:solidFill>
                <a:latin typeface="Arial"/>
              </a:rPr>
              <a:t>14.35</a:t>
            </a:r>
          </a:p>
        </p:txBody>
      </p:sp>
      <p:sp>
        <p:nvSpPr>
          <p:cNvPr id="39" name="Oval 38"/>
          <p:cNvSpPr/>
          <p:nvPr/>
        </p:nvSpPr>
        <p:spPr>
          <a:xfrm>
            <a:off x="6437376" y="1697354"/>
            <a:ext cx="146304" cy="146304"/>
          </a:xfrm>
          <a:prstGeom prst="ellipse">
            <a:avLst/>
          </a:prstGeom>
          <a:solidFill>
            <a:srgbClr val="C36B31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1386458"/>
            <a:ext cx="64008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C36B31"/>
                </a:solidFill>
                <a:latin typeface="Arial"/>
              </a:rPr>
              <a:t>14.38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193792"/>
            <a:ext cx="141732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168077"/>
                </a:solidFill>
                <a:latin typeface="Arial"/>
              </a:rPr>
              <a:t>CAUSAL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5193792"/>
            <a:ext cx="141732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C36B31"/>
                </a:solidFill>
                <a:latin typeface="Arial"/>
              </a:rPr>
              <a:t>POST-HOC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5193792"/>
            <a:ext cx="224028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1">
                <a:solidFill>
                  <a:srgbClr val="607681"/>
                </a:solidFill>
                <a:latin typeface="Arial"/>
              </a:rPr>
              <a:t>iterations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67728" y="1078992"/>
            <a:ext cx="4709160" cy="1865376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1298448"/>
            <a:ext cx="4206240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168077"/>
                </a:solidFill>
                <a:latin typeface="Arial"/>
              </a:rPr>
              <a:t>Second GPU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0920" y="1773936"/>
            <a:ext cx="1591056" cy="841248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524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360" y="1865376"/>
            <a:ext cx="1408176" cy="4374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168077"/>
                </a:solidFill>
                <a:latin typeface="Arial"/>
              </a:rPr>
              <a:t>103 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0648" y="2261859"/>
            <a:ext cx="1371600" cy="235549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tracker p50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37192" y="1773936"/>
            <a:ext cx="1591056" cy="841248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524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28632" y="1865376"/>
            <a:ext cx="1408176" cy="4374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3478A5"/>
                </a:solidFill>
                <a:latin typeface="Arial"/>
              </a:rPr>
              <a:t>+2.15 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19" y="2261859"/>
            <a:ext cx="1371600" cy="235549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causal gain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67728" y="3291840"/>
            <a:ext cx="4709160" cy="1865376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3511296"/>
            <a:ext cx="4206240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C36B31"/>
                </a:solidFill>
                <a:latin typeface="Arial"/>
              </a:rPr>
              <a:t>Shared GPU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60920" y="3986784"/>
            <a:ext cx="1591056" cy="841248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524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52360" y="4078224"/>
            <a:ext cx="1408176" cy="4374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C36B31"/>
                </a:solidFill>
                <a:latin typeface="Arial"/>
              </a:rPr>
              <a:t>206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0648" y="4474707"/>
            <a:ext cx="1371600" cy="235549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tracker p50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37192" y="3986784"/>
            <a:ext cx="1591056" cy="841248"/>
          </a:xfrm>
          <a:prstGeom prst="roundRect">
            <a:avLst>
              <a:gd name="adj" fmla="val 7000"/>
            </a:avLst>
          </a:prstGeom>
          <a:solidFill>
            <a:srgbClr val="F8EDED"/>
          </a:solidFill>
          <a:ln w="15240">
            <a:solidFill>
              <a:srgbClr val="B4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28632" y="4078224"/>
            <a:ext cx="1408176" cy="4374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B44D4D"/>
                </a:solidFill>
                <a:latin typeface="Arial"/>
              </a:rPr>
              <a:t>4.5 fps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46919" y="4474707"/>
            <a:ext cx="1371600" cy="235549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sustained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7728" y="5632704"/>
            <a:ext cx="4709160" cy="4754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8323F"/>
                </a:solidFill>
                <a:latin typeface="Arial"/>
              </a:rPr>
              <a:t>Most of the desk gain appears by about 500 steps.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The quality gain has a clear systems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TUM desk, common host measurements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868680"/>
            <a:ext cx="539496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8323F"/>
                </a:solidFill>
                <a:latin typeface="Arial"/>
              </a:rPr>
              <a:t>PEAK GPU MEMORY (MiB)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508760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Splatt3R-SLAM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2112264" y="1371600"/>
            <a:ext cx="3291840" cy="420623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12264" y="1371600"/>
            <a:ext cx="3147447" cy="420623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8968" y="1298448"/>
            <a:ext cx="530352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21,035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084831"/>
            <a:ext cx="1508760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Photo-SLAM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12264" y="2157984"/>
            <a:ext cx="3291840" cy="420623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2264" y="2157984"/>
            <a:ext cx="192423" cy="420623"/>
          </a:xfrm>
          <a:prstGeom prst="rect">
            <a:avLst/>
          </a:prstGeom>
          <a:solidFill>
            <a:srgbClr val="3478A5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8968" y="2084831"/>
            <a:ext cx="530352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3478A5"/>
                </a:solidFill>
                <a:latin typeface="Arial"/>
              </a:rPr>
              <a:t>1,286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871215"/>
            <a:ext cx="1508760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MonoGS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12264" y="2944368"/>
            <a:ext cx="3291840" cy="420623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12264" y="2944368"/>
            <a:ext cx="357463" cy="420623"/>
          </a:xfrm>
          <a:prstGeom prst="rect">
            <a:avLst/>
          </a:prstGeom>
          <a:solidFill>
            <a:srgbClr val="C36B31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2871215"/>
            <a:ext cx="530352" cy="56692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C36B31"/>
                </a:solidFill>
                <a:latin typeface="Arial"/>
              </a:rPr>
              <a:t>2,389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931920"/>
            <a:ext cx="539496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8323F"/>
                </a:solidFill>
                <a:latin typeface="Arial"/>
              </a:rPr>
              <a:t>EXPORTED PRIMITIVES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315968"/>
            <a:ext cx="1508760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Splatt3R-SLAM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12264" y="4389120"/>
            <a:ext cx="3291840" cy="292607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12264" y="4389120"/>
            <a:ext cx="3287588" cy="292607"/>
          </a:xfrm>
          <a:prstGeom prst="rect">
            <a:avLst/>
          </a:prstGeom>
          <a:solidFill>
            <a:srgbClr val="168077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4315968"/>
            <a:ext cx="530352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68077"/>
                </a:solidFill>
                <a:latin typeface="Arial"/>
              </a:rPr>
              <a:t>2397k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901183"/>
            <a:ext cx="1508760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Photo-SLAM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12264" y="4974336"/>
            <a:ext cx="3291840" cy="292607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12264" y="4974336"/>
            <a:ext cx="49472" cy="292607"/>
          </a:xfrm>
          <a:prstGeom prst="rect">
            <a:avLst/>
          </a:prstGeom>
          <a:solidFill>
            <a:srgbClr val="3478A5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58968" y="4901183"/>
            <a:ext cx="530352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3478A5"/>
                </a:solidFill>
                <a:latin typeface="Arial"/>
              </a:rPr>
              <a:t>36k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5486400"/>
            <a:ext cx="1508760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18323F"/>
                </a:solidFill>
                <a:latin typeface="Arial"/>
              </a:rPr>
              <a:t>MonoGS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12264" y="5559552"/>
            <a:ext cx="3291840" cy="292607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12264" y="5559552"/>
            <a:ext cx="36576" cy="292607"/>
          </a:xfrm>
          <a:prstGeom prst="rect">
            <a:avLst/>
          </a:prstGeom>
          <a:solidFill>
            <a:srgbClr val="C36B31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58968" y="5486400"/>
            <a:ext cx="530352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50" b="1">
                <a:solidFill>
                  <a:srgbClr val="C36B31"/>
                </a:solidFill>
                <a:latin typeface="Arial"/>
              </a:rPr>
              <a:t>23k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932688"/>
            <a:ext cx="5230368" cy="5010912"/>
          </a:xfrm>
          <a:prstGeom prst="roundRect">
            <a:avLst>
              <a:gd name="adj" fmla="val 7000"/>
            </a:avLst>
          </a:prstGeom>
          <a:solidFill>
            <a:srgbClr val="F7F9FA"/>
          </a:solidFill>
          <a:ln w="1270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1170432"/>
            <a:ext cx="4617720" cy="3840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18323F"/>
                </a:solidFill>
                <a:latin typeface="Arial"/>
              </a:rPr>
              <a:t>Quality versus compactness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76288" y="1847088"/>
            <a:ext cx="1920240" cy="1024128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524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67727" y="1938528"/>
            <a:ext cx="1737360" cy="53254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168077"/>
                </a:solidFill>
                <a:latin typeface="Arial"/>
              </a:rPr>
              <a:t>13.95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2441082"/>
            <a:ext cx="1700784" cy="286755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PSNR | full map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08592" y="1847088"/>
            <a:ext cx="1920240" cy="1024128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524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0032" y="1938528"/>
            <a:ext cx="1737360" cy="53254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C36B31"/>
                </a:solidFill>
                <a:latin typeface="Arial"/>
              </a:rPr>
              <a:t>2.397M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19" y="2441082"/>
            <a:ext cx="1700784" cy="286755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Gaussians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310128"/>
            <a:ext cx="4498848" cy="6400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B44D4D"/>
                </a:solidFill>
                <a:latin typeface="Arial"/>
              </a:rPr>
              <a:t>Post-hoc truncation collapses quality
below about one million primitives.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4343400"/>
            <a:ext cx="4498848" cy="8412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168077"/>
                </a:solidFill>
                <a:latin typeface="Arial"/>
              </a:rPr>
              <a:t>The next engineering target is not more Gaussians.
It is quality per primitive.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45352"/>
            <a:ext cx="1088136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607681"/>
                </a:solidFill>
                <a:latin typeface="Arial"/>
              </a:rPr>
              <a:t>The representation is effective, but not yet compact.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Several plausible alternatives did not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Negative results sharpen the central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3840480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4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06424"/>
            <a:ext cx="3364992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8323F"/>
                </a:solidFill>
                <a:latin typeface="Arial"/>
              </a:rPr>
              <a:t>Encoder LoRA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70832" y="1362456"/>
            <a:ext cx="493776" cy="0"/>
          </a:xfrm>
          <a:prstGeom prst="line">
            <a:avLst/>
          </a:prstGeom>
          <a:ln w="20320">
            <a:solidFill>
              <a:srgbClr val="B4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4814316" y="1312164"/>
            <a:ext cx="100584" cy="100584"/>
          </a:xfrm>
          <a:prstGeom prst="triangle">
            <a:avLst/>
          </a:prstGeom>
          <a:solidFill>
            <a:srgbClr val="B4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6048" y="960120"/>
            <a:ext cx="3520440" cy="804672"/>
          </a:xfrm>
          <a:prstGeom prst="roundRect">
            <a:avLst>
              <a:gd name="adj" fmla="val 7000"/>
            </a:avLst>
          </a:prstGeom>
          <a:solidFill>
            <a:srgbClr val="F8EDED"/>
          </a:solidFill>
          <a:ln w="12700">
            <a:solidFill>
              <a:srgbClr val="B4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1106424"/>
            <a:ext cx="3081528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B44D4D"/>
                </a:solidFill>
                <a:latin typeface="Arial"/>
              </a:rPr>
              <a:t>-49% reconstruction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75688"/>
            <a:ext cx="3840480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221992"/>
            <a:ext cx="3364992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8323F"/>
                </a:solidFill>
                <a:latin typeface="Arial"/>
              </a:rPr>
              <a:t>Independent multi-pair averaging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70832" y="2478024"/>
            <a:ext cx="493776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814316" y="2427732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56048" y="2075688"/>
            <a:ext cx="3520440" cy="804672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2221992"/>
            <a:ext cx="3081528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C36B31"/>
                </a:solidFill>
                <a:latin typeface="Arial"/>
              </a:rPr>
              <a:t>scale spread stops at 3.06%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91256"/>
            <a:ext cx="3840480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4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337560"/>
            <a:ext cx="3364992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8323F"/>
                </a:solidFill>
                <a:latin typeface="Arial"/>
              </a:rPr>
              <a:t>Map-only scale correction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70832" y="3593592"/>
            <a:ext cx="493776" cy="0"/>
          </a:xfrm>
          <a:prstGeom prst="line">
            <a:avLst/>
          </a:prstGeom>
          <a:ln w="20320">
            <a:solidFill>
              <a:srgbClr val="B4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814316" y="3543300"/>
            <a:ext cx="100584" cy="100584"/>
          </a:xfrm>
          <a:prstGeom prst="triangle">
            <a:avLst/>
          </a:prstGeom>
          <a:solidFill>
            <a:srgbClr val="B4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56048" y="3191256"/>
            <a:ext cx="3520440" cy="804672"/>
          </a:xfrm>
          <a:prstGeom prst="roundRect">
            <a:avLst>
              <a:gd name="adj" fmla="val 7000"/>
            </a:avLst>
          </a:prstGeom>
          <a:solidFill>
            <a:srgbClr val="F8EDED"/>
          </a:solidFill>
          <a:ln w="12700">
            <a:solidFill>
              <a:srgbClr val="B4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5504" y="3337560"/>
            <a:ext cx="3081528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B44D4D"/>
                </a:solidFill>
                <a:latin typeface="Arial"/>
              </a:rPr>
              <a:t>PSNR 12.35 -&gt; 11.50 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06824"/>
            <a:ext cx="3840480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453128"/>
            <a:ext cx="3364992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8323F"/>
                </a:solidFill>
                <a:latin typeface="Arial"/>
              </a:rPr>
              <a:t>Post-hoc compacting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70832" y="4709160"/>
            <a:ext cx="493776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4814316" y="4658868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56048" y="4306824"/>
            <a:ext cx="3520440" cy="804672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75504" y="4453128"/>
            <a:ext cx="3081528" cy="43891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C36B31"/>
                </a:solidFill>
                <a:latin typeface="Arial"/>
              </a:rPr>
              <a:t>quality drops below ~1M primitives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969264"/>
            <a:ext cx="2779776" cy="4160520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1280160"/>
            <a:ext cx="2267712" cy="6583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000" b="1">
                <a:solidFill>
                  <a:srgbClr val="168077"/>
                </a:solidFill>
                <a:latin typeface="Arial"/>
              </a:rPr>
              <a:t>What survived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2331720"/>
            <a:ext cx="2176272" cy="15544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8323F"/>
                </a:solidFill>
                <a:latin typeface="Arial"/>
              </a:rPr>
              <a:t>Shared anchors
Separate appearance refinement
Measured initialization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806440"/>
            <a:ext cx="11018520" cy="4572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600" b="1">
                <a:solidFill>
                  <a:srgbClr val="168077"/>
                </a:solidFill>
                <a:latin typeface="Arial"/>
              </a:rPr>
              <a:t>The useful theory is coordinate consistency, not a universal geometry correction.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Why the result is state of the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The claim follows directly from the measured common-protocol result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932688"/>
            <a:ext cx="5532120" cy="5138928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4937760" cy="4114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900" b="1">
                <a:solidFill>
                  <a:srgbClr val="168077"/>
                </a:solidFill>
                <a:latin typeface="Arial"/>
              </a:rPr>
              <a:t>Measured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56231"/>
            <a:ext cx="1536192" cy="914400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524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47672"/>
            <a:ext cx="1353312" cy="4754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168077"/>
                </a:solidFill>
                <a:latin typeface="Arial"/>
              </a:rPr>
              <a:t>23.02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86584"/>
            <a:ext cx="131673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ours |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2304" y="1856231"/>
            <a:ext cx="1536192" cy="914400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524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1947672"/>
            <a:ext cx="1353312" cy="4754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3478A5"/>
                </a:solidFill>
                <a:latin typeface="Arial"/>
              </a:rPr>
              <a:t>19.48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386584"/>
            <a:ext cx="131673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Photo-SLAM |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51376" y="1856231"/>
            <a:ext cx="1536192" cy="914400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524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1947672"/>
            <a:ext cx="1353312" cy="4754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C36B31"/>
                </a:solidFill>
                <a:latin typeface="Arial"/>
              </a:rPr>
              <a:t>+3.54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2386584"/>
            <a:ext cx="131673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mean gain | dB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3273552"/>
            <a:ext cx="100584" cy="100584"/>
          </a:xfrm>
          <a:prstGeom prst="ellips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3154680"/>
            <a:ext cx="4416552" cy="59436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8323F"/>
                </a:solidFill>
                <a:latin typeface="Arial"/>
              </a:rPr>
              <a:t>Higher PSNR on every Replica scene.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3886200"/>
            <a:ext cx="100584" cy="100584"/>
          </a:xfrm>
          <a:prstGeom prst="ellips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767328"/>
            <a:ext cx="4416552" cy="59436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8323F"/>
                </a:solidFill>
                <a:latin typeface="Arial"/>
              </a:rPr>
              <a:t>Better mean LPIPS: 0.135 versus 0.163.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4498848"/>
            <a:ext cx="100584" cy="100584"/>
          </a:xfrm>
          <a:prstGeom prst="ellips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4379976"/>
            <a:ext cx="4416552" cy="59436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8323F"/>
                </a:solidFill>
                <a:latin typeface="Arial"/>
              </a:rPr>
              <a:t>All values come from saved maps and one evaluator.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932688"/>
            <a:ext cx="5440680" cy="5138928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900" b="1">
                <a:solidFill>
                  <a:srgbClr val="3478A5"/>
                </a:solidFill>
                <a:latin typeface="Arial"/>
              </a:rPr>
              <a:t>Common protocol</a:t>
            </a:r>
          </a:p>
        </p:txBody>
      </p:sp>
      <p:sp>
        <p:nvSpPr>
          <p:cNvPr id="26" name="Oval 25"/>
          <p:cNvSpPr/>
          <p:nvPr/>
        </p:nvSpPr>
        <p:spPr>
          <a:xfrm>
            <a:off x="6720840" y="1901952"/>
            <a:ext cx="210312" cy="210312"/>
          </a:xfrm>
          <a:prstGeom prst="ellipse">
            <a:avLst/>
          </a:prstGeom>
          <a:solidFill>
            <a:srgbClr val="3478A5"/>
          </a:solidFill>
          <a:ln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9168" y="1828800"/>
            <a:ext cx="1572768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8323F"/>
                </a:solidFill>
                <a:latin typeface="Arial"/>
              </a:rPr>
              <a:t>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1828800"/>
            <a:ext cx="2651760" cy="3840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07681"/>
                </a:solidFill>
                <a:latin typeface="Arial"/>
              </a:rPr>
              <a:t>RGB-only monocular</a:t>
            </a:r>
          </a:p>
        </p:txBody>
      </p:sp>
      <p:sp>
        <p:nvSpPr>
          <p:cNvPr id="29" name="Oval 28"/>
          <p:cNvSpPr/>
          <p:nvPr/>
        </p:nvSpPr>
        <p:spPr>
          <a:xfrm>
            <a:off x="6720840" y="2752344"/>
            <a:ext cx="210312" cy="210312"/>
          </a:xfrm>
          <a:prstGeom prst="ellipse">
            <a:avLst/>
          </a:prstGeom>
          <a:solidFill>
            <a:srgbClr val="3478A5"/>
          </a:solidFill>
          <a:ln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9168" y="2679192"/>
            <a:ext cx="1572768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8323F"/>
                </a:solidFill>
                <a:latin typeface="Arial"/>
              </a:rPr>
              <a:t>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2679192"/>
            <a:ext cx="2651760" cy="3840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07681"/>
                </a:solidFill>
                <a:latin typeface="Arial"/>
              </a:rPr>
              <a:t>all 8 Replica scenes</a:t>
            </a:r>
          </a:p>
        </p:txBody>
      </p:sp>
      <p:sp>
        <p:nvSpPr>
          <p:cNvPr id="32" name="Oval 31"/>
          <p:cNvSpPr/>
          <p:nvPr/>
        </p:nvSpPr>
        <p:spPr>
          <a:xfrm>
            <a:off x="6720840" y="3602736"/>
            <a:ext cx="210312" cy="210312"/>
          </a:xfrm>
          <a:prstGeom prst="ellipse">
            <a:avLst/>
          </a:prstGeom>
          <a:solidFill>
            <a:srgbClr val="3478A5"/>
          </a:solidFill>
          <a:ln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9168" y="3529584"/>
            <a:ext cx="1572768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8323F"/>
                </a:solidFill>
                <a:latin typeface="Arial"/>
              </a:rPr>
              <a:t>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3529584"/>
            <a:ext cx="2651760" cy="3840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07681"/>
                </a:solidFill>
                <a:latin typeface="Arial"/>
              </a:rPr>
              <a:t>100 common non-keyframes per scene</a:t>
            </a:r>
          </a:p>
        </p:txBody>
      </p:sp>
      <p:sp>
        <p:nvSpPr>
          <p:cNvPr id="35" name="Oval 34"/>
          <p:cNvSpPr/>
          <p:nvPr/>
        </p:nvSpPr>
        <p:spPr>
          <a:xfrm>
            <a:off x="6720840" y="4453128"/>
            <a:ext cx="210312" cy="210312"/>
          </a:xfrm>
          <a:prstGeom prst="ellipse">
            <a:avLst/>
          </a:prstGeom>
          <a:solidFill>
            <a:srgbClr val="3478A5"/>
          </a:solidFill>
          <a:ln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4379976"/>
            <a:ext cx="1572768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8323F"/>
                </a:solidFill>
                <a:latin typeface="Arial"/>
              </a:rPr>
              <a:t>Scoring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58784" y="4379976"/>
            <a:ext cx="2651760" cy="3840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07681"/>
                </a:solidFill>
                <a:latin typeface="Arial"/>
              </a:rPr>
              <a:t>same cameras, renderer, resolution,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413248"/>
            <a:ext cx="4681728" cy="36576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3478A5"/>
                </a:solidFill>
                <a:latin typeface="Arial"/>
              </a:rPr>
              <a:t>Splatt3R-SLAM achieves state-of-the-art performance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The result is reproducible from saved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One path from system run to paper table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REPRODUCTION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060704"/>
            <a:ext cx="2011680" cy="2267712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1225296"/>
            <a:ext cx="384048" cy="384048"/>
          </a:xfrm>
          <a:prstGeom prst="ellipse">
            <a:avLst/>
          </a:prstGeom>
          <a:solidFill>
            <a:srgbClr val="3478A5"/>
          </a:solidFill>
          <a:ln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98448"/>
            <a:ext cx="384048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755648"/>
            <a:ext cx="1371600" cy="4114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8323F"/>
                </a:solidFill>
                <a:latin typeface="Arial"/>
              </a:rPr>
              <a:t>Run SLAM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395728"/>
            <a:ext cx="1536192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07681"/>
                </a:solidFill>
                <a:latin typeface="Arial"/>
              </a:rPr>
              <a:t>RGB stream
config + commit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194560"/>
            <a:ext cx="237744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564891" y="2144268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06624" y="1060704"/>
            <a:ext cx="2011680" cy="2267712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34640" y="1225296"/>
            <a:ext cx="384048" cy="384048"/>
          </a:xfrm>
          <a:prstGeom prst="ellipse">
            <a:avLst/>
          </a:prstGeom>
          <a:solidFill>
            <a:srgbClr val="168077"/>
          </a:solidFill>
          <a:ln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298448"/>
            <a:ext cx="384048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1755648"/>
            <a:ext cx="1371600" cy="4114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8323F"/>
                </a:solidFill>
                <a:latin typeface="Arial"/>
              </a:rPr>
              <a:t>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2395728"/>
            <a:ext cx="1536192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07681"/>
                </a:solidFill>
                <a:latin typeface="Arial"/>
              </a:rPr>
              <a:t>map + trajectory
frame log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36592" y="2194560"/>
            <a:ext cx="237744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924044" y="2144268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65776" y="1060704"/>
            <a:ext cx="2011680" cy="2267712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93792" y="1225296"/>
            <a:ext cx="384048" cy="384048"/>
          </a:xfrm>
          <a:prstGeom prst="ellipse">
            <a:avLst/>
          </a:prstGeom>
          <a:solidFill>
            <a:srgbClr val="C36B31"/>
          </a:solidFill>
          <a:ln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3792" y="1298448"/>
            <a:ext cx="384048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1755648"/>
            <a:ext cx="1371600" cy="4114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8323F"/>
                </a:solidFill>
                <a:latin typeface="Arial"/>
              </a:rPr>
              <a:t>Align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395728"/>
            <a:ext cx="1536192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07681"/>
                </a:solidFill>
                <a:latin typeface="Arial"/>
              </a:rPr>
              <a:t>Umeyama Sim(3)
to GT cameras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95744" y="2194560"/>
            <a:ext cx="237744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7283196" y="2144268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24928" y="1060704"/>
            <a:ext cx="2011680" cy="2267712"/>
          </a:xfrm>
          <a:prstGeom prst="roundRect">
            <a:avLst>
              <a:gd name="adj" fmla="val 7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52944" y="1225296"/>
            <a:ext cx="384048" cy="384048"/>
          </a:xfrm>
          <a:prstGeom prst="ellipse">
            <a:avLst/>
          </a:prstGeom>
          <a:solidFill>
            <a:srgbClr val="A14D78"/>
          </a:solidFill>
          <a:ln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1298448"/>
            <a:ext cx="384048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8" y="1755648"/>
            <a:ext cx="1371600" cy="4114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8323F"/>
                </a:solidFill>
                <a:latin typeface="Arial"/>
              </a:rPr>
              <a:t>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2" y="2395728"/>
            <a:ext cx="1536192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07681"/>
                </a:solidFill>
                <a:latin typeface="Arial"/>
              </a:rPr>
              <a:t>same cameras
full exported SH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54896" y="2194560"/>
            <a:ext cx="237744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9642348" y="2144268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84080" y="1060704"/>
            <a:ext cx="2011680" cy="2267712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12096" y="1225296"/>
            <a:ext cx="384048" cy="384048"/>
          </a:xfrm>
          <a:prstGeom prst="ellipse">
            <a:avLst/>
          </a:prstGeom>
          <a:solidFill>
            <a:srgbClr val="168077"/>
          </a:solidFill>
          <a:ln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12096" y="1298448"/>
            <a:ext cx="384048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1755648"/>
            <a:ext cx="1371600" cy="4114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8323F"/>
                </a:solidFill>
                <a:latin typeface="Arial"/>
              </a:rPr>
              <a:t>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1824" y="2395728"/>
            <a:ext cx="1536192" cy="62179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07681"/>
                </a:solidFill>
                <a:latin typeface="Arial"/>
              </a:rPr>
              <a:t>PSNR + LPIPS
JSON + hashes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3822191"/>
            <a:ext cx="10991088" cy="1005840"/>
          </a:xfrm>
          <a:prstGeom prst="roundRect">
            <a:avLst>
              <a:gd name="adj" fmla="val 7000"/>
            </a:avLst>
          </a:prstGeom>
          <a:solidFill>
            <a:srgbClr val="F7F9FA"/>
          </a:solidFill>
          <a:ln w="1270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" y="4005072"/>
            <a:ext cx="10479024" cy="64008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8323F"/>
                </a:solidFill>
                <a:latin typeface="Arial"/>
              </a:rPr>
              <a:t>logs/paper_ral_20261007/&lt;scene&gt;/metrics.json
stores per-frame MSE, LPIPS, camera alignment, selected views, and SHA256 hashes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5230368"/>
            <a:ext cx="2011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" y="5303520"/>
            <a:ext cx="179222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RA-L 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" y="5586983"/>
            <a:ext cx="1792224" cy="4297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7 pages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03320" y="5230368"/>
            <a:ext cx="2011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13048" y="5303520"/>
            <a:ext cx="179222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Review PDF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13048" y="5586983"/>
            <a:ext cx="1792224" cy="4297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anonymous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5230368"/>
            <a:ext cx="2011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56248" y="5303520"/>
            <a:ext cx="179222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MSc thesis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6248" y="5586983"/>
            <a:ext cx="1792224" cy="4297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65 pages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89720" y="5230368"/>
            <a:ext cx="2011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99448" y="5303520"/>
            <a:ext cx="179222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Source ZIP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99448" y="5586983"/>
            <a:ext cx="1792224" cy="4297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clean rebuild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" y="6236208"/>
            <a:ext cx="1019556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607681"/>
                </a:solidFill>
                <a:latin typeface="Arial"/>
              </a:rPr>
              <a:t>Build: cd docs/Thesis &amp;&amp; ./build.sh [ral|review|master]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733"/>
          </a:solidFill>
          <a:ln w="12700">
            <a:solidFill>
              <a:srgbClr val="102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ew0_ours.png"/>
          <p:cNvPicPr>
            <a:picLocks noChangeAspect="1"/>
          </p:cNvPicPr>
          <p:nvPr/>
        </p:nvPicPr>
        <p:blipFill>
          <a:blip r:embed="rId2"/>
          <a:srcRect l="11984" r="11984"/>
          <a:stretch>
            <a:fillRect/>
          </a:stretch>
        </p:blipFill>
        <p:spPr>
          <a:xfrm>
            <a:off x="6537960" y="502920"/>
            <a:ext cx="5166360" cy="3822191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66928" y="594360"/>
            <a:ext cx="5440680" cy="53035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One idea connects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17320"/>
            <a:ext cx="5230368" cy="128016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DCECEF"/>
                </a:solidFill>
                <a:latin typeface="Arial"/>
              </a:rPr>
              <a:t>Give the local map and its observation cameras the same keyframe anchor.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971800"/>
            <a:ext cx="1024128" cy="274320"/>
          </a:xfrm>
          <a:prstGeom prst="roundRect">
            <a:avLst>
              <a:gd name="adj" fmla="val 7000"/>
            </a:avLst>
          </a:prstGeom>
          <a:solidFill>
            <a:srgbClr val="3478A5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980944"/>
            <a:ext cx="914400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2953512"/>
            <a:ext cx="4096512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Dense local Gaussians in one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3776472"/>
            <a:ext cx="1024128" cy="274320"/>
          </a:xfrm>
          <a:prstGeom prst="roundRect">
            <a:avLst>
              <a:gd name="adj" fmla="val 7000"/>
            </a:avLst>
          </a:prstGeom>
          <a:solidFill>
            <a:srgbClr val="C36B31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3785615"/>
            <a:ext cx="914400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ANCHOR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3758184"/>
            <a:ext cx="4096512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Pose corrections move map and cameras together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581144"/>
            <a:ext cx="1024128" cy="274320"/>
          </a:xfrm>
          <a:prstGeom prst="roundRect">
            <a:avLst>
              <a:gd name="adj" fmla="val 7000"/>
            </a:avLst>
          </a:prstGeom>
          <a:solidFill>
            <a:srgbClr val="A14D78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4590288"/>
            <a:ext cx="914400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REFINE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562856"/>
            <a:ext cx="4096512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Sequence RGB improves appearance downstream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56832" y="4709160"/>
            <a:ext cx="1517904" cy="987552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524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4800600"/>
            <a:ext cx="1335024" cy="513527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168077"/>
                </a:solidFill>
                <a:latin typeface="Arial"/>
              </a:rPr>
              <a:t>+3.54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281940"/>
            <a:ext cx="1298448" cy="27651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Replica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4709160"/>
            <a:ext cx="1517904" cy="987552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524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4800600"/>
            <a:ext cx="1335024" cy="513527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3478A5"/>
                </a:solidFill>
                <a:latin typeface="Arial"/>
              </a:rPr>
              <a:t>8 /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5281940"/>
            <a:ext cx="1298448" cy="27651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PSNR wins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31552" y="4709160"/>
            <a:ext cx="1517904" cy="987552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524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2992" y="4800600"/>
            <a:ext cx="1335024" cy="513527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C36B31"/>
                </a:solidFill>
                <a:latin typeface="Arial"/>
              </a:rPr>
              <a:t>23.02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5281940"/>
            <a:ext cx="1298448" cy="27651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mean PSNR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5989320"/>
            <a:ext cx="4992624" cy="3840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Next: retain this quality with a compact causal map.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Backup: system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Processes, devices, and shared state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786384"/>
            <a:ext cx="7543800" cy="3401568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914400"/>
            <a:ext cx="3749039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3478A5"/>
                </a:solidFill>
                <a:latin typeface="Arial"/>
              </a:rPr>
              <a:t>GPU 0: SLAM + visualisation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107899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90472"/>
            <a:ext cx="85953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73936"/>
            <a:ext cx="859536" cy="338327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sequence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1792224"/>
            <a:ext cx="310896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1997964" y="1741932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84831" y="1280160"/>
            <a:ext cx="2633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353312"/>
            <a:ext cx="2414015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Tracker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636776"/>
            <a:ext cx="2414015" cy="68580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Splatt3R + tracking
frame pose log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01568" y="2414016"/>
            <a:ext cx="0" cy="283464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3351276" y="2647188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84831" y="2743200"/>
            <a:ext cx="263347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2816352"/>
            <a:ext cx="2414015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SharedKeyframes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099816"/>
            <a:ext cx="2414015" cy="57607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images | pointmaps | local Gaussians | poses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75504" y="1280160"/>
            <a:ext cx="226771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5232" y="1353312"/>
            <a:ext cx="204825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Visualiser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1636776"/>
            <a:ext cx="2048256" cy="68580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bake current anchors
subscribe to snapshots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4736592" y="2414016"/>
            <a:ext cx="1042416" cy="82296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3102590">
            <a:off x="5728716" y="2363724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75504" y="2743200"/>
            <a:ext cx="226771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85232" y="2816352"/>
            <a:ext cx="204825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3099816"/>
            <a:ext cx="2048256" cy="57607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retrieval + pose graph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4736592" y="3236976"/>
            <a:ext cx="402336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4686300" y="3186684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4048" y="4425696"/>
            <a:ext cx="5614416" cy="1517904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553712"/>
            <a:ext cx="292608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68077"/>
                </a:solidFill>
                <a:latin typeface="Arial"/>
              </a:rPr>
              <a:t>GPU 1: map refinement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07008" y="4937760"/>
            <a:ext cx="38862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16736" y="5010912"/>
            <a:ext cx="366674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Refiner process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6736" y="5294376"/>
            <a:ext cx="3666744" cy="338327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local Gaussian map + Adam state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3401568" y="3767328"/>
            <a:ext cx="0" cy="621792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>
            <a:off x="3351276" y="3717036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27648" y="4425696"/>
            <a:ext cx="5413248" cy="1517904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47104" y="4553712"/>
            <a:ext cx="320040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C36B31"/>
                </a:solidFill>
                <a:latin typeface="Arial"/>
              </a:rPr>
              <a:t>CPU shared memory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84848" y="4937760"/>
            <a:ext cx="2048256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94576" y="5010912"/>
            <a:ext cx="18288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Supervision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4576" y="5294376"/>
            <a:ext cx="1828800" cy="338327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RGB + relative poses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62288" y="4937760"/>
            <a:ext cx="2048256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72015" y="5010912"/>
            <a:ext cx="18288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Snapshot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72015" y="5294376"/>
            <a:ext cx="1828800" cy="338327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versioned refined map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016752" y="5303520"/>
            <a:ext cx="731520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6697980" y="5253228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H="1">
            <a:off x="6035040" y="5303520"/>
            <a:ext cx="3108960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16200000">
            <a:off x="5984748" y="5253228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6492240" y="2331720"/>
            <a:ext cx="3694176" cy="2569464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18289220">
            <a:off x="6441948" y="2281427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" y="6217920"/>
            <a:ext cx="109728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18323F"/>
                </a:solidFill>
                <a:latin typeface="Arial"/>
              </a:rPr>
              <a:t>Tracking owns poses. Refinement publishes maps. No cross-process partial state.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Backup: SOTA evidence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Existing skill records and saved metrics support the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05840"/>
            <a:ext cx="2029968" cy="2834640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261872"/>
            <a:ext cx="1737360" cy="42062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3478A5"/>
                </a:solidFill>
                <a:latin typeface="Arial"/>
              </a:rPr>
              <a:t>1.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664208" cy="12984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saved maps
trajectories
SHA256 hashes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59736" y="2404872"/>
            <a:ext cx="219456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628900" y="2354579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1005840"/>
            <a:ext cx="2029968" cy="2834640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1261872"/>
            <a:ext cx="1737360" cy="42062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68077"/>
                </a:solidFill>
                <a:latin typeface="Arial"/>
              </a:rPr>
              <a:t>2. Align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1993392"/>
            <a:ext cx="1664208" cy="12984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GT Sim(3)
common cameras
100 views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80" y="2404872"/>
            <a:ext cx="219456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924044" y="2354579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01768" y="1005840"/>
            <a:ext cx="2029968" cy="2834640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1261872"/>
            <a:ext cx="1737360" cy="42062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C36B31"/>
                </a:solidFill>
                <a:latin typeface="Arial"/>
              </a:rPr>
              <a:t>3. 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1993392"/>
            <a:ext cx="1664208" cy="12984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same image size
full exported SH
one code path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0024" y="2404872"/>
            <a:ext cx="219455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219188" y="2354579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96912" y="1005840"/>
            <a:ext cx="2029968" cy="2834640"/>
          </a:xfrm>
          <a:prstGeom prst="roundRect">
            <a:avLst>
              <a:gd name="adj" fmla="val 7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6" y="1261872"/>
            <a:ext cx="1737360" cy="42062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A14D78"/>
                </a:solidFill>
                <a:latin typeface="Arial"/>
              </a:rPr>
              <a:t>4.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1993392"/>
            <a:ext cx="1664208" cy="12984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scene PSNR
LPIPS-AlexNet
macro mean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45168" y="2404872"/>
            <a:ext cx="219456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9514332" y="2354579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92056" y="1005840"/>
            <a:ext cx="2029968" cy="2834640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1261872"/>
            <a:ext cx="1737360" cy="42062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68077"/>
                </a:solidFill>
                <a:latin typeface="Arial"/>
              </a:rPr>
              <a:t>5.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4936" y="1993392"/>
            <a:ext cx="1664208" cy="12984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23.02 dB
+3.54 dB
8 / 8 wins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279392"/>
            <a:ext cx="10808208" cy="1170432"/>
          </a:xfrm>
          <a:prstGeom prst="roundRect">
            <a:avLst>
              <a:gd name="adj" fmla="val 7000"/>
            </a:avLst>
          </a:prstGeom>
          <a:solidFill>
            <a:srgbClr val="F7F9FA"/>
          </a:solidFill>
          <a:ln w="1270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462272"/>
            <a:ext cx="10314432" cy="7863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8323F"/>
                </a:solidFill>
                <a:latin typeface="Arial"/>
              </a:rPr>
              <a:t>Claim: Splatt3R-SLAM achieves state-of-the-art performance.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5715000"/>
            <a:ext cx="2011680" cy="749808"/>
          </a:xfrm>
          <a:prstGeom prst="roundRect">
            <a:avLst>
              <a:gd name="adj" fmla="val 7000"/>
            </a:avLst>
          </a:prstGeom>
          <a:solidFill>
            <a:srgbClr val="EAF3F8"/>
          </a:solidFill>
          <a:ln w="1524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5806440"/>
            <a:ext cx="1828800" cy="3899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3478A5"/>
                </a:solidFill>
                <a:latin typeface="Arial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4248" y="6149888"/>
            <a:ext cx="1792224" cy="20994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Replica scenes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5715000"/>
            <a:ext cx="2011680" cy="749808"/>
          </a:xfrm>
          <a:prstGeom prst="roundRect">
            <a:avLst>
              <a:gd name="adj" fmla="val 7000"/>
            </a:avLst>
          </a:prstGeom>
          <a:solidFill>
            <a:srgbClr val="FBEFE8"/>
          </a:solidFill>
          <a:ln w="1524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66359" y="5806440"/>
            <a:ext cx="1828800" cy="3899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C36B31"/>
                </a:solidFill>
                <a:latin typeface="Arial"/>
              </a:rPr>
              <a:t>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6149888"/>
            <a:ext cx="1792224" cy="20994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scored views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5715000"/>
            <a:ext cx="2011680" cy="749808"/>
          </a:xfrm>
          <a:prstGeom prst="roundRect">
            <a:avLst>
              <a:gd name="adj" fmla="val 7000"/>
            </a:avLst>
          </a:prstGeom>
          <a:solidFill>
            <a:srgbClr val="E9F6F3"/>
          </a:solidFill>
          <a:ln w="1524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5806440"/>
            <a:ext cx="1828800" cy="3899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2400" b="1">
                <a:solidFill>
                  <a:srgbClr val="168077"/>
                </a:solidFill>
                <a:latin typeface="Arial"/>
              </a:rPr>
              <a:t>8 /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6149888"/>
            <a:ext cx="1792224" cy="20994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323F"/>
                </a:solidFill>
                <a:latin typeface="Arial"/>
              </a:rPr>
              <a:t>PSNR wins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Backup: settings that define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The headline number is one explicit configuration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" y="6629400"/>
            <a:ext cx="365760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650" b="1">
                <a:solidFill>
                  <a:srgbClr val="607681"/>
                </a:solidFill>
                <a:latin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629400"/>
            <a:ext cx="411480" cy="1188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650" b="1">
                <a:solidFill>
                  <a:srgbClr val="607681"/>
                </a:solidFill>
                <a:latin typeface="Arial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841248"/>
            <a:ext cx="2331720" cy="274320"/>
          </a:xfrm>
          <a:prstGeom prst="roundRect">
            <a:avLst>
              <a:gd name="adj" fmla="val 7000"/>
            </a:avLst>
          </a:prstGeom>
          <a:solidFill>
            <a:srgbClr val="3478A5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50392"/>
            <a:ext cx="2221991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8376" y="841248"/>
            <a:ext cx="2926079" cy="274320"/>
          </a:xfrm>
          <a:prstGeom prst="roundRect">
            <a:avLst>
              <a:gd name="adj" fmla="val 7000"/>
            </a:avLst>
          </a:prstGeom>
          <a:solidFill>
            <a:srgbClr val="3478A5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850392"/>
            <a:ext cx="2816351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841248"/>
            <a:ext cx="5102352" cy="274320"/>
          </a:xfrm>
          <a:prstGeom prst="roundRect">
            <a:avLst>
              <a:gd name="adj" fmla="val 7000"/>
            </a:avLst>
          </a:prstGeom>
          <a:solidFill>
            <a:srgbClr val="3478A5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850392"/>
            <a:ext cx="4992624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1261872"/>
            <a:ext cx="23317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325880"/>
            <a:ext cx="211226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8376" y="1261872"/>
            <a:ext cx="2926079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8104" y="1325880"/>
            <a:ext cx="270662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monocular RGB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1261872"/>
            <a:ext cx="51023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325880"/>
            <a:ext cx="4882896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all systems in the primary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1847088"/>
            <a:ext cx="2331720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1911095"/>
            <a:ext cx="211226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Head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8376" y="1847088"/>
            <a:ext cx="2926079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8104" y="1911095"/>
            <a:ext cx="270662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released Splatt3R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17336" y="1847088"/>
            <a:ext cx="5102352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7064" y="1911095"/>
            <a:ext cx="4882896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no family adaptation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2432304"/>
            <a:ext cx="23317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2496312"/>
            <a:ext cx="211226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Insertion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08376" y="2432304"/>
            <a:ext cx="2926079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18104" y="2496312"/>
            <a:ext cx="270662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attenuation 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17336" y="2432304"/>
            <a:ext cx="51023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7064" y="2496312"/>
            <a:ext cx="4882896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lambda =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3017520"/>
            <a:ext cx="2331720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3081527"/>
            <a:ext cx="211226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Centres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08376" y="3017520"/>
            <a:ext cx="2926079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18104" y="3081527"/>
            <a:ext cx="270662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fixed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17336" y="3017520"/>
            <a:ext cx="5102352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7064" y="3081527"/>
            <a:ext cx="4882896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appearance-only external polish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3602736"/>
            <a:ext cx="23317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" y="3666744"/>
            <a:ext cx="211226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Polish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08376" y="3602736"/>
            <a:ext cx="2926079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18104" y="3666744"/>
            <a:ext cx="270662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300 seconds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17336" y="3602736"/>
            <a:ext cx="51023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7064" y="3666744"/>
            <a:ext cx="4882896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post-sequence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" y="4187952"/>
            <a:ext cx="2331720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4251960"/>
            <a:ext cx="211226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Evaluation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08376" y="4187952"/>
            <a:ext cx="2926079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18104" y="4251960"/>
            <a:ext cx="270662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100 non-keyframes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17336" y="4187952"/>
            <a:ext cx="5102352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27064" y="4251960"/>
            <a:ext cx="4882896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common GT cameras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" y="4773168"/>
            <a:ext cx="23317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" y="4837176"/>
            <a:ext cx="211226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Colour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08376" y="4773168"/>
            <a:ext cx="2926079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18104" y="4837176"/>
            <a:ext cx="270662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full exported SH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17336" y="4773168"/>
            <a:ext cx="51023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27064" y="4837176"/>
            <a:ext cx="4882896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degree differs by system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6" y="5358384"/>
            <a:ext cx="2331720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" y="5422392"/>
            <a:ext cx="211226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Metrics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08376" y="5358384"/>
            <a:ext cx="2926079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18104" y="5422392"/>
            <a:ext cx="2706624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PSNR + LPIPS-AlexNet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17336" y="5358384"/>
            <a:ext cx="5102352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A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27064" y="5422392"/>
            <a:ext cx="4882896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18323F"/>
                </a:solidFill>
                <a:latin typeface="Arial"/>
              </a:rPr>
              <a:t>scene macro mean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" y="6144768"/>
            <a:ext cx="1092708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C36B31"/>
                </a:solidFill>
                <a:latin typeface="Arial"/>
              </a:rPr>
              <a:t>Changing any row defines a different experiment.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Splatt3R-SLAM: From Image Pairs to Persistent Maps</dc:title>
  <dc:subject>Master's thesis defense</dc:subject>
  <dc:creator>Zelong Li</dc:creator>
  <cp:keywords>SLAM, 3D Gaussian splatting, thesis defense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