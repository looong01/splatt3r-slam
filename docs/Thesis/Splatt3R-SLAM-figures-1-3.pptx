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1905" y="1693814"/>
            <a:ext cx="2140751" cy="2782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1" b="1">
                <a:solidFill>
                  <a:srgbClr val="20282C"/>
                </a:solidFill>
                <a:latin typeface="DejaVu Sans"/>
              </a:rPr>
              <a:t>(a) Shared anchor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59604" y="1693814"/>
            <a:ext cx="3785903" cy="2782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1" b="1">
                <a:solidFill>
                  <a:srgbClr val="20282C"/>
                </a:solidFill>
                <a:latin typeface="DejaVu Sans"/>
              </a:rPr>
              <a:t>(b) Same-camera reconstruction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27077" y="1693814"/>
            <a:ext cx="1270248" cy="2782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1" b="1">
                <a:solidFill>
                  <a:srgbClr val="20282C"/>
                </a:solidFill>
                <a:latin typeface="DejaVu Sans"/>
              </a:rPr>
              <a:t>(c) Replica</a:t>
            </a:r>
          </a:p>
        </p:txBody>
      </p:sp>
      <p:sp>
        <p:nvSpPr>
          <p:cNvPr id="5" name="Freeform 4"/>
          <p:cNvSpPr/>
          <p:nvPr/>
        </p:nvSpPr>
        <p:spPr>
          <a:xfrm>
            <a:off x="3730429" y="1685629"/>
            <a:ext cx="0" cy="3437632"/>
          </a:xfrm>
          <a:custGeom>
            <a:avLst/>
            <a:gdLst/>
            <a:ahLst/>
            <a:cxnLst/>
            <a:rect l="l" t="t" r="r" b="b"/>
            <a:pathLst>
              <a:path w="0" h="3437632">
                <a:moveTo>
                  <a:pt x="0" y="0"/>
                </a:moveTo>
                <a:lnTo>
                  <a:pt x="0" y="3437632"/>
                </a:lnTo>
              </a:path>
            </a:pathLst>
          </a:custGeom>
          <a:noFill/>
          <a:ln w="11367">
            <a:solidFill>
              <a:srgbClr val="C5CB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230640" y="1685629"/>
            <a:ext cx="0" cy="3437632"/>
          </a:xfrm>
          <a:custGeom>
            <a:avLst/>
            <a:gdLst/>
            <a:ahLst/>
            <a:cxnLst/>
            <a:rect l="l" t="t" r="r" b="b"/>
            <a:pathLst>
              <a:path w="0" h="3437632">
                <a:moveTo>
                  <a:pt x="0" y="0"/>
                </a:moveTo>
                <a:lnTo>
                  <a:pt x="0" y="3437632"/>
                </a:lnTo>
              </a:path>
            </a:pathLst>
          </a:custGeom>
          <a:noFill/>
          <a:ln w="11367">
            <a:solidFill>
              <a:srgbClr val="C5CB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34777" y="2913355"/>
            <a:ext cx="703897" cy="507460"/>
          </a:xfrm>
          <a:custGeom>
            <a:avLst/>
            <a:gdLst/>
            <a:ahLst/>
            <a:cxnLst/>
            <a:rect l="l" t="t" r="r" b="b"/>
            <a:pathLst>
              <a:path w="703897" h="507460">
                <a:moveTo>
                  <a:pt x="0" y="0"/>
                </a:moveTo>
                <a:lnTo>
                  <a:pt x="703897" y="507460"/>
                </a:lnTo>
              </a:path>
            </a:pathLst>
          </a:custGeom>
          <a:noFill/>
          <a:ln w="15914">
            <a:solidFill>
              <a:srgbClr val="9DA8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571081" y="2913355"/>
            <a:ext cx="163696" cy="1276835"/>
          </a:xfrm>
          <a:custGeom>
            <a:avLst/>
            <a:gdLst/>
            <a:ahLst/>
            <a:cxnLst/>
            <a:rect l="l" t="t" r="r" b="b"/>
            <a:pathLst>
              <a:path w="163696" h="1276835">
                <a:moveTo>
                  <a:pt x="163696" y="0"/>
                </a:moveTo>
                <a:lnTo>
                  <a:pt x="0" y="1276835"/>
                </a:lnTo>
              </a:path>
            </a:pathLst>
          </a:custGeom>
          <a:noFill/>
          <a:ln w="15914">
            <a:solidFill>
              <a:srgbClr val="9DA8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1114" y="2839691"/>
            <a:ext cx="147327" cy="147327"/>
          </a:xfrm>
          <a:prstGeom prst="rect">
            <a:avLst/>
          </a:prstGeom>
          <a:solidFill>
            <a:srgbClr val="FFFFFF"/>
          </a:solidFill>
          <a:ln w="15914">
            <a:solidFill>
              <a:srgbClr val="9DA8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571081" y="4025183"/>
            <a:ext cx="306440" cy="330013"/>
          </a:xfrm>
          <a:custGeom>
            <a:avLst/>
            <a:gdLst/>
            <a:ahLst/>
            <a:cxnLst/>
            <a:rect l="l" t="t" r="r" b="b"/>
            <a:pathLst>
              <a:path w="306440" h="330013">
                <a:moveTo>
                  <a:pt x="0" y="165007"/>
                </a:moveTo>
                <a:lnTo>
                  <a:pt x="306440" y="0"/>
                </a:lnTo>
                <a:lnTo>
                  <a:pt x="306440" y="330013"/>
                </a:lnTo>
                <a:lnTo>
                  <a:pt x="0" y="165007"/>
                </a:lnTo>
              </a:path>
            </a:pathLst>
          </a:custGeom>
          <a:noFill/>
          <a:ln w="18188">
            <a:solidFill>
              <a:srgbClr val="9DA8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77521" y="3954466"/>
            <a:ext cx="165006" cy="471447"/>
          </a:xfrm>
          <a:custGeom>
            <a:avLst/>
            <a:gdLst/>
            <a:ahLst/>
            <a:cxnLst/>
            <a:rect l="l" t="t" r="r" b="b"/>
            <a:pathLst>
              <a:path w="165006" h="471447">
                <a:moveTo>
                  <a:pt x="0" y="70717"/>
                </a:moveTo>
                <a:lnTo>
                  <a:pt x="165006" y="0"/>
                </a:lnTo>
                <a:lnTo>
                  <a:pt x="165006" y="471447"/>
                </a:lnTo>
                <a:lnTo>
                  <a:pt x="0" y="400730"/>
                </a:lnTo>
              </a:path>
            </a:pathLst>
          </a:custGeom>
          <a:noFill/>
          <a:ln w="13641">
            <a:solidFill>
              <a:srgbClr val="9DA8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20100000">
            <a:off x="1136162" y="3310074"/>
            <a:ext cx="280903" cy="113441"/>
          </a:xfrm>
          <a:prstGeom prst="ellipse">
            <a:avLst/>
          </a:prstGeom>
          <a:solidFill>
            <a:srgbClr val="FFFFFF"/>
          </a:solidFill>
          <a:ln w="15914">
            <a:solidFill>
              <a:srgbClr val="9DA8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 rot="1200000">
            <a:off x="1330634" y="3223642"/>
            <a:ext cx="280903" cy="113441"/>
          </a:xfrm>
          <a:prstGeom prst="ellipse">
            <a:avLst/>
          </a:prstGeom>
          <a:solidFill>
            <a:srgbClr val="FFFFFF"/>
          </a:solidFill>
          <a:ln w="15914">
            <a:solidFill>
              <a:srgbClr val="9DA8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 rot="20700000">
            <a:off x="1503498" y="3353290"/>
            <a:ext cx="280903" cy="113441"/>
          </a:xfrm>
          <a:prstGeom prst="ellipse">
            <a:avLst/>
          </a:prstGeom>
          <a:solidFill>
            <a:srgbClr val="FFFFFF"/>
          </a:solidFill>
          <a:ln w="15914">
            <a:solidFill>
              <a:srgbClr val="9DA8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 rot="1080000">
            <a:off x="1255006" y="3450526"/>
            <a:ext cx="280903" cy="113441"/>
          </a:xfrm>
          <a:prstGeom prst="ellipse">
            <a:avLst/>
          </a:prstGeom>
          <a:solidFill>
            <a:srgbClr val="FFFFFF"/>
          </a:solidFill>
          <a:ln w="15914">
            <a:solidFill>
              <a:srgbClr val="9DA8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099" y="2625976"/>
            <a:ext cx="458350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9DA8AE"/>
                </a:solidFill>
                <a:latin typeface="DejaVu Sans"/>
              </a:rPr>
              <a:t>k</a:t>
            </a:r>
          </a:p>
        </p:txBody>
      </p:sp>
      <p:sp>
        <p:nvSpPr>
          <p:cNvPr id="17" name="Freeform 16"/>
          <p:cNvSpPr/>
          <p:nvPr/>
        </p:nvSpPr>
        <p:spPr>
          <a:xfrm>
            <a:off x="2208048" y="2520482"/>
            <a:ext cx="703897" cy="507460"/>
          </a:xfrm>
          <a:custGeom>
            <a:avLst/>
            <a:gdLst/>
            <a:ahLst/>
            <a:cxnLst/>
            <a:rect l="l" t="t" r="r" b="b"/>
            <a:pathLst>
              <a:path w="703897" h="507460">
                <a:moveTo>
                  <a:pt x="0" y="0"/>
                </a:moveTo>
                <a:lnTo>
                  <a:pt x="703897" y="507460"/>
                </a:lnTo>
              </a:path>
            </a:pathLst>
          </a:custGeom>
          <a:noFill/>
          <a:ln w="15914">
            <a:solidFill>
              <a:srgbClr val="2028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044352" y="2520482"/>
            <a:ext cx="163696" cy="1276835"/>
          </a:xfrm>
          <a:custGeom>
            <a:avLst/>
            <a:gdLst/>
            <a:ahLst/>
            <a:cxnLst/>
            <a:rect l="l" t="t" r="r" b="b"/>
            <a:pathLst>
              <a:path w="163696" h="1276835">
                <a:moveTo>
                  <a:pt x="163696" y="0"/>
                </a:moveTo>
                <a:lnTo>
                  <a:pt x="0" y="1276835"/>
                </a:lnTo>
              </a:path>
            </a:pathLst>
          </a:custGeom>
          <a:noFill/>
          <a:ln w="15914">
            <a:solidFill>
              <a:srgbClr val="2028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34385" y="2446819"/>
            <a:ext cx="147327" cy="147327"/>
          </a:xfrm>
          <a:prstGeom prst="rect">
            <a:avLst/>
          </a:prstGeom>
          <a:solidFill>
            <a:srgbClr val="FFFFFF"/>
          </a:solidFill>
          <a:ln w="15914">
            <a:solidFill>
              <a:srgbClr val="2028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2044352" y="3632311"/>
            <a:ext cx="306440" cy="330013"/>
          </a:xfrm>
          <a:custGeom>
            <a:avLst/>
            <a:gdLst/>
            <a:ahLst/>
            <a:cxnLst/>
            <a:rect l="l" t="t" r="r" b="b"/>
            <a:pathLst>
              <a:path w="306440" h="330013">
                <a:moveTo>
                  <a:pt x="0" y="165006"/>
                </a:moveTo>
                <a:lnTo>
                  <a:pt x="306440" y="0"/>
                </a:lnTo>
                <a:lnTo>
                  <a:pt x="306440" y="330013"/>
                </a:lnTo>
                <a:lnTo>
                  <a:pt x="0" y="165006"/>
                </a:lnTo>
              </a:path>
            </a:pathLst>
          </a:custGeom>
          <a:noFill/>
          <a:ln w="18188">
            <a:solidFill>
              <a:srgbClr val="37668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350792" y="3561594"/>
            <a:ext cx="165006" cy="471447"/>
          </a:xfrm>
          <a:custGeom>
            <a:avLst/>
            <a:gdLst/>
            <a:ahLst/>
            <a:cxnLst/>
            <a:rect l="l" t="t" r="r" b="b"/>
            <a:pathLst>
              <a:path w="165006" h="471447">
                <a:moveTo>
                  <a:pt x="0" y="70717"/>
                </a:moveTo>
                <a:lnTo>
                  <a:pt x="165006" y="0"/>
                </a:lnTo>
                <a:lnTo>
                  <a:pt x="165006" y="471447"/>
                </a:lnTo>
                <a:lnTo>
                  <a:pt x="0" y="400730"/>
                </a:lnTo>
              </a:path>
            </a:pathLst>
          </a:custGeom>
          <a:noFill/>
          <a:ln w="13641">
            <a:solidFill>
              <a:srgbClr val="37668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20100000">
            <a:off x="2609433" y="2917202"/>
            <a:ext cx="280903" cy="113441"/>
          </a:xfrm>
          <a:prstGeom prst="ellipse">
            <a:avLst/>
          </a:prstGeom>
          <a:solidFill>
            <a:srgbClr val="FFFFFF"/>
          </a:solidFill>
          <a:ln w="15914">
            <a:solidFill>
              <a:srgbClr val="16756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200000">
            <a:off x="2803905" y="2830770"/>
            <a:ext cx="280903" cy="113441"/>
          </a:xfrm>
          <a:prstGeom prst="ellipse">
            <a:avLst/>
          </a:prstGeom>
          <a:solidFill>
            <a:srgbClr val="FFFFFF"/>
          </a:solidFill>
          <a:ln w="15914">
            <a:solidFill>
              <a:srgbClr val="16756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20700000">
            <a:off x="2976769" y="2960417"/>
            <a:ext cx="280903" cy="113441"/>
          </a:xfrm>
          <a:prstGeom prst="ellipse">
            <a:avLst/>
          </a:prstGeom>
          <a:solidFill>
            <a:srgbClr val="FFFFFF"/>
          </a:solidFill>
          <a:ln w="15914">
            <a:solidFill>
              <a:srgbClr val="16756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080000">
            <a:off x="2728277" y="3057653"/>
            <a:ext cx="280903" cy="113441"/>
          </a:xfrm>
          <a:prstGeom prst="ellipse">
            <a:avLst/>
          </a:prstGeom>
          <a:solidFill>
            <a:srgbClr val="FFFFFF"/>
          </a:solidFill>
          <a:ln w="15914">
            <a:solidFill>
              <a:srgbClr val="16756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02370" y="2233104"/>
            <a:ext cx="458350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20282C"/>
                </a:solidFill>
                <a:latin typeface="DejaVu Sans"/>
              </a:rPr>
              <a:t>k′</a:t>
            </a:r>
          </a:p>
        </p:txBody>
      </p:sp>
      <p:sp>
        <p:nvSpPr>
          <p:cNvPr id="27" name="Freeform 26"/>
          <p:cNvSpPr/>
          <p:nvPr/>
        </p:nvSpPr>
        <p:spPr>
          <a:xfrm>
            <a:off x="808441" y="2540126"/>
            <a:ext cx="1325944" cy="353585"/>
          </a:xfrm>
          <a:custGeom>
            <a:avLst/>
            <a:gdLst/>
            <a:ahLst/>
            <a:cxnLst/>
            <a:rect l="l" t="t" r="r" b="b"/>
            <a:pathLst>
              <a:path w="1325944" h="353585">
                <a:moveTo>
                  <a:pt x="0" y="353585"/>
                </a:moveTo>
                <a:lnTo>
                  <a:pt x="1325944" y="0"/>
                </a:lnTo>
              </a:path>
            </a:pathLst>
          </a:custGeom>
          <a:noFill/>
          <a:ln w="22735">
            <a:solidFill>
              <a:srgbClr val="20282C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4645" y="2134885"/>
            <a:ext cx="1441497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20282C"/>
                </a:solidFill>
                <a:latin typeface="DejaVu Sans"/>
              </a:rPr>
              <a:t>Pose correction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7642" y="3386711"/>
            <a:ext cx="886824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167568"/>
                </a:solidFill>
                <a:latin typeface="DejaVu Sans"/>
              </a:rPr>
              <a:t>local 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80" y="4221565"/>
            <a:ext cx="700826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376687"/>
                </a:solidFill>
                <a:latin typeface="DejaVu Sans"/>
              </a:rPr>
              <a:t>camera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5086" y="4758672"/>
            <a:ext cx="3102095" cy="2380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78" b="1">
                <a:solidFill>
                  <a:srgbClr val="20282C"/>
                </a:solidFill>
                <a:latin typeface="DejaVu Sans"/>
              </a:rPr>
              <a:t>Map + cameras move together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6384" y="2183995"/>
            <a:ext cx="1136413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20282C"/>
                </a:solidFill>
                <a:latin typeface="DejaVu Sans"/>
              </a:rPr>
              <a:t>Photo-SLAM</a:t>
            </a:r>
          </a:p>
        </p:txBody>
      </p:sp>
      <p:pic>
        <p:nvPicPr>
          <p:cNvPr id="33" name="Picture 32" descr="view0_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604" y="2553222"/>
            <a:ext cx="2389973" cy="1344359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314366" y="2945327"/>
            <a:ext cx="1400374" cy="522806"/>
          </a:xfrm>
          <a:prstGeom prst="rect">
            <a:avLst/>
          </a:prstGeom>
          <a:noFill/>
          <a:ln w="14778">
            <a:solidFill>
              <a:srgbClr val="16756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view0_photo.png"/>
          <p:cNvPicPr>
            <a:picLocks noChangeAspect="1"/>
          </p:cNvPicPr>
          <p:nvPr/>
        </p:nvPicPr>
        <p:blipFill>
          <a:blip r:embed="rId2"/>
          <a:srcRect l="14844" r="26562" t="29167" b="31944"/>
          <a:stretch>
            <a:fillRect/>
          </a:stretch>
        </p:blipFill>
        <p:spPr>
          <a:xfrm>
            <a:off x="3959604" y="4059232"/>
            <a:ext cx="2389973" cy="89225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7080515" y="2183995"/>
            <a:ext cx="1582885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2" b="1">
                <a:solidFill>
                  <a:srgbClr val="167568"/>
                </a:solidFill>
                <a:latin typeface="DejaVu Sans"/>
              </a:rPr>
              <a:t>Splatt3R-SLAM</a:t>
            </a:r>
          </a:p>
        </p:txBody>
      </p:sp>
      <p:pic>
        <p:nvPicPr>
          <p:cNvPr id="37" name="Picture 36" descr="view0_ou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971" y="2553222"/>
            <a:ext cx="2389973" cy="1344359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7031732" y="2945327"/>
            <a:ext cx="1400374" cy="522806"/>
          </a:xfrm>
          <a:prstGeom prst="rect">
            <a:avLst/>
          </a:prstGeom>
          <a:noFill/>
          <a:ln w="14778">
            <a:solidFill>
              <a:srgbClr val="16756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view0_ours.png"/>
          <p:cNvPicPr>
            <a:picLocks noChangeAspect="1"/>
          </p:cNvPicPr>
          <p:nvPr/>
        </p:nvPicPr>
        <p:blipFill>
          <a:blip r:embed="rId3"/>
          <a:srcRect l="14844" r="26562" t="29167" b="31944"/>
          <a:stretch>
            <a:fillRect/>
          </a:stretch>
        </p:blipFill>
        <p:spPr>
          <a:xfrm>
            <a:off x="6676971" y="4059232"/>
            <a:ext cx="2389973" cy="89225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695022" y="4994032"/>
            <a:ext cx="3603765" cy="22571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6" b="0">
                <a:solidFill>
                  <a:srgbClr val="59636A"/>
                </a:solidFill>
                <a:latin typeface="DejaVu Sans"/>
              </a:rPr>
              <a:t>Identical crop · representative office0 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2555" y="2187087"/>
            <a:ext cx="1676894" cy="2411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6" b="0">
                <a:solidFill>
                  <a:srgbClr val="20282C"/>
                </a:solidFill>
                <a:latin typeface="DejaVu Sans"/>
              </a:rPr>
              <a:t>Mean PSNR (dB) ↑</a:t>
            </a:r>
          </a:p>
        </p:txBody>
      </p:sp>
      <p:sp>
        <p:nvSpPr>
          <p:cNvPr id="42" name="Freeform 41"/>
          <p:cNvSpPr/>
          <p:nvPr/>
        </p:nvSpPr>
        <p:spPr>
          <a:xfrm>
            <a:off x="9918167" y="4370256"/>
            <a:ext cx="1866143" cy="0"/>
          </a:xfrm>
          <a:custGeom>
            <a:avLst/>
            <a:gdLst/>
            <a:ahLst/>
            <a:cxnLst/>
            <a:rect l="l" t="t" r="r" b="b"/>
            <a:pathLst>
              <a:path w="1866143" h="0">
                <a:moveTo>
                  <a:pt x="0" y="0"/>
                </a:moveTo>
                <a:lnTo>
                  <a:pt x="1866143" y="0"/>
                </a:lnTo>
              </a:path>
            </a:pathLst>
          </a:custGeom>
          <a:noFill/>
          <a:ln w="10231">
            <a:solidFill>
              <a:srgbClr val="C5CB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5228" y="4255850"/>
            <a:ext cx="458350" cy="2288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24" b="0">
                <a:solidFill>
                  <a:srgbClr val="59636A"/>
                </a:solidFill>
                <a:latin typeface="DejaVu Sans"/>
              </a:rPr>
              <a:t>0</a:t>
            </a:r>
          </a:p>
        </p:txBody>
      </p:sp>
      <p:sp>
        <p:nvSpPr>
          <p:cNvPr id="44" name="Freeform 43"/>
          <p:cNvSpPr/>
          <p:nvPr/>
        </p:nvSpPr>
        <p:spPr>
          <a:xfrm>
            <a:off x="9918167" y="3770034"/>
            <a:ext cx="1866143" cy="0"/>
          </a:xfrm>
          <a:custGeom>
            <a:avLst/>
            <a:gdLst/>
            <a:ahLst/>
            <a:cxnLst/>
            <a:rect l="l" t="t" r="r" b="b"/>
            <a:pathLst>
              <a:path w="1866143" h="0">
                <a:moveTo>
                  <a:pt x="0" y="0"/>
                </a:moveTo>
                <a:lnTo>
                  <a:pt x="1866143" y="0"/>
                </a:lnTo>
              </a:path>
            </a:pathLst>
          </a:custGeom>
          <a:noFill/>
          <a:ln w="10231">
            <a:solidFill>
              <a:srgbClr val="C5CB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45228" y="3655629"/>
            <a:ext cx="458350" cy="2288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24" b="0">
                <a:solidFill>
                  <a:srgbClr val="59636A"/>
                </a:solidFill>
                <a:latin typeface="DejaVu Sans"/>
              </a:rPr>
              <a:t>10</a:t>
            </a:r>
          </a:p>
        </p:txBody>
      </p:sp>
      <p:sp>
        <p:nvSpPr>
          <p:cNvPr id="46" name="Freeform 45"/>
          <p:cNvSpPr/>
          <p:nvPr/>
        </p:nvSpPr>
        <p:spPr>
          <a:xfrm>
            <a:off x="9918167" y="3169813"/>
            <a:ext cx="1866143" cy="0"/>
          </a:xfrm>
          <a:custGeom>
            <a:avLst/>
            <a:gdLst/>
            <a:ahLst/>
            <a:cxnLst/>
            <a:rect l="l" t="t" r="r" b="b"/>
            <a:pathLst>
              <a:path w="1866143" h="0">
                <a:moveTo>
                  <a:pt x="0" y="0"/>
                </a:moveTo>
                <a:lnTo>
                  <a:pt x="1866143" y="0"/>
                </a:lnTo>
              </a:path>
            </a:pathLst>
          </a:custGeom>
          <a:noFill/>
          <a:ln w="10231">
            <a:solidFill>
              <a:srgbClr val="C5CB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5228" y="3055407"/>
            <a:ext cx="458350" cy="2288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24" b="0">
                <a:solidFill>
                  <a:srgbClr val="59636A"/>
                </a:solidFill>
                <a:latin typeface="DejaVu Sans"/>
              </a:rPr>
              <a:t>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098233" y="3200845"/>
            <a:ext cx="491090" cy="1169411"/>
          </a:xfrm>
          <a:prstGeom prst="rect">
            <a:avLst/>
          </a:prstGeom>
          <a:solidFill>
            <a:srgbClr val="59636A"/>
          </a:solidFill>
          <a:ln w="2273">
            <a:solidFill>
              <a:srgbClr val="59636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14122" y="2905736"/>
            <a:ext cx="659312" cy="2628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1" b="1">
                <a:solidFill>
                  <a:srgbClr val="59636A"/>
                </a:solidFill>
                <a:latin typeface="DejaVu Sans"/>
              </a:rPr>
              <a:t>19.48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66545" y="4447648"/>
            <a:ext cx="554468" cy="2380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78" b="0">
                <a:solidFill>
                  <a:srgbClr val="20282C"/>
                </a:solidFill>
                <a:latin typeface="DejaVu Sans"/>
              </a:rPr>
              <a:t>Photo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064044" y="2988593"/>
            <a:ext cx="491090" cy="1381662"/>
          </a:xfrm>
          <a:prstGeom prst="rect">
            <a:avLst/>
          </a:prstGeom>
          <a:solidFill>
            <a:srgbClr val="167568"/>
          </a:solidFill>
          <a:ln w="2273">
            <a:solidFill>
              <a:srgbClr val="16756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79073" y="2693484"/>
            <a:ext cx="661034" cy="26282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21" b="1">
                <a:solidFill>
                  <a:srgbClr val="167568"/>
                </a:solidFill>
                <a:latin typeface="DejaVu Sans"/>
              </a:rPr>
              <a:t>23.02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71882" y="4447648"/>
            <a:ext cx="475415" cy="2380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78" b="0">
                <a:solidFill>
                  <a:srgbClr val="20282C"/>
                </a:solidFill>
                <a:latin typeface="DejaVu Sans"/>
              </a:rPr>
              <a:t>Ours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7863" y="4723114"/>
            <a:ext cx="1208400" cy="30920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90" b="1">
                <a:solidFill>
                  <a:srgbClr val="167568"/>
                </a:solidFill>
                <a:latin typeface="DejaVu Sans"/>
              </a:rPr>
              <a:t>+3.54 dB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78462" y="5004217"/>
            <a:ext cx="1887202" cy="2380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78" b="0">
                <a:solidFill>
                  <a:srgbClr val="20282C"/>
                </a:solidFill>
                <a:latin typeface="DejaVu Sans"/>
              </a:rPr>
              <a:t>8/8 scene PSNR wins</a:t>
            </a:r>
          </a:p>
        </p:txBody>
      </p:sp>
      <p:sp>
        <p:nvSpPr>
          <p:cNvPr id="56" name="AILabel"/>
          <p:cNvSpPr txBox="1"/>
          <p:nvPr/>
        </p:nvSpPr>
        <p:spPr>
          <a:xfrm>
            <a:off x="9611695" y="62780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1905" y="515197"/>
            <a:ext cx="1281342" cy="2782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1" b="1">
                <a:solidFill>
                  <a:srgbClr val="20282C"/>
                </a:solidFill>
                <a:latin typeface="DejaVu Sans"/>
              </a:rPr>
              <a:t>(a) Predict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1905" y="882150"/>
            <a:ext cx="1525092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59636A"/>
                </a:solidFill>
                <a:latin typeface="DejaVu Sans"/>
              </a:rPr>
              <a:t>Sec. III-A · Eq. (1)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5216" y="515197"/>
            <a:ext cx="1280895" cy="2782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1" b="1">
                <a:solidFill>
                  <a:srgbClr val="20282C"/>
                </a:solidFill>
                <a:latin typeface="DejaVu Sans"/>
              </a:rPr>
              <a:t>(b) Anchor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5216" y="882150"/>
            <a:ext cx="1805700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59636A"/>
                </a:solidFill>
                <a:latin typeface="DejaVu Sans"/>
              </a:rPr>
              <a:t>Sec. III-B · Eqs. (2–4)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52024" y="515197"/>
            <a:ext cx="1166403" cy="2782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1" b="1">
                <a:solidFill>
                  <a:srgbClr val="20282C"/>
                </a:solidFill>
                <a:latin typeface="DejaVu Sans"/>
              </a:rPr>
              <a:t>(c) Refine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52024" y="882150"/>
            <a:ext cx="1531273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59636A"/>
                </a:solidFill>
                <a:latin typeface="DejaVu Sans"/>
              </a:rPr>
              <a:t>Sec. III-C · Eq. (5)</a:t>
            </a:r>
          </a:p>
        </p:txBody>
      </p:sp>
      <p:sp>
        <p:nvSpPr>
          <p:cNvPr id="8" name="Freeform 7"/>
          <p:cNvSpPr/>
          <p:nvPr/>
        </p:nvSpPr>
        <p:spPr>
          <a:xfrm>
            <a:off x="341905" y="1194538"/>
            <a:ext cx="11507884" cy="0"/>
          </a:xfrm>
          <a:custGeom>
            <a:avLst/>
            <a:gdLst/>
            <a:ahLst/>
            <a:cxnLst/>
            <a:rect l="l" t="t" r="r" b="b"/>
            <a:pathLst>
              <a:path w="11507884" h="0">
                <a:moveTo>
                  <a:pt x="0" y="0"/>
                </a:moveTo>
                <a:lnTo>
                  <a:pt x="11507884" y="0"/>
                </a:lnTo>
              </a:path>
            </a:pathLst>
          </a:custGeom>
          <a:noFill/>
          <a:ln w="11367">
            <a:solidFill>
              <a:srgbClr val="C5CB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05" y="1571041"/>
            <a:ext cx="1113138" cy="834853"/>
          </a:xfrm>
          <a:prstGeom prst="rect">
            <a:avLst/>
          </a:prstGeom>
        </p:spPr>
      </p:pic>
      <p:pic>
        <p:nvPicPr>
          <p:cNvPr id="10" name="Picture 9" descr="view1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05" y="2667809"/>
            <a:ext cx="1113138" cy="83485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2273" y="1254015"/>
            <a:ext cx="1019662" cy="2411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96" b="0">
                <a:solidFill>
                  <a:srgbClr val="20282C"/>
                </a:solidFill>
                <a:latin typeface="DejaVu Sans"/>
              </a:rPr>
              <a:t>Image pair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78873" y="2078501"/>
            <a:ext cx="1538749" cy="1129507"/>
          </a:xfrm>
          <a:prstGeom prst="rect">
            <a:avLst/>
          </a:prstGeom>
          <a:solidFill>
            <a:srgbClr val="FFFFFF"/>
          </a:solidFill>
          <a:ln w="15914">
            <a:solidFill>
              <a:srgbClr val="2028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25195" y="2198363"/>
            <a:ext cx="1046106" cy="513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5" b="1">
                <a:solidFill>
                  <a:srgbClr val="20282C"/>
                </a:solidFill>
                <a:latin typeface="DejaVu Sans"/>
              </a:rPr>
              <a:t>Shared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5" b="1">
                <a:solidFill>
                  <a:srgbClr val="20282C"/>
                </a:solidFill>
                <a:latin typeface="DejaVu Sans"/>
              </a:rPr>
              <a:t>predictor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1370" y="2892529"/>
            <a:ext cx="813755" cy="2380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78" b="0">
                <a:solidFill>
                  <a:srgbClr val="59636A"/>
                </a:solidFill>
                <a:latin typeface="DejaVu Sans"/>
              </a:rPr>
              <a:t>Splatt3R</a:t>
            </a:r>
          </a:p>
        </p:txBody>
      </p:sp>
      <p:sp>
        <p:nvSpPr>
          <p:cNvPr id="15" name="Freeform 14"/>
          <p:cNvSpPr/>
          <p:nvPr/>
        </p:nvSpPr>
        <p:spPr>
          <a:xfrm>
            <a:off x="1455043" y="1980283"/>
            <a:ext cx="523830" cy="376503"/>
          </a:xfrm>
          <a:custGeom>
            <a:avLst/>
            <a:gdLst/>
            <a:ahLst/>
            <a:cxnLst/>
            <a:rect l="l" t="t" r="r" b="b"/>
            <a:pathLst>
              <a:path w="523830" h="376503">
                <a:moveTo>
                  <a:pt x="0" y="0"/>
                </a:moveTo>
                <a:lnTo>
                  <a:pt x="278285" y="0"/>
                </a:lnTo>
                <a:lnTo>
                  <a:pt x="278285" y="376503"/>
                </a:lnTo>
                <a:lnTo>
                  <a:pt x="523830" y="376503"/>
                </a:lnTo>
              </a:path>
            </a:pathLst>
          </a:custGeom>
          <a:noFill/>
          <a:ln w="18188">
            <a:solidFill>
              <a:srgbClr val="20282C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455043" y="3077051"/>
            <a:ext cx="523830" cy="0"/>
          </a:xfrm>
          <a:custGeom>
            <a:avLst/>
            <a:gdLst/>
            <a:ahLst/>
            <a:cxnLst/>
            <a:rect l="l" t="t" r="r" b="b"/>
            <a:pathLst>
              <a:path w="523830" h="0">
                <a:moveTo>
                  <a:pt x="0" y="0"/>
                </a:moveTo>
                <a:lnTo>
                  <a:pt x="523830" y="0"/>
                </a:lnTo>
              </a:path>
            </a:pathLst>
          </a:custGeom>
          <a:noFill/>
          <a:ln w="18188">
            <a:solidFill>
              <a:srgbClr val="20282C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5216" y="1538302"/>
            <a:ext cx="2700996" cy="654787"/>
          </a:xfrm>
          <a:prstGeom prst="rect">
            <a:avLst/>
          </a:prstGeom>
          <a:solidFill>
            <a:srgbClr val="FFFFFF"/>
          </a:solidFill>
          <a:ln w="15914">
            <a:solidFill>
              <a:srgbClr val="2028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2750" y="1738921"/>
            <a:ext cx="2305929" cy="2535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67" b="1">
                <a:solidFill>
                  <a:srgbClr val="20282C"/>
                </a:solidFill>
                <a:latin typeface="DejaVu Sans"/>
              </a:rPr>
              <a:t>Tracker + pose graph</a:t>
            </a:r>
          </a:p>
        </p:txBody>
      </p:sp>
      <p:sp>
        <p:nvSpPr>
          <p:cNvPr id="19" name="Freeform 18"/>
          <p:cNvSpPr/>
          <p:nvPr/>
        </p:nvSpPr>
        <p:spPr>
          <a:xfrm>
            <a:off x="3517623" y="1865695"/>
            <a:ext cx="867593" cy="491091"/>
          </a:xfrm>
          <a:custGeom>
            <a:avLst/>
            <a:gdLst/>
            <a:ahLst/>
            <a:cxnLst/>
            <a:rect l="l" t="t" r="r" b="b"/>
            <a:pathLst>
              <a:path w="867593" h="491091">
                <a:moveTo>
                  <a:pt x="0" y="491091"/>
                </a:moveTo>
                <a:lnTo>
                  <a:pt x="376502" y="491091"/>
                </a:lnTo>
                <a:lnTo>
                  <a:pt x="376502" y="0"/>
                </a:lnTo>
                <a:lnTo>
                  <a:pt x="867593" y="0"/>
                </a:lnTo>
              </a:path>
            </a:pathLst>
          </a:custGeom>
          <a:noFill/>
          <a:ln w="18188">
            <a:solidFill>
              <a:srgbClr val="376687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46085" y="1504198"/>
            <a:ext cx="917463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376687"/>
                </a:solidFill>
                <a:latin typeface="DejaVu Sans"/>
              </a:rPr>
              <a:t>Geometry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5216" y="2798767"/>
            <a:ext cx="2700996" cy="1522380"/>
          </a:xfrm>
          <a:prstGeom prst="rect">
            <a:avLst/>
          </a:prstGeom>
          <a:solidFill>
            <a:srgbClr val="FFFFFF"/>
          </a:solidFill>
          <a:ln w="15914">
            <a:solidFill>
              <a:srgbClr val="C5CB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6173" y="2413170"/>
            <a:ext cx="1578537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20282C"/>
                </a:solidFill>
                <a:latin typeface="DejaVu Sans"/>
              </a:rPr>
              <a:t>Anchor k: T_WCₖ</a:t>
            </a:r>
          </a:p>
        </p:txBody>
      </p:sp>
      <p:sp>
        <p:nvSpPr>
          <p:cNvPr id="23" name="Freeform 22"/>
          <p:cNvSpPr/>
          <p:nvPr/>
        </p:nvSpPr>
        <p:spPr>
          <a:xfrm>
            <a:off x="6791558" y="2193089"/>
            <a:ext cx="0" cy="605678"/>
          </a:xfrm>
          <a:custGeom>
            <a:avLst/>
            <a:gdLst/>
            <a:ahLst/>
            <a:cxnLst/>
            <a:rect l="l" t="t" r="r" b="b"/>
            <a:pathLst>
              <a:path w="0" h="605678">
                <a:moveTo>
                  <a:pt x="0" y="0"/>
                </a:moveTo>
                <a:lnTo>
                  <a:pt x="0" y="605678"/>
                </a:lnTo>
              </a:path>
            </a:pathLst>
          </a:custGeom>
          <a:noFill/>
          <a:ln w="18188">
            <a:solidFill>
              <a:srgbClr val="376687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20100000">
            <a:off x="4550222" y="3116993"/>
            <a:ext cx="272391" cy="110004"/>
          </a:xfrm>
          <a:prstGeom prst="ellipse">
            <a:avLst/>
          </a:prstGeom>
          <a:solidFill>
            <a:srgbClr val="FFFFFF"/>
          </a:solidFill>
          <a:ln w="15914">
            <a:solidFill>
              <a:srgbClr val="16756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200000">
            <a:off x="4738801" y="3033181"/>
            <a:ext cx="272391" cy="110004"/>
          </a:xfrm>
          <a:prstGeom prst="ellipse">
            <a:avLst/>
          </a:prstGeom>
          <a:solidFill>
            <a:srgbClr val="FFFFFF"/>
          </a:solidFill>
          <a:ln w="15914">
            <a:solidFill>
              <a:srgbClr val="16756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20700000">
            <a:off x="4906426" y="3158900"/>
            <a:ext cx="272391" cy="110004"/>
          </a:xfrm>
          <a:prstGeom prst="ellipse">
            <a:avLst/>
          </a:prstGeom>
          <a:solidFill>
            <a:srgbClr val="FFFFFF"/>
          </a:solidFill>
          <a:ln w="15914">
            <a:solidFill>
              <a:srgbClr val="16756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080000">
            <a:off x="4665465" y="3253189"/>
            <a:ext cx="272391" cy="110004"/>
          </a:xfrm>
          <a:prstGeom prst="ellipse">
            <a:avLst/>
          </a:prstGeom>
          <a:solidFill>
            <a:srgbClr val="FFFFFF"/>
          </a:solidFill>
          <a:ln w="15914">
            <a:solidFill>
              <a:srgbClr val="16756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16505" y="3100697"/>
            <a:ext cx="1262085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20282C"/>
                </a:solidFill>
                <a:latin typeface="DejaVu Sans"/>
              </a:rPr>
              <a:t>Local map Gₖ</a:t>
            </a:r>
          </a:p>
        </p:txBody>
      </p:sp>
      <p:sp>
        <p:nvSpPr>
          <p:cNvPr id="29" name="Freeform 28"/>
          <p:cNvSpPr/>
          <p:nvPr/>
        </p:nvSpPr>
        <p:spPr>
          <a:xfrm>
            <a:off x="4565282" y="3802556"/>
            <a:ext cx="263879" cy="284177"/>
          </a:xfrm>
          <a:custGeom>
            <a:avLst/>
            <a:gdLst/>
            <a:ahLst/>
            <a:cxnLst/>
            <a:rect l="l" t="t" r="r" b="b"/>
            <a:pathLst>
              <a:path w="263879" h="284177">
                <a:moveTo>
                  <a:pt x="0" y="142088"/>
                </a:moveTo>
                <a:lnTo>
                  <a:pt x="263879" y="0"/>
                </a:lnTo>
                <a:lnTo>
                  <a:pt x="263879" y="284177"/>
                </a:lnTo>
                <a:lnTo>
                  <a:pt x="0" y="142088"/>
                </a:lnTo>
              </a:path>
            </a:pathLst>
          </a:custGeom>
          <a:noFill/>
          <a:ln w="18188">
            <a:solidFill>
              <a:srgbClr val="37668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829161" y="3741660"/>
            <a:ext cx="142089" cy="405968"/>
          </a:xfrm>
          <a:custGeom>
            <a:avLst/>
            <a:gdLst/>
            <a:ahLst/>
            <a:cxnLst/>
            <a:rect l="l" t="t" r="r" b="b"/>
            <a:pathLst>
              <a:path w="142089" h="405968">
                <a:moveTo>
                  <a:pt x="0" y="60896"/>
                </a:moveTo>
                <a:lnTo>
                  <a:pt x="142089" y="0"/>
                </a:lnTo>
                <a:lnTo>
                  <a:pt x="142089" y="405968"/>
                </a:lnTo>
                <a:lnTo>
                  <a:pt x="0" y="345073"/>
                </a:lnTo>
              </a:path>
            </a:pathLst>
          </a:custGeom>
          <a:noFill/>
          <a:ln w="13641">
            <a:solidFill>
              <a:srgbClr val="37668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6505" y="3693097"/>
            <a:ext cx="1367550" cy="2411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6" b="0">
                <a:solidFill>
                  <a:srgbClr val="20282C"/>
                </a:solidFill>
                <a:latin typeface="DejaVu Sans"/>
              </a:rPr>
              <a:t>RGB + relative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6505" y="3987751"/>
            <a:ext cx="1211187" cy="2411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6" b="0">
                <a:solidFill>
                  <a:srgbClr val="20282C"/>
                </a:solidFill>
                <a:latin typeface="DejaVu Sans"/>
              </a:rPr>
              <a:t>camera pose</a:t>
            </a:r>
          </a:p>
        </p:txBody>
      </p:sp>
      <p:sp>
        <p:nvSpPr>
          <p:cNvPr id="33" name="Freeform 32"/>
          <p:cNvSpPr/>
          <p:nvPr/>
        </p:nvSpPr>
        <p:spPr>
          <a:xfrm>
            <a:off x="3517623" y="2864246"/>
            <a:ext cx="867593" cy="360133"/>
          </a:xfrm>
          <a:custGeom>
            <a:avLst/>
            <a:gdLst/>
            <a:ahLst/>
            <a:cxnLst/>
            <a:rect l="l" t="t" r="r" b="b"/>
            <a:pathLst>
              <a:path w="867593" h="360133">
                <a:moveTo>
                  <a:pt x="0" y="0"/>
                </a:moveTo>
                <a:lnTo>
                  <a:pt x="327393" y="0"/>
                </a:lnTo>
                <a:lnTo>
                  <a:pt x="327393" y="360133"/>
                </a:lnTo>
                <a:lnTo>
                  <a:pt x="867593" y="360133"/>
                </a:lnTo>
              </a:path>
            </a:pathLst>
          </a:custGeom>
          <a:noFill/>
          <a:ln w="18188">
            <a:solidFill>
              <a:srgbClr val="167568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38719" y="3352426"/>
            <a:ext cx="946451" cy="23499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167568"/>
                </a:solidFill>
                <a:latin typeface="DejaVu Sans"/>
              </a:rPr>
              <a:t>Gaussians</a:t>
            </a:r>
          </a:p>
        </p:txBody>
      </p:sp>
      <p:sp>
        <p:nvSpPr>
          <p:cNvPr id="35" name="Freeform 34"/>
          <p:cNvSpPr/>
          <p:nvPr/>
        </p:nvSpPr>
        <p:spPr>
          <a:xfrm>
            <a:off x="1455043" y="3322597"/>
            <a:ext cx="2930173" cy="671156"/>
          </a:xfrm>
          <a:custGeom>
            <a:avLst/>
            <a:gdLst/>
            <a:ahLst/>
            <a:cxnLst/>
            <a:rect l="l" t="t" r="r" b="b"/>
            <a:pathLst>
              <a:path w="2930173" h="671156">
                <a:moveTo>
                  <a:pt x="0" y="0"/>
                </a:moveTo>
                <a:lnTo>
                  <a:pt x="163697" y="0"/>
                </a:lnTo>
                <a:lnTo>
                  <a:pt x="163697" y="671156"/>
                </a:lnTo>
                <a:lnTo>
                  <a:pt x="2930173" y="671156"/>
                </a:lnTo>
              </a:path>
            </a:pathLst>
          </a:custGeom>
          <a:noFill/>
          <a:ln w="18188">
            <a:solidFill>
              <a:srgbClr val="20282C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59206" y="3714105"/>
            <a:ext cx="1145344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59636A"/>
                </a:solidFill>
                <a:latin typeface="DejaVu Sans"/>
              </a:rPr>
              <a:t>Tracked RGB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52024" y="2880615"/>
            <a:ext cx="1456901" cy="687526"/>
          </a:xfrm>
          <a:prstGeom prst="rect">
            <a:avLst/>
          </a:prstGeom>
          <a:solidFill>
            <a:srgbClr val="FFFFFF"/>
          </a:solidFill>
          <a:ln w="15914">
            <a:solidFill>
              <a:srgbClr val="2028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605" y="3096058"/>
            <a:ext cx="827738" cy="256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5" b="1">
                <a:solidFill>
                  <a:srgbClr val="20282C"/>
                </a:solidFill>
                <a:latin typeface="DejaVu Sans"/>
              </a:rPr>
              <a:t>Render</a:t>
            </a:r>
          </a:p>
        </p:txBody>
      </p:sp>
      <p:sp>
        <p:nvSpPr>
          <p:cNvPr id="39" name="Freeform 38"/>
          <p:cNvSpPr/>
          <p:nvPr/>
        </p:nvSpPr>
        <p:spPr>
          <a:xfrm>
            <a:off x="7086213" y="3224379"/>
            <a:ext cx="965811" cy="0"/>
          </a:xfrm>
          <a:custGeom>
            <a:avLst/>
            <a:gdLst/>
            <a:ahLst/>
            <a:cxnLst/>
            <a:rect l="l" t="t" r="r" b="b"/>
            <a:pathLst>
              <a:path w="965811" h="0">
                <a:moveTo>
                  <a:pt x="0" y="0"/>
                </a:moveTo>
                <a:lnTo>
                  <a:pt x="965811" y="0"/>
                </a:lnTo>
              </a:path>
            </a:pathLst>
          </a:custGeom>
          <a:noFill/>
          <a:ln w="18188">
            <a:solidFill>
              <a:srgbClr val="167568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52024" y="3911905"/>
            <a:ext cx="1718816" cy="654787"/>
          </a:xfrm>
          <a:prstGeom prst="rect">
            <a:avLst/>
          </a:prstGeom>
          <a:solidFill>
            <a:srgbClr val="FFFFFF"/>
          </a:solidFill>
          <a:ln w="15914">
            <a:solidFill>
              <a:srgbClr val="2028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0979" y="4115617"/>
            <a:ext cx="1220905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20282C"/>
                </a:solidFill>
                <a:latin typeface="DejaVu Sans"/>
              </a:rPr>
              <a:t>Sample view</a:t>
            </a:r>
          </a:p>
        </p:txBody>
      </p:sp>
      <p:sp>
        <p:nvSpPr>
          <p:cNvPr id="42" name="Freeform 41"/>
          <p:cNvSpPr/>
          <p:nvPr/>
        </p:nvSpPr>
        <p:spPr>
          <a:xfrm>
            <a:off x="7086213" y="4042862"/>
            <a:ext cx="965811" cy="196437"/>
          </a:xfrm>
          <a:custGeom>
            <a:avLst/>
            <a:gdLst/>
            <a:ahLst/>
            <a:cxnLst/>
            <a:rect l="l" t="t" r="r" b="b"/>
            <a:pathLst>
              <a:path w="965811" h="196437">
                <a:moveTo>
                  <a:pt x="0" y="0"/>
                </a:moveTo>
                <a:lnTo>
                  <a:pt x="507460" y="0"/>
                </a:lnTo>
                <a:lnTo>
                  <a:pt x="507460" y="196437"/>
                </a:lnTo>
                <a:lnTo>
                  <a:pt x="965811" y="196437"/>
                </a:lnTo>
              </a:path>
            </a:pathLst>
          </a:custGeom>
          <a:noFill/>
          <a:ln w="18188">
            <a:solidFill>
              <a:srgbClr val="376687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8772290" y="3568142"/>
            <a:ext cx="0" cy="343763"/>
          </a:xfrm>
          <a:custGeom>
            <a:avLst/>
            <a:gdLst/>
            <a:ahLst/>
            <a:cxnLst/>
            <a:rect l="l" t="t" r="r" b="b"/>
            <a:pathLst>
              <a:path w="0" h="343763">
                <a:moveTo>
                  <a:pt x="0" y="343763"/>
                </a:moveTo>
                <a:lnTo>
                  <a:pt x="0" y="0"/>
                </a:lnTo>
              </a:path>
            </a:pathLst>
          </a:custGeom>
          <a:noFill/>
          <a:ln w="18188">
            <a:solidFill>
              <a:srgbClr val="376687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360148" y="2880615"/>
            <a:ext cx="1456901" cy="687526"/>
          </a:xfrm>
          <a:prstGeom prst="rect">
            <a:avLst/>
          </a:prstGeom>
          <a:solidFill>
            <a:srgbClr val="FFFFFF"/>
          </a:solidFill>
          <a:ln w="15914">
            <a:solidFill>
              <a:srgbClr val="2028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23557" y="3096058"/>
            <a:ext cx="530084" cy="256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5" b="1">
                <a:solidFill>
                  <a:srgbClr val="20282C"/>
                </a:solidFill>
                <a:latin typeface="DejaVu Sans"/>
              </a:rPr>
              <a:t>Loss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01449" y="3645534"/>
            <a:ext cx="939446" cy="2380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78" b="0">
                <a:solidFill>
                  <a:srgbClr val="59636A"/>
                </a:solidFill>
                <a:latin typeface="DejaVu Sans"/>
              </a:rPr>
              <a:t>L1 + SSIM</a:t>
            </a:r>
          </a:p>
        </p:txBody>
      </p:sp>
      <p:sp>
        <p:nvSpPr>
          <p:cNvPr id="47" name="Freeform 46"/>
          <p:cNvSpPr/>
          <p:nvPr/>
        </p:nvSpPr>
        <p:spPr>
          <a:xfrm>
            <a:off x="9508925" y="3224379"/>
            <a:ext cx="851223" cy="0"/>
          </a:xfrm>
          <a:custGeom>
            <a:avLst/>
            <a:gdLst/>
            <a:ahLst/>
            <a:cxnLst/>
            <a:rect l="l" t="t" r="r" b="b"/>
            <a:pathLst>
              <a:path w="851223" h="0">
                <a:moveTo>
                  <a:pt x="0" y="0"/>
                </a:moveTo>
                <a:lnTo>
                  <a:pt x="851223" y="0"/>
                </a:lnTo>
              </a:path>
            </a:pathLst>
          </a:custGeom>
          <a:noFill/>
          <a:ln w="18188">
            <a:solidFill>
              <a:srgbClr val="20282C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05361" y="2871521"/>
            <a:ext cx="458350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20282C"/>
                </a:solidFill>
                <a:latin typeface="DejaVu Sans"/>
              </a:rPr>
              <a:t>Î</a:t>
            </a:r>
          </a:p>
        </p:txBody>
      </p:sp>
      <p:sp>
        <p:nvSpPr>
          <p:cNvPr id="49" name="Freeform 48"/>
          <p:cNvSpPr/>
          <p:nvPr/>
        </p:nvSpPr>
        <p:spPr>
          <a:xfrm>
            <a:off x="9770840" y="3568142"/>
            <a:ext cx="1931622" cy="671157"/>
          </a:xfrm>
          <a:custGeom>
            <a:avLst/>
            <a:gdLst/>
            <a:ahLst/>
            <a:cxnLst/>
            <a:rect l="l" t="t" r="r" b="b"/>
            <a:pathLst>
              <a:path w="1931622" h="671157">
                <a:moveTo>
                  <a:pt x="0" y="671157"/>
                </a:moveTo>
                <a:lnTo>
                  <a:pt x="1931622" y="671157"/>
                </a:lnTo>
                <a:lnTo>
                  <a:pt x="1931622" y="0"/>
                </a:lnTo>
              </a:path>
            </a:pathLst>
          </a:custGeom>
          <a:noFill/>
          <a:ln w="18188">
            <a:solidFill>
              <a:srgbClr val="20282C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69058" y="3886441"/>
            <a:ext cx="458350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20282C"/>
                </a:solidFill>
                <a:latin typeface="DejaVu Sans"/>
              </a:rPr>
              <a:t>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360148" y="1538302"/>
            <a:ext cx="1456901" cy="654787"/>
          </a:xfrm>
          <a:prstGeom prst="rect">
            <a:avLst/>
          </a:prstGeom>
          <a:solidFill>
            <a:srgbClr val="FFFFFF"/>
          </a:solidFill>
          <a:ln w="15914">
            <a:solidFill>
              <a:srgbClr val="2028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53043" y="1737375"/>
            <a:ext cx="671112" cy="256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5" b="1">
                <a:solidFill>
                  <a:srgbClr val="20282C"/>
                </a:solidFill>
                <a:latin typeface="DejaVu Sans"/>
              </a:rPr>
              <a:t>Adam</a:t>
            </a:r>
          </a:p>
        </p:txBody>
      </p:sp>
      <p:sp>
        <p:nvSpPr>
          <p:cNvPr id="53" name="Freeform 52"/>
          <p:cNvSpPr/>
          <p:nvPr/>
        </p:nvSpPr>
        <p:spPr>
          <a:xfrm>
            <a:off x="11088599" y="2193089"/>
            <a:ext cx="0" cy="687526"/>
          </a:xfrm>
          <a:custGeom>
            <a:avLst/>
            <a:gdLst/>
            <a:ahLst/>
            <a:cxnLst/>
            <a:rect l="l" t="t" r="r" b="b"/>
            <a:pathLst>
              <a:path w="0" h="687526">
                <a:moveTo>
                  <a:pt x="0" y="687526"/>
                </a:moveTo>
                <a:lnTo>
                  <a:pt x="0" y="0"/>
                </a:lnTo>
              </a:path>
            </a:pathLst>
          </a:custGeom>
          <a:noFill/>
          <a:ln w="18188">
            <a:solidFill>
              <a:srgbClr val="20282C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61370" y="2413170"/>
            <a:ext cx="473498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20282C"/>
                </a:solidFill>
                <a:latin typeface="DejaVu Sans"/>
              </a:rPr>
              <a:t>∇θ L</a:t>
            </a:r>
          </a:p>
        </p:txBody>
      </p:sp>
      <p:sp>
        <p:nvSpPr>
          <p:cNvPr id="55" name="Freeform 54"/>
          <p:cNvSpPr/>
          <p:nvPr/>
        </p:nvSpPr>
        <p:spPr>
          <a:xfrm>
            <a:off x="7086213" y="1865695"/>
            <a:ext cx="3273935" cy="1047660"/>
          </a:xfrm>
          <a:custGeom>
            <a:avLst/>
            <a:gdLst/>
            <a:ahLst/>
            <a:cxnLst/>
            <a:rect l="l" t="t" r="r" b="b"/>
            <a:pathLst>
              <a:path w="3273935" h="1047660">
                <a:moveTo>
                  <a:pt x="3273935" y="0"/>
                </a:moveTo>
                <a:lnTo>
                  <a:pt x="409242" y="0"/>
                </a:lnTo>
                <a:lnTo>
                  <a:pt x="409242" y="1047660"/>
                </a:lnTo>
                <a:lnTo>
                  <a:pt x="0" y="1047660"/>
                </a:lnTo>
              </a:path>
            </a:pathLst>
          </a:custGeom>
          <a:noFill/>
          <a:ln w="18188">
            <a:solidFill>
              <a:srgbClr val="167568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46692" y="1512838"/>
            <a:ext cx="883934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167568"/>
                </a:solidFill>
                <a:latin typeface="DejaVu Sans"/>
              </a:rPr>
              <a:t>Update θ</a:t>
            </a:r>
          </a:p>
        </p:txBody>
      </p:sp>
      <p:sp>
        <p:nvSpPr>
          <p:cNvPr id="57" name="Freeform 56"/>
          <p:cNvSpPr/>
          <p:nvPr/>
        </p:nvSpPr>
        <p:spPr>
          <a:xfrm>
            <a:off x="341905" y="4779498"/>
            <a:ext cx="11507884" cy="0"/>
          </a:xfrm>
          <a:custGeom>
            <a:avLst/>
            <a:gdLst/>
            <a:ahLst/>
            <a:cxnLst/>
            <a:rect l="l" t="t" r="r" b="b"/>
            <a:pathLst>
              <a:path w="11507884" h="0">
                <a:moveTo>
                  <a:pt x="0" y="0"/>
                </a:moveTo>
                <a:lnTo>
                  <a:pt x="11507884" y="0"/>
                </a:lnTo>
              </a:path>
            </a:pathLst>
          </a:custGeom>
          <a:noFill/>
          <a:ln w="11367">
            <a:solidFill>
              <a:srgbClr val="C5CB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8" name="Picture 57" descr="bef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05" y="5123261"/>
            <a:ext cx="1538749" cy="115406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306104" y="4843613"/>
            <a:ext cx="1610351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20282C"/>
                </a:solidFill>
                <a:latin typeface="DejaVu Sans"/>
              </a:rPr>
              <a:t>Before refinement</a:t>
            </a:r>
          </a:p>
        </p:txBody>
      </p:sp>
      <p:pic>
        <p:nvPicPr>
          <p:cNvPr id="60" name="Picture 59" descr="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31878" y="5123261"/>
            <a:ext cx="1538749" cy="115406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762406" y="4843613"/>
            <a:ext cx="1477693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20282C"/>
                </a:solidFill>
                <a:latin typeface="DejaVu Sans"/>
              </a:rPr>
              <a:t>After refinement</a:t>
            </a:r>
          </a:p>
        </p:txBody>
      </p:sp>
      <p:sp>
        <p:nvSpPr>
          <p:cNvPr id="62" name="Freeform 61"/>
          <p:cNvSpPr/>
          <p:nvPr/>
        </p:nvSpPr>
        <p:spPr>
          <a:xfrm>
            <a:off x="1880655" y="5679830"/>
            <a:ext cx="851223" cy="0"/>
          </a:xfrm>
          <a:custGeom>
            <a:avLst/>
            <a:gdLst/>
            <a:ahLst/>
            <a:cxnLst/>
            <a:rect l="l" t="t" r="r" b="b"/>
            <a:pathLst>
              <a:path w="851223" h="0">
                <a:moveTo>
                  <a:pt x="0" y="0"/>
                </a:moveTo>
                <a:lnTo>
                  <a:pt x="851223" y="0"/>
                </a:lnTo>
              </a:path>
            </a:pathLst>
          </a:custGeom>
          <a:noFill/>
          <a:ln w="18188">
            <a:solidFill>
              <a:srgbClr val="167568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36439" y="4948924"/>
            <a:ext cx="2455224" cy="250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0282C"/>
                </a:solidFill>
                <a:latin typeface="DejaVu Sans"/>
              </a:rPr>
              <a:t>Shared-anchor relation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36439" y="5296052"/>
            <a:ext cx="3568859" cy="30920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90" b="0">
                <a:solidFill>
                  <a:srgbClr val="20282C"/>
                </a:solidFill>
                <a:latin typeface="DejaVu Sans"/>
              </a:rPr>
              <a:t>T</a:t>
            </a:r>
            <a:r>
              <a:rPr sz="1253" b="0" baseline="-25000">
                <a:solidFill>
                  <a:srgbClr val="20282C"/>
                </a:solidFill>
                <a:latin typeface="DejaVu Sans"/>
              </a:rPr>
              <a:t>WCf</a:t>
            </a:r>
            <a:r>
              <a:rPr sz="1253" b="0" baseline="35000">
                <a:solidFill>
                  <a:srgbClr val="20282C"/>
                </a:solidFill>
                <a:latin typeface="DejaVu Sans"/>
              </a:rPr>
              <a:t>−1</a:t>
            </a:r>
            <a:r>
              <a:rPr sz="1790" b="0">
                <a:solidFill>
                  <a:srgbClr val="20282C"/>
                </a:solidFill>
                <a:latin typeface="DejaVu Sans"/>
              </a:rPr>
              <a:t> T</a:t>
            </a:r>
            <a:r>
              <a:rPr sz="1253" b="0" baseline="-25000">
                <a:solidFill>
                  <a:srgbClr val="20282C"/>
                </a:solidFill>
                <a:latin typeface="DejaVu Sans"/>
              </a:rPr>
              <a:t>WCk</a:t>
            </a:r>
            <a:r>
              <a:rPr sz="1790" b="0">
                <a:solidFill>
                  <a:srgbClr val="20282C"/>
                </a:solidFill>
                <a:latin typeface="DejaVu Sans"/>
              </a:rPr>
              <a:t> = T</a:t>
            </a:r>
            <a:r>
              <a:rPr sz="1253" b="0" baseline="-25000">
                <a:solidFill>
                  <a:srgbClr val="20282C"/>
                </a:solidFill>
                <a:latin typeface="DejaVu Sans"/>
              </a:rPr>
              <a:t>CkCf</a:t>
            </a:r>
            <a:r>
              <a:rPr sz="1253" b="0" baseline="35000">
                <a:solidFill>
                  <a:srgbClr val="20282C"/>
                </a:solidFill>
                <a:latin typeface="DejaVu Sans"/>
              </a:rPr>
              <a:t>−1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36439" y="5739307"/>
            <a:ext cx="4566343" cy="2411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6" b="0">
                <a:solidFill>
                  <a:srgbClr val="20282C"/>
                </a:solidFill>
                <a:latin typeface="DejaVu Sans"/>
              </a:rPr>
              <a:t>Pose corrections move map and cameras together.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36439" y="6104078"/>
            <a:ext cx="3750771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59636A"/>
                </a:solidFill>
                <a:latin typeface="DejaVu Sans"/>
              </a:rPr>
              <a:t>Optional initialisation: Sec. III-D · Eqs. (7–8)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87" y="690372"/>
            <a:ext cx="11704320" cy="54772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1905" y="515197"/>
            <a:ext cx="1281342" cy="2782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1" b="1">
                <a:solidFill>
                  <a:srgbClr val="20282C"/>
                </a:solidFill>
                <a:latin typeface="DejaVu Sans"/>
              </a:rPr>
              <a:t>(a) Predict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1905" y="882150"/>
            <a:ext cx="1392834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59636A"/>
                </a:solidFill>
                <a:latin typeface="DejaVu Sans"/>
              </a:rPr>
              <a:t>Ch. 2 · Eq. (2.7)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5216" y="515197"/>
            <a:ext cx="1280895" cy="2782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1" b="1">
                <a:solidFill>
                  <a:srgbClr val="20282C"/>
                </a:solidFill>
                <a:latin typeface="DejaVu Sans"/>
              </a:rPr>
              <a:t>(b) Anchor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5216" y="882150"/>
            <a:ext cx="1838098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59636A"/>
                </a:solidFill>
                <a:latin typeface="DejaVu Sans"/>
              </a:rPr>
              <a:t>Ch. 4 · Eqs. (4.1–4.3)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52024" y="515197"/>
            <a:ext cx="1166403" cy="2782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11" b="1">
                <a:solidFill>
                  <a:srgbClr val="20282C"/>
                </a:solidFill>
                <a:latin typeface="DejaVu Sans"/>
              </a:rPr>
              <a:t>(c) Refine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52024" y="882150"/>
            <a:ext cx="1392834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59636A"/>
                </a:solidFill>
                <a:latin typeface="DejaVu Sans"/>
              </a:rPr>
              <a:t>Ch. 7 · Eq. (7.1)</a:t>
            </a:r>
          </a:p>
        </p:txBody>
      </p:sp>
      <p:sp>
        <p:nvSpPr>
          <p:cNvPr id="8" name="Freeform 7"/>
          <p:cNvSpPr/>
          <p:nvPr/>
        </p:nvSpPr>
        <p:spPr>
          <a:xfrm>
            <a:off x="341905" y="1194538"/>
            <a:ext cx="11507884" cy="0"/>
          </a:xfrm>
          <a:custGeom>
            <a:avLst/>
            <a:gdLst/>
            <a:ahLst/>
            <a:cxnLst/>
            <a:rect l="l" t="t" r="r" b="b"/>
            <a:pathLst>
              <a:path w="11507884" h="0">
                <a:moveTo>
                  <a:pt x="0" y="0"/>
                </a:moveTo>
                <a:lnTo>
                  <a:pt x="11507884" y="0"/>
                </a:lnTo>
              </a:path>
            </a:pathLst>
          </a:custGeom>
          <a:noFill/>
          <a:ln w="11367">
            <a:solidFill>
              <a:srgbClr val="C5CB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05" y="1571041"/>
            <a:ext cx="1113138" cy="834853"/>
          </a:xfrm>
          <a:prstGeom prst="rect">
            <a:avLst/>
          </a:prstGeom>
        </p:spPr>
      </p:pic>
      <p:pic>
        <p:nvPicPr>
          <p:cNvPr id="10" name="Picture 9" descr="view1_g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05" y="2667809"/>
            <a:ext cx="1113138" cy="83485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2273" y="1254015"/>
            <a:ext cx="1019662" cy="2411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96" b="0">
                <a:solidFill>
                  <a:srgbClr val="20282C"/>
                </a:solidFill>
                <a:latin typeface="DejaVu Sans"/>
              </a:rPr>
              <a:t>Image pair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78873" y="2078501"/>
            <a:ext cx="1538749" cy="1129507"/>
          </a:xfrm>
          <a:prstGeom prst="rect">
            <a:avLst/>
          </a:prstGeom>
          <a:solidFill>
            <a:srgbClr val="FFFFFF"/>
          </a:solidFill>
          <a:ln w="15914">
            <a:solidFill>
              <a:srgbClr val="2028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25195" y="2198363"/>
            <a:ext cx="1046106" cy="513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5" b="1">
                <a:solidFill>
                  <a:srgbClr val="20282C"/>
                </a:solidFill>
                <a:latin typeface="DejaVu Sans"/>
              </a:rPr>
              <a:t>Shared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5" b="1">
                <a:solidFill>
                  <a:srgbClr val="20282C"/>
                </a:solidFill>
                <a:latin typeface="DejaVu Sans"/>
              </a:rPr>
              <a:t>predictor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41370" y="2892529"/>
            <a:ext cx="813755" cy="2380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78" b="0">
                <a:solidFill>
                  <a:srgbClr val="59636A"/>
                </a:solidFill>
                <a:latin typeface="DejaVu Sans"/>
              </a:rPr>
              <a:t>Splatt3R</a:t>
            </a:r>
          </a:p>
        </p:txBody>
      </p:sp>
      <p:sp>
        <p:nvSpPr>
          <p:cNvPr id="15" name="Freeform 14"/>
          <p:cNvSpPr/>
          <p:nvPr/>
        </p:nvSpPr>
        <p:spPr>
          <a:xfrm>
            <a:off x="1455043" y="1980283"/>
            <a:ext cx="523830" cy="376503"/>
          </a:xfrm>
          <a:custGeom>
            <a:avLst/>
            <a:gdLst/>
            <a:ahLst/>
            <a:cxnLst/>
            <a:rect l="l" t="t" r="r" b="b"/>
            <a:pathLst>
              <a:path w="523830" h="376503">
                <a:moveTo>
                  <a:pt x="0" y="0"/>
                </a:moveTo>
                <a:lnTo>
                  <a:pt x="278285" y="0"/>
                </a:lnTo>
                <a:lnTo>
                  <a:pt x="278285" y="376503"/>
                </a:lnTo>
                <a:lnTo>
                  <a:pt x="523830" y="376503"/>
                </a:lnTo>
              </a:path>
            </a:pathLst>
          </a:custGeom>
          <a:noFill/>
          <a:ln w="18188">
            <a:solidFill>
              <a:srgbClr val="20282C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455043" y="3077051"/>
            <a:ext cx="523830" cy="0"/>
          </a:xfrm>
          <a:custGeom>
            <a:avLst/>
            <a:gdLst/>
            <a:ahLst/>
            <a:cxnLst/>
            <a:rect l="l" t="t" r="r" b="b"/>
            <a:pathLst>
              <a:path w="523830" h="0">
                <a:moveTo>
                  <a:pt x="0" y="0"/>
                </a:moveTo>
                <a:lnTo>
                  <a:pt x="523830" y="0"/>
                </a:lnTo>
              </a:path>
            </a:pathLst>
          </a:custGeom>
          <a:noFill/>
          <a:ln w="18188">
            <a:solidFill>
              <a:srgbClr val="20282C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5216" y="1538302"/>
            <a:ext cx="2700996" cy="654787"/>
          </a:xfrm>
          <a:prstGeom prst="rect">
            <a:avLst/>
          </a:prstGeom>
          <a:solidFill>
            <a:srgbClr val="FFFFFF"/>
          </a:solidFill>
          <a:ln w="15914">
            <a:solidFill>
              <a:srgbClr val="2028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2750" y="1738921"/>
            <a:ext cx="2305929" cy="2535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67" b="1">
                <a:solidFill>
                  <a:srgbClr val="20282C"/>
                </a:solidFill>
                <a:latin typeface="DejaVu Sans"/>
              </a:rPr>
              <a:t>Tracker + pose graph</a:t>
            </a:r>
          </a:p>
        </p:txBody>
      </p:sp>
      <p:sp>
        <p:nvSpPr>
          <p:cNvPr id="19" name="Freeform 18"/>
          <p:cNvSpPr/>
          <p:nvPr/>
        </p:nvSpPr>
        <p:spPr>
          <a:xfrm>
            <a:off x="3517623" y="1865695"/>
            <a:ext cx="867593" cy="491091"/>
          </a:xfrm>
          <a:custGeom>
            <a:avLst/>
            <a:gdLst/>
            <a:ahLst/>
            <a:cxnLst/>
            <a:rect l="l" t="t" r="r" b="b"/>
            <a:pathLst>
              <a:path w="867593" h="491091">
                <a:moveTo>
                  <a:pt x="0" y="491091"/>
                </a:moveTo>
                <a:lnTo>
                  <a:pt x="376502" y="491091"/>
                </a:lnTo>
                <a:lnTo>
                  <a:pt x="376502" y="0"/>
                </a:lnTo>
                <a:lnTo>
                  <a:pt x="867593" y="0"/>
                </a:lnTo>
              </a:path>
            </a:pathLst>
          </a:custGeom>
          <a:noFill/>
          <a:ln w="18188">
            <a:solidFill>
              <a:srgbClr val="376687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46085" y="1504198"/>
            <a:ext cx="917463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376687"/>
                </a:solidFill>
                <a:latin typeface="DejaVu Sans"/>
              </a:rPr>
              <a:t>Geometry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5216" y="2798767"/>
            <a:ext cx="2700996" cy="1522380"/>
          </a:xfrm>
          <a:prstGeom prst="rect">
            <a:avLst/>
          </a:prstGeom>
          <a:solidFill>
            <a:srgbClr val="FFFFFF"/>
          </a:solidFill>
          <a:ln w="15914">
            <a:solidFill>
              <a:srgbClr val="C5CB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6173" y="2413170"/>
            <a:ext cx="1578537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20282C"/>
                </a:solidFill>
                <a:latin typeface="DejaVu Sans"/>
              </a:rPr>
              <a:t>Anchor k: T_WCₖ</a:t>
            </a:r>
          </a:p>
        </p:txBody>
      </p:sp>
      <p:sp>
        <p:nvSpPr>
          <p:cNvPr id="23" name="Freeform 22"/>
          <p:cNvSpPr/>
          <p:nvPr/>
        </p:nvSpPr>
        <p:spPr>
          <a:xfrm>
            <a:off x="6791558" y="2193089"/>
            <a:ext cx="0" cy="605678"/>
          </a:xfrm>
          <a:custGeom>
            <a:avLst/>
            <a:gdLst/>
            <a:ahLst/>
            <a:cxnLst/>
            <a:rect l="l" t="t" r="r" b="b"/>
            <a:pathLst>
              <a:path w="0" h="605678">
                <a:moveTo>
                  <a:pt x="0" y="0"/>
                </a:moveTo>
                <a:lnTo>
                  <a:pt x="0" y="605678"/>
                </a:lnTo>
              </a:path>
            </a:pathLst>
          </a:custGeom>
          <a:noFill/>
          <a:ln w="18188">
            <a:solidFill>
              <a:srgbClr val="376687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 rot="20100000">
            <a:off x="4550222" y="3116993"/>
            <a:ext cx="272391" cy="110004"/>
          </a:xfrm>
          <a:prstGeom prst="ellipse">
            <a:avLst/>
          </a:prstGeom>
          <a:solidFill>
            <a:srgbClr val="FFFFFF"/>
          </a:solidFill>
          <a:ln w="15914">
            <a:solidFill>
              <a:srgbClr val="16756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 rot="1200000">
            <a:off x="4738801" y="3033181"/>
            <a:ext cx="272391" cy="110004"/>
          </a:xfrm>
          <a:prstGeom prst="ellipse">
            <a:avLst/>
          </a:prstGeom>
          <a:solidFill>
            <a:srgbClr val="FFFFFF"/>
          </a:solidFill>
          <a:ln w="15914">
            <a:solidFill>
              <a:srgbClr val="16756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 rot="20700000">
            <a:off x="4906426" y="3158900"/>
            <a:ext cx="272391" cy="110004"/>
          </a:xfrm>
          <a:prstGeom prst="ellipse">
            <a:avLst/>
          </a:prstGeom>
          <a:solidFill>
            <a:srgbClr val="FFFFFF"/>
          </a:solidFill>
          <a:ln w="15914">
            <a:solidFill>
              <a:srgbClr val="16756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 rot="1080000">
            <a:off x="4665465" y="3253189"/>
            <a:ext cx="272391" cy="110004"/>
          </a:xfrm>
          <a:prstGeom prst="ellipse">
            <a:avLst/>
          </a:prstGeom>
          <a:solidFill>
            <a:srgbClr val="FFFFFF"/>
          </a:solidFill>
          <a:ln w="15914">
            <a:solidFill>
              <a:srgbClr val="16756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16505" y="3100697"/>
            <a:ext cx="1262085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20282C"/>
                </a:solidFill>
                <a:latin typeface="DejaVu Sans"/>
              </a:rPr>
              <a:t>Local map Gₖ</a:t>
            </a:r>
          </a:p>
        </p:txBody>
      </p:sp>
      <p:sp>
        <p:nvSpPr>
          <p:cNvPr id="29" name="Freeform 28"/>
          <p:cNvSpPr/>
          <p:nvPr/>
        </p:nvSpPr>
        <p:spPr>
          <a:xfrm>
            <a:off x="4565282" y="3802556"/>
            <a:ext cx="263879" cy="284177"/>
          </a:xfrm>
          <a:custGeom>
            <a:avLst/>
            <a:gdLst/>
            <a:ahLst/>
            <a:cxnLst/>
            <a:rect l="l" t="t" r="r" b="b"/>
            <a:pathLst>
              <a:path w="263879" h="284177">
                <a:moveTo>
                  <a:pt x="0" y="142088"/>
                </a:moveTo>
                <a:lnTo>
                  <a:pt x="263879" y="0"/>
                </a:lnTo>
                <a:lnTo>
                  <a:pt x="263879" y="284177"/>
                </a:lnTo>
                <a:lnTo>
                  <a:pt x="0" y="142088"/>
                </a:lnTo>
              </a:path>
            </a:pathLst>
          </a:custGeom>
          <a:noFill/>
          <a:ln w="18188">
            <a:solidFill>
              <a:srgbClr val="37668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4829161" y="3741660"/>
            <a:ext cx="142089" cy="405968"/>
          </a:xfrm>
          <a:custGeom>
            <a:avLst/>
            <a:gdLst/>
            <a:ahLst/>
            <a:cxnLst/>
            <a:rect l="l" t="t" r="r" b="b"/>
            <a:pathLst>
              <a:path w="142089" h="405968">
                <a:moveTo>
                  <a:pt x="0" y="60896"/>
                </a:moveTo>
                <a:lnTo>
                  <a:pt x="142089" y="0"/>
                </a:lnTo>
                <a:lnTo>
                  <a:pt x="142089" y="405968"/>
                </a:lnTo>
                <a:lnTo>
                  <a:pt x="0" y="345073"/>
                </a:lnTo>
              </a:path>
            </a:pathLst>
          </a:custGeom>
          <a:noFill/>
          <a:ln w="13641">
            <a:solidFill>
              <a:srgbClr val="37668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6505" y="3693097"/>
            <a:ext cx="1367550" cy="2411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6" b="0">
                <a:solidFill>
                  <a:srgbClr val="20282C"/>
                </a:solidFill>
                <a:latin typeface="DejaVu Sans"/>
              </a:rPr>
              <a:t>RGB + relative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6505" y="3987751"/>
            <a:ext cx="1211187" cy="2411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6" b="0">
                <a:solidFill>
                  <a:srgbClr val="20282C"/>
                </a:solidFill>
                <a:latin typeface="DejaVu Sans"/>
              </a:rPr>
              <a:t>camera pose</a:t>
            </a:r>
          </a:p>
        </p:txBody>
      </p:sp>
      <p:sp>
        <p:nvSpPr>
          <p:cNvPr id="33" name="Freeform 32"/>
          <p:cNvSpPr/>
          <p:nvPr/>
        </p:nvSpPr>
        <p:spPr>
          <a:xfrm>
            <a:off x="3517623" y="2864246"/>
            <a:ext cx="867593" cy="360133"/>
          </a:xfrm>
          <a:custGeom>
            <a:avLst/>
            <a:gdLst/>
            <a:ahLst/>
            <a:cxnLst/>
            <a:rect l="l" t="t" r="r" b="b"/>
            <a:pathLst>
              <a:path w="867593" h="360133">
                <a:moveTo>
                  <a:pt x="0" y="0"/>
                </a:moveTo>
                <a:lnTo>
                  <a:pt x="327393" y="0"/>
                </a:lnTo>
                <a:lnTo>
                  <a:pt x="327393" y="360133"/>
                </a:lnTo>
                <a:lnTo>
                  <a:pt x="867593" y="360133"/>
                </a:lnTo>
              </a:path>
            </a:pathLst>
          </a:custGeom>
          <a:noFill/>
          <a:ln w="18188">
            <a:solidFill>
              <a:srgbClr val="167568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38719" y="3352426"/>
            <a:ext cx="946451" cy="23499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60" b="0">
                <a:solidFill>
                  <a:srgbClr val="167568"/>
                </a:solidFill>
                <a:latin typeface="DejaVu Sans"/>
              </a:rPr>
              <a:t>Gaussians</a:t>
            </a:r>
          </a:p>
        </p:txBody>
      </p:sp>
      <p:sp>
        <p:nvSpPr>
          <p:cNvPr id="35" name="Freeform 34"/>
          <p:cNvSpPr/>
          <p:nvPr/>
        </p:nvSpPr>
        <p:spPr>
          <a:xfrm>
            <a:off x="1455043" y="3322597"/>
            <a:ext cx="2930173" cy="671156"/>
          </a:xfrm>
          <a:custGeom>
            <a:avLst/>
            <a:gdLst/>
            <a:ahLst/>
            <a:cxnLst/>
            <a:rect l="l" t="t" r="r" b="b"/>
            <a:pathLst>
              <a:path w="2930173" h="671156">
                <a:moveTo>
                  <a:pt x="0" y="0"/>
                </a:moveTo>
                <a:lnTo>
                  <a:pt x="163697" y="0"/>
                </a:lnTo>
                <a:lnTo>
                  <a:pt x="163697" y="671156"/>
                </a:lnTo>
                <a:lnTo>
                  <a:pt x="2930173" y="671156"/>
                </a:lnTo>
              </a:path>
            </a:pathLst>
          </a:custGeom>
          <a:noFill/>
          <a:ln w="18188">
            <a:solidFill>
              <a:srgbClr val="20282C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59206" y="3714105"/>
            <a:ext cx="1145344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59636A"/>
                </a:solidFill>
                <a:latin typeface="DejaVu Sans"/>
              </a:rPr>
              <a:t>Tracked RGB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52024" y="2880615"/>
            <a:ext cx="1456901" cy="687526"/>
          </a:xfrm>
          <a:prstGeom prst="rect">
            <a:avLst/>
          </a:prstGeom>
          <a:solidFill>
            <a:srgbClr val="FFFFFF"/>
          </a:solidFill>
          <a:ln w="15914">
            <a:solidFill>
              <a:srgbClr val="2028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605" y="3096058"/>
            <a:ext cx="827738" cy="256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5" b="1">
                <a:solidFill>
                  <a:srgbClr val="20282C"/>
                </a:solidFill>
                <a:latin typeface="DejaVu Sans"/>
              </a:rPr>
              <a:t>Render</a:t>
            </a:r>
          </a:p>
        </p:txBody>
      </p:sp>
      <p:sp>
        <p:nvSpPr>
          <p:cNvPr id="39" name="Freeform 38"/>
          <p:cNvSpPr/>
          <p:nvPr/>
        </p:nvSpPr>
        <p:spPr>
          <a:xfrm>
            <a:off x="7086213" y="3224379"/>
            <a:ext cx="965811" cy="0"/>
          </a:xfrm>
          <a:custGeom>
            <a:avLst/>
            <a:gdLst/>
            <a:ahLst/>
            <a:cxnLst/>
            <a:rect l="l" t="t" r="r" b="b"/>
            <a:pathLst>
              <a:path w="965811" h="0">
                <a:moveTo>
                  <a:pt x="0" y="0"/>
                </a:moveTo>
                <a:lnTo>
                  <a:pt x="965811" y="0"/>
                </a:lnTo>
              </a:path>
            </a:pathLst>
          </a:custGeom>
          <a:noFill/>
          <a:ln w="18188">
            <a:solidFill>
              <a:srgbClr val="167568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52024" y="3911905"/>
            <a:ext cx="1718816" cy="654787"/>
          </a:xfrm>
          <a:prstGeom prst="rect">
            <a:avLst/>
          </a:prstGeom>
          <a:solidFill>
            <a:srgbClr val="FFFFFF"/>
          </a:solidFill>
          <a:ln w="15914">
            <a:solidFill>
              <a:srgbClr val="2028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0979" y="4115617"/>
            <a:ext cx="1220905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20282C"/>
                </a:solidFill>
                <a:latin typeface="DejaVu Sans"/>
              </a:rPr>
              <a:t>Sample view</a:t>
            </a:r>
          </a:p>
        </p:txBody>
      </p:sp>
      <p:sp>
        <p:nvSpPr>
          <p:cNvPr id="42" name="Freeform 41"/>
          <p:cNvSpPr/>
          <p:nvPr/>
        </p:nvSpPr>
        <p:spPr>
          <a:xfrm>
            <a:off x="7086213" y="4042862"/>
            <a:ext cx="965811" cy="196437"/>
          </a:xfrm>
          <a:custGeom>
            <a:avLst/>
            <a:gdLst/>
            <a:ahLst/>
            <a:cxnLst/>
            <a:rect l="l" t="t" r="r" b="b"/>
            <a:pathLst>
              <a:path w="965811" h="196437">
                <a:moveTo>
                  <a:pt x="0" y="0"/>
                </a:moveTo>
                <a:lnTo>
                  <a:pt x="507460" y="0"/>
                </a:lnTo>
                <a:lnTo>
                  <a:pt x="507460" y="196437"/>
                </a:lnTo>
                <a:lnTo>
                  <a:pt x="965811" y="196437"/>
                </a:lnTo>
              </a:path>
            </a:pathLst>
          </a:custGeom>
          <a:noFill/>
          <a:ln w="18188">
            <a:solidFill>
              <a:srgbClr val="376687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8772290" y="3568142"/>
            <a:ext cx="0" cy="343763"/>
          </a:xfrm>
          <a:custGeom>
            <a:avLst/>
            <a:gdLst/>
            <a:ahLst/>
            <a:cxnLst/>
            <a:rect l="l" t="t" r="r" b="b"/>
            <a:pathLst>
              <a:path w="0" h="343763">
                <a:moveTo>
                  <a:pt x="0" y="343763"/>
                </a:moveTo>
                <a:lnTo>
                  <a:pt x="0" y="0"/>
                </a:lnTo>
              </a:path>
            </a:pathLst>
          </a:custGeom>
          <a:noFill/>
          <a:ln w="18188">
            <a:solidFill>
              <a:srgbClr val="376687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360148" y="2880615"/>
            <a:ext cx="1456901" cy="687526"/>
          </a:xfrm>
          <a:prstGeom prst="rect">
            <a:avLst/>
          </a:prstGeom>
          <a:solidFill>
            <a:srgbClr val="FFFFFF"/>
          </a:solidFill>
          <a:ln w="15914">
            <a:solidFill>
              <a:srgbClr val="2028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23557" y="3096058"/>
            <a:ext cx="530084" cy="256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5" b="1">
                <a:solidFill>
                  <a:srgbClr val="20282C"/>
                </a:solidFill>
                <a:latin typeface="DejaVu Sans"/>
              </a:rPr>
              <a:t>Loss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01449" y="3645534"/>
            <a:ext cx="939446" cy="23808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78" b="0">
                <a:solidFill>
                  <a:srgbClr val="59636A"/>
                </a:solidFill>
                <a:latin typeface="DejaVu Sans"/>
              </a:rPr>
              <a:t>L1 + SSIM</a:t>
            </a:r>
          </a:p>
        </p:txBody>
      </p:sp>
      <p:sp>
        <p:nvSpPr>
          <p:cNvPr id="47" name="Freeform 46"/>
          <p:cNvSpPr/>
          <p:nvPr/>
        </p:nvSpPr>
        <p:spPr>
          <a:xfrm>
            <a:off x="9508925" y="3224379"/>
            <a:ext cx="851223" cy="0"/>
          </a:xfrm>
          <a:custGeom>
            <a:avLst/>
            <a:gdLst/>
            <a:ahLst/>
            <a:cxnLst/>
            <a:rect l="l" t="t" r="r" b="b"/>
            <a:pathLst>
              <a:path w="851223" h="0">
                <a:moveTo>
                  <a:pt x="0" y="0"/>
                </a:moveTo>
                <a:lnTo>
                  <a:pt x="851223" y="0"/>
                </a:lnTo>
              </a:path>
            </a:pathLst>
          </a:custGeom>
          <a:noFill/>
          <a:ln w="18188">
            <a:solidFill>
              <a:srgbClr val="20282C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05361" y="2871521"/>
            <a:ext cx="458350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20282C"/>
                </a:solidFill>
                <a:latin typeface="DejaVu Sans"/>
              </a:rPr>
              <a:t>Î</a:t>
            </a:r>
          </a:p>
        </p:txBody>
      </p:sp>
      <p:sp>
        <p:nvSpPr>
          <p:cNvPr id="49" name="Freeform 48"/>
          <p:cNvSpPr/>
          <p:nvPr/>
        </p:nvSpPr>
        <p:spPr>
          <a:xfrm>
            <a:off x="9770840" y="3568142"/>
            <a:ext cx="1931622" cy="671157"/>
          </a:xfrm>
          <a:custGeom>
            <a:avLst/>
            <a:gdLst/>
            <a:ahLst/>
            <a:cxnLst/>
            <a:rect l="l" t="t" r="r" b="b"/>
            <a:pathLst>
              <a:path w="1931622" h="671157">
                <a:moveTo>
                  <a:pt x="0" y="671157"/>
                </a:moveTo>
                <a:lnTo>
                  <a:pt x="1931622" y="671157"/>
                </a:lnTo>
                <a:lnTo>
                  <a:pt x="1931622" y="0"/>
                </a:lnTo>
              </a:path>
            </a:pathLst>
          </a:custGeom>
          <a:noFill/>
          <a:ln w="18188">
            <a:solidFill>
              <a:srgbClr val="20282C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69058" y="3886441"/>
            <a:ext cx="458350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20282C"/>
                </a:solidFill>
                <a:latin typeface="DejaVu Sans"/>
              </a:rPr>
              <a:t>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360148" y="1538302"/>
            <a:ext cx="1456901" cy="654787"/>
          </a:xfrm>
          <a:prstGeom prst="rect">
            <a:avLst/>
          </a:prstGeom>
          <a:solidFill>
            <a:srgbClr val="FFFFFF"/>
          </a:solidFill>
          <a:ln w="15914">
            <a:solidFill>
              <a:srgbClr val="2028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53043" y="1737375"/>
            <a:ext cx="671112" cy="256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85" b="1">
                <a:solidFill>
                  <a:srgbClr val="20282C"/>
                </a:solidFill>
                <a:latin typeface="DejaVu Sans"/>
              </a:rPr>
              <a:t>Adam</a:t>
            </a:r>
          </a:p>
        </p:txBody>
      </p:sp>
      <p:sp>
        <p:nvSpPr>
          <p:cNvPr id="53" name="Freeform 52"/>
          <p:cNvSpPr/>
          <p:nvPr/>
        </p:nvSpPr>
        <p:spPr>
          <a:xfrm>
            <a:off x="11088599" y="2193089"/>
            <a:ext cx="0" cy="687526"/>
          </a:xfrm>
          <a:custGeom>
            <a:avLst/>
            <a:gdLst/>
            <a:ahLst/>
            <a:cxnLst/>
            <a:rect l="l" t="t" r="r" b="b"/>
            <a:pathLst>
              <a:path w="0" h="687526">
                <a:moveTo>
                  <a:pt x="0" y="687526"/>
                </a:moveTo>
                <a:lnTo>
                  <a:pt x="0" y="0"/>
                </a:lnTo>
              </a:path>
            </a:pathLst>
          </a:custGeom>
          <a:noFill/>
          <a:ln w="18188">
            <a:solidFill>
              <a:srgbClr val="20282C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61370" y="2413170"/>
            <a:ext cx="473498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20282C"/>
                </a:solidFill>
                <a:latin typeface="DejaVu Sans"/>
              </a:rPr>
              <a:t>∇θ L</a:t>
            </a:r>
          </a:p>
        </p:txBody>
      </p:sp>
      <p:sp>
        <p:nvSpPr>
          <p:cNvPr id="55" name="Freeform 54"/>
          <p:cNvSpPr/>
          <p:nvPr/>
        </p:nvSpPr>
        <p:spPr>
          <a:xfrm>
            <a:off x="7086213" y="1865695"/>
            <a:ext cx="3273935" cy="1047660"/>
          </a:xfrm>
          <a:custGeom>
            <a:avLst/>
            <a:gdLst/>
            <a:ahLst/>
            <a:cxnLst/>
            <a:rect l="l" t="t" r="r" b="b"/>
            <a:pathLst>
              <a:path w="3273935" h="1047660">
                <a:moveTo>
                  <a:pt x="3273935" y="0"/>
                </a:moveTo>
                <a:lnTo>
                  <a:pt x="409242" y="0"/>
                </a:lnTo>
                <a:lnTo>
                  <a:pt x="409242" y="1047660"/>
                </a:lnTo>
                <a:lnTo>
                  <a:pt x="0" y="1047660"/>
                </a:lnTo>
              </a:path>
            </a:pathLst>
          </a:custGeom>
          <a:noFill/>
          <a:ln w="18188">
            <a:solidFill>
              <a:srgbClr val="167568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46692" y="1512838"/>
            <a:ext cx="883934" cy="2473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32" b="0">
                <a:solidFill>
                  <a:srgbClr val="167568"/>
                </a:solidFill>
                <a:latin typeface="DejaVu Sans"/>
              </a:rPr>
              <a:t>Update θ</a:t>
            </a:r>
          </a:p>
        </p:txBody>
      </p:sp>
      <p:sp>
        <p:nvSpPr>
          <p:cNvPr id="57" name="Freeform 56"/>
          <p:cNvSpPr/>
          <p:nvPr/>
        </p:nvSpPr>
        <p:spPr>
          <a:xfrm>
            <a:off x="341905" y="4779498"/>
            <a:ext cx="11507884" cy="0"/>
          </a:xfrm>
          <a:custGeom>
            <a:avLst/>
            <a:gdLst/>
            <a:ahLst/>
            <a:cxnLst/>
            <a:rect l="l" t="t" r="r" b="b"/>
            <a:pathLst>
              <a:path w="11507884" h="0">
                <a:moveTo>
                  <a:pt x="0" y="0"/>
                </a:moveTo>
                <a:lnTo>
                  <a:pt x="11507884" y="0"/>
                </a:lnTo>
              </a:path>
            </a:pathLst>
          </a:custGeom>
          <a:noFill/>
          <a:ln w="11367">
            <a:solidFill>
              <a:srgbClr val="C5CBC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8" name="Picture 57" descr="bef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05" y="5123261"/>
            <a:ext cx="1538749" cy="115406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306104" y="4843613"/>
            <a:ext cx="1610351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20282C"/>
                </a:solidFill>
                <a:latin typeface="DejaVu Sans"/>
              </a:rPr>
              <a:t>Before refinement</a:t>
            </a:r>
          </a:p>
        </p:txBody>
      </p:sp>
      <p:pic>
        <p:nvPicPr>
          <p:cNvPr id="60" name="Picture 59" descr="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31878" y="5123261"/>
            <a:ext cx="1538749" cy="115406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762406" y="4843613"/>
            <a:ext cx="1477693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20282C"/>
                </a:solidFill>
                <a:latin typeface="DejaVu Sans"/>
              </a:rPr>
              <a:t>After refinement</a:t>
            </a:r>
          </a:p>
        </p:txBody>
      </p:sp>
      <p:sp>
        <p:nvSpPr>
          <p:cNvPr id="62" name="Freeform 61"/>
          <p:cNvSpPr/>
          <p:nvPr/>
        </p:nvSpPr>
        <p:spPr>
          <a:xfrm>
            <a:off x="1880655" y="5679830"/>
            <a:ext cx="851223" cy="0"/>
          </a:xfrm>
          <a:custGeom>
            <a:avLst/>
            <a:gdLst/>
            <a:ahLst/>
            <a:cxnLst/>
            <a:rect l="l" t="t" r="r" b="b"/>
            <a:pathLst>
              <a:path w="851223" h="0">
                <a:moveTo>
                  <a:pt x="0" y="0"/>
                </a:moveTo>
                <a:lnTo>
                  <a:pt x="851223" y="0"/>
                </a:lnTo>
              </a:path>
            </a:pathLst>
          </a:custGeom>
          <a:noFill/>
          <a:ln w="18188">
            <a:solidFill>
              <a:srgbClr val="167568"/>
            </a:solidFill>
            <a:tailEnd type="triangle" w="sm" len="sm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36439" y="4948924"/>
            <a:ext cx="2455224" cy="250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0282C"/>
                </a:solidFill>
                <a:latin typeface="DejaVu Sans"/>
              </a:rPr>
              <a:t>Shared-anchor relation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36439" y="5296052"/>
            <a:ext cx="3568859" cy="30920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90" b="0">
                <a:solidFill>
                  <a:srgbClr val="20282C"/>
                </a:solidFill>
                <a:latin typeface="DejaVu Sans"/>
              </a:rPr>
              <a:t>T</a:t>
            </a:r>
            <a:r>
              <a:rPr sz="1253" b="0" baseline="-25000">
                <a:solidFill>
                  <a:srgbClr val="20282C"/>
                </a:solidFill>
                <a:latin typeface="DejaVu Sans"/>
              </a:rPr>
              <a:t>WCf</a:t>
            </a:r>
            <a:r>
              <a:rPr sz="1253" b="0" baseline="35000">
                <a:solidFill>
                  <a:srgbClr val="20282C"/>
                </a:solidFill>
                <a:latin typeface="DejaVu Sans"/>
              </a:rPr>
              <a:t>−1</a:t>
            </a:r>
            <a:r>
              <a:rPr sz="1790" b="0">
                <a:solidFill>
                  <a:srgbClr val="20282C"/>
                </a:solidFill>
                <a:latin typeface="DejaVu Sans"/>
              </a:rPr>
              <a:t> T</a:t>
            </a:r>
            <a:r>
              <a:rPr sz="1253" b="0" baseline="-25000">
                <a:solidFill>
                  <a:srgbClr val="20282C"/>
                </a:solidFill>
                <a:latin typeface="DejaVu Sans"/>
              </a:rPr>
              <a:t>WCk</a:t>
            </a:r>
            <a:r>
              <a:rPr sz="1790" b="0">
                <a:solidFill>
                  <a:srgbClr val="20282C"/>
                </a:solidFill>
                <a:latin typeface="DejaVu Sans"/>
              </a:rPr>
              <a:t> = T</a:t>
            </a:r>
            <a:r>
              <a:rPr sz="1253" b="0" baseline="-25000">
                <a:solidFill>
                  <a:srgbClr val="20282C"/>
                </a:solidFill>
                <a:latin typeface="DejaVu Sans"/>
              </a:rPr>
              <a:t>CkCf</a:t>
            </a:r>
            <a:r>
              <a:rPr sz="1253" b="0" baseline="35000">
                <a:solidFill>
                  <a:srgbClr val="20282C"/>
                </a:solidFill>
                <a:latin typeface="DejaVu Sans"/>
              </a:rPr>
              <a:t>−1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36439" y="5739307"/>
            <a:ext cx="4566343" cy="2411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96" b="0">
                <a:solidFill>
                  <a:srgbClr val="20282C"/>
                </a:solidFill>
                <a:latin typeface="DejaVu Sans"/>
              </a:rPr>
              <a:t>Pose corrections move map and cameras together.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36439" y="6104078"/>
            <a:ext cx="3598425" cy="2319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42" b="0">
                <a:solidFill>
                  <a:srgbClr val="59636A"/>
                </a:solidFill>
                <a:latin typeface="DejaVu Sans"/>
              </a:rPr>
              <a:t>Optional initialisation: Chs. 5–6 · Eq. (6.1)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Splatt3R-SLAM — Figures 1–3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