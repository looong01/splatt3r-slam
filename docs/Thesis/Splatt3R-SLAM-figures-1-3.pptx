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4186" y="1143422"/>
            <a:ext cx="3049119" cy="2526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2" b="1">
                <a:solidFill>
                  <a:srgbClr val="20282C"/>
                </a:solidFill>
                <a:latin typeface="DejaVu Sans"/>
              </a:rPr>
              <a:t>Pairs to a persistent 3D map</a:t>
            </a:r>
          </a:p>
        </p:txBody>
      </p:sp>
      <p:pic>
        <p:nvPicPr>
          <p:cNvPr id="3" name="Picture 2" descr="desk_24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24" y="1737040"/>
            <a:ext cx="999061" cy="749296"/>
          </a:xfrm>
          <a:prstGeom prst="rect">
            <a:avLst/>
          </a:prstGeom>
        </p:spPr>
      </p:pic>
      <p:pic>
        <p:nvPicPr>
          <p:cNvPr id="4" name="Picture 3" descr="desk_377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784" y="1737040"/>
            <a:ext cx="999061" cy="749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637" y="2626527"/>
            <a:ext cx="2326671" cy="2191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8" b="0">
                <a:solidFill>
                  <a:srgbClr val="167568"/>
                </a:solidFill>
                <a:latin typeface="DejaVu Sans"/>
              </a:rPr>
              <a:t>shared map–camera anchor</a:t>
            </a:r>
          </a:p>
        </p:txBody>
      </p:sp>
      <p:pic>
        <p:nvPicPr>
          <p:cNvPr id="6" name="Picture 5" descr="desk_orbit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11" y="3058380"/>
            <a:ext cx="3190552" cy="23929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3448" y="1143422"/>
            <a:ext cx="3633239" cy="2526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2" b="1">
                <a:solidFill>
                  <a:srgbClr val="20282C"/>
                </a:solidFill>
                <a:latin typeface="DejaVu Sans"/>
              </a:rPr>
              <a:t>TUM desk: matched camera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1539" y="1602220"/>
            <a:ext cx="1242151" cy="2374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4" b="1">
                <a:solidFill>
                  <a:srgbClr val="20282C"/>
                </a:solidFill>
                <a:latin typeface="DejaVu Sans"/>
              </a:rPr>
              <a:t>Photo-SLAM</a:t>
            </a:r>
          </a:p>
        </p:txBody>
      </p:sp>
      <p:pic>
        <p:nvPicPr>
          <p:cNvPr id="9" name="Picture 8" descr="desk_24_photo.png"/>
          <p:cNvPicPr>
            <a:picLocks noChangeAspect="1"/>
          </p:cNvPicPr>
          <p:nvPr/>
        </p:nvPicPr>
        <p:blipFill>
          <a:blip r:embed="rId5"/>
          <a:srcRect t="5208" b="5208"/>
          <a:stretch>
            <a:fillRect/>
          </a:stretch>
        </p:blipFill>
        <p:spPr>
          <a:xfrm>
            <a:off x="3847958" y="1994862"/>
            <a:ext cx="2449313" cy="1643618"/>
          </a:xfrm>
          <a:prstGeom prst="rect">
            <a:avLst/>
          </a:prstGeom>
        </p:spPr>
      </p:pic>
      <p:pic>
        <p:nvPicPr>
          <p:cNvPr id="10" name="Picture 9" descr="desk_377_photo.png"/>
          <p:cNvPicPr>
            <a:picLocks noChangeAspect="1"/>
          </p:cNvPicPr>
          <p:nvPr/>
        </p:nvPicPr>
        <p:blipFill>
          <a:blip r:embed="rId6"/>
          <a:srcRect t="5208" b="5208"/>
          <a:stretch>
            <a:fillRect/>
          </a:stretch>
        </p:blipFill>
        <p:spPr>
          <a:xfrm>
            <a:off x="3847958" y="3767391"/>
            <a:ext cx="2449313" cy="16436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36050" y="1602220"/>
            <a:ext cx="526261" cy="2374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4" b="1">
                <a:solidFill>
                  <a:srgbClr val="167568"/>
                </a:solidFill>
                <a:latin typeface="DejaVu Sans"/>
              </a:rPr>
              <a:t>Ours</a:t>
            </a:r>
          </a:p>
        </p:txBody>
      </p:sp>
      <p:pic>
        <p:nvPicPr>
          <p:cNvPr id="12" name="Picture 11" descr="desk_24_ours.png"/>
          <p:cNvPicPr>
            <a:picLocks noChangeAspect="1"/>
          </p:cNvPicPr>
          <p:nvPr/>
        </p:nvPicPr>
        <p:blipFill>
          <a:blip r:embed="rId7"/>
          <a:srcRect t="5208" b="5208"/>
          <a:stretch>
            <a:fillRect/>
          </a:stretch>
        </p:blipFill>
        <p:spPr>
          <a:xfrm>
            <a:off x="6474524" y="1994862"/>
            <a:ext cx="2449313" cy="1643618"/>
          </a:xfrm>
          <a:prstGeom prst="rect">
            <a:avLst/>
          </a:prstGeom>
        </p:spPr>
      </p:pic>
      <p:pic>
        <p:nvPicPr>
          <p:cNvPr id="13" name="Picture 12" descr="desk_377_ours.png"/>
          <p:cNvPicPr>
            <a:picLocks noChangeAspect="1"/>
          </p:cNvPicPr>
          <p:nvPr/>
        </p:nvPicPr>
        <p:blipFill>
          <a:blip r:embed="rId8"/>
          <a:srcRect t="5208" b="5208"/>
          <a:stretch>
            <a:fillRect/>
          </a:stretch>
        </p:blipFill>
        <p:spPr>
          <a:xfrm>
            <a:off x="6474524" y="3767391"/>
            <a:ext cx="2449313" cy="164361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230001" y="1592015"/>
            <a:ext cx="2529882" cy="3818994"/>
          </a:xfrm>
          <a:prstGeom prst="rect">
            <a:avLst/>
          </a:prstGeom>
          <a:solidFill>
            <a:srgbClr val="0E1215"/>
          </a:solidFill>
          <a:ln w="15666">
            <a:solidFill>
              <a:srgbClr val="0E12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84201" y="1750289"/>
            <a:ext cx="1221482" cy="2313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9" b="0">
                <a:solidFill>
                  <a:srgbClr val="C9D2D6"/>
                </a:solidFill>
                <a:latin typeface="DejaVu Sans"/>
              </a:rPr>
              <a:t>3D Gaussians</a:t>
            </a:r>
          </a:p>
        </p:txBody>
      </p:sp>
      <p:pic>
        <p:nvPicPr>
          <p:cNvPr id="16" name="Picture 15" descr="gauss_cloud.png"/>
          <p:cNvPicPr>
            <a:picLocks noChangeAspect="1"/>
          </p:cNvPicPr>
          <p:nvPr/>
        </p:nvPicPr>
        <p:blipFill>
          <a:blip r:embed="rId9"/>
          <a:srcRect l="17538" r="17538"/>
          <a:stretch>
            <a:fillRect/>
          </a:stretch>
        </p:blipFill>
        <p:spPr>
          <a:xfrm>
            <a:off x="9342798" y="2284912"/>
            <a:ext cx="2304287" cy="25943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94515" y="5001358"/>
            <a:ext cx="1200854" cy="2069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8" b="0">
                <a:solidFill>
                  <a:srgbClr val="C9D2D6"/>
                </a:solidFill>
                <a:latin typeface="DejaVu Sans"/>
              </a:rPr>
              <a:t>TUM desk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0380" y="5544665"/>
            <a:ext cx="4659375" cy="216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1" b="1">
                <a:solidFill>
                  <a:srgbClr val="167568"/>
                </a:solidFill>
                <a:latin typeface="DejaVu Sans"/>
              </a:rPr>
              <a:t>Mean paired-frame ΔPSNR: +3.53 dB  ·  100 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" name="Freeform 43"/>
          <p:cNvSpPr/>
          <p:nvPr/>
        </p:nvSpPr>
        <p:spPr>
          <a:xfrm>
            <a:off x="1387085" y="2402089"/>
            <a:ext cx="388222" cy="0"/>
          </a:xfrm>
          <a:custGeom>
            <a:avLst/>
            <a:gdLst/>
            <a:ahLst/>
            <a:cxnLst/>
            <a:rect l="l" t="t" r="r" b="b"/>
            <a:pathLst>
              <a:path w="388222" h="0">
                <a:moveTo>
                  <a:pt x="0" y="0"/>
                </a:moveTo>
                <a:lnTo>
                  <a:pt x="388222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683247" y="2815358"/>
            <a:ext cx="0" cy="212896"/>
          </a:xfrm>
          <a:custGeom>
            <a:avLst/>
            <a:gdLst/>
            <a:ahLst/>
            <a:cxnLst/>
            <a:rect l="l" t="t" r="r" b="b"/>
            <a:pathLst>
              <a:path w="0" h="212896">
                <a:moveTo>
                  <a:pt x="0" y="0"/>
                </a:moveTo>
                <a:lnTo>
                  <a:pt x="0" y="212896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683247" y="4293108"/>
            <a:ext cx="0" cy="75139"/>
          </a:xfrm>
          <a:custGeom>
            <a:avLst/>
            <a:gdLst/>
            <a:ahLst/>
            <a:cxnLst/>
            <a:rect l="l" t="t" r="r" b="b"/>
            <a:pathLst>
              <a:path w="0" h="75139">
                <a:moveTo>
                  <a:pt x="0" y="0"/>
                </a:moveTo>
                <a:lnTo>
                  <a:pt x="0" y="75139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591186" y="1888633"/>
            <a:ext cx="7188377" cy="538502"/>
          </a:xfrm>
          <a:custGeom>
            <a:avLst/>
            <a:gdLst/>
            <a:ahLst/>
            <a:cxnLst/>
            <a:rect l="l" t="t" r="r" b="b"/>
            <a:pathLst>
              <a:path w="7188377" h="538502">
                <a:moveTo>
                  <a:pt x="0" y="538502"/>
                </a:moveTo>
                <a:lnTo>
                  <a:pt x="313083" y="538502"/>
                </a:lnTo>
                <a:lnTo>
                  <a:pt x="313083" y="0"/>
                </a:lnTo>
                <a:lnTo>
                  <a:pt x="7188377" y="0"/>
                </a:lnTo>
                <a:lnTo>
                  <a:pt x="7188377" y="313083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6909" y="1638306"/>
            <a:ext cx="1694520" cy="1750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3" b="0">
                <a:solidFill>
                  <a:srgbClr val="263B72"/>
                </a:solidFill>
                <a:latin typeface="DejaVu Sans"/>
              </a:rPr>
              <a:t>predicted local Gaussians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38114" y="4092874"/>
            <a:ext cx="1082898" cy="1750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3" b="0">
                <a:solidFill>
                  <a:srgbClr val="B53D38"/>
                </a:solidFill>
                <a:latin typeface="DejaVu Sans"/>
              </a:rPr>
              <a:t>same correction</a:t>
            </a:r>
          </a:p>
        </p:txBody>
      </p:sp>
      <p:sp>
        <p:nvSpPr>
          <p:cNvPr id="77" name="Freeform 76"/>
          <p:cNvSpPr/>
          <p:nvPr/>
        </p:nvSpPr>
        <p:spPr>
          <a:xfrm>
            <a:off x="9727605" y="3166010"/>
            <a:ext cx="363176" cy="0"/>
          </a:xfrm>
          <a:custGeom>
            <a:avLst/>
            <a:gdLst/>
            <a:ahLst/>
            <a:cxnLst/>
            <a:rect l="l" t="t" r="r" b="b"/>
            <a:pathLst>
              <a:path w="363176" h="0">
                <a:moveTo>
                  <a:pt x="363176" y="0"/>
                </a:moveTo>
                <a:lnTo>
                  <a:pt x="0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9727605" y="4781516"/>
            <a:ext cx="363176" cy="0"/>
          </a:xfrm>
          <a:custGeom>
            <a:avLst/>
            <a:gdLst/>
            <a:ahLst/>
            <a:cxnLst/>
            <a:rect l="l" t="t" r="r" b="b"/>
            <a:pathLst>
              <a:path w="363176" h="0">
                <a:moveTo>
                  <a:pt x="363176" y="0"/>
                </a:moveTo>
                <a:lnTo>
                  <a:pt x="0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9076394" y="3166010"/>
            <a:ext cx="338129" cy="0"/>
          </a:xfrm>
          <a:custGeom>
            <a:avLst/>
            <a:gdLst/>
            <a:ahLst/>
            <a:cxnLst/>
            <a:rect l="l" t="t" r="r" b="b"/>
            <a:pathLst>
              <a:path w="338129" h="0">
                <a:moveTo>
                  <a:pt x="338129" y="0"/>
                </a:moveTo>
                <a:lnTo>
                  <a:pt x="0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6575490" y="2965637"/>
            <a:ext cx="760164" cy="0"/>
          </a:xfrm>
          <a:custGeom>
            <a:avLst/>
            <a:gdLst/>
            <a:ahLst/>
            <a:cxnLst/>
            <a:rect l="l" t="t" r="r" b="b"/>
            <a:pathLst>
              <a:path w="760164" h="0">
                <a:moveTo>
                  <a:pt x="760164" y="0"/>
                </a:moveTo>
                <a:lnTo>
                  <a:pt x="0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34722" y="2654572"/>
            <a:ext cx="350652" cy="1963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263B72"/>
                </a:solidFill>
                <a:latin typeface="DejaVu Sans"/>
              </a:rPr>
              <a:t>Î</a:t>
            </a:r>
          </a:p>
        </p:txBody>
      </p:sp>
      <p:sp>
        <p:nvSpPr>
          <p:cNvPr id="82" name="Freeform 81"/>
          <p:cNvSpPr/>
          <p:nvPr/>
        </p:nvSpPr>
        <p:spPr>
          <a:xfrm>
            <a:off x="5507252" y="3291243"/>
            <a:ext cx="0" cy="325606"/>
          </a:xfrm>
          <a:custGeom>
            <a:avLst/>
            <a:gdLst/>
            <a:ahLst/>
            <a:cxnLst/>
            <a:rect l="l" t="t" r="r" b="b"/>
            <a:pathLst>
              <a:path w="0" h="325606">
                <a:moveTo>
                  <a:pt x="0" y="325606"/>
                </a:moveTo>
                <a:lnTo>
                  <a:pt x="0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77078" y="3355877"/>
            <a:ext cx="411372" cy="19633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6" b="0">
                <a:solidFill>
                  <a:srgbClr val="263B72"/>
                </a:solidFill>
                <a:latin typeface="DejaVu Sans"/>
              </a:rPr>
              <a:t>I_obs</a:t>
            </a:r>
          </a:p>
        </p:txBody>
      </p:sp>
      <p:sp>
        <p:nvSpPr>
          <p:cNvPr id="84" name="Freeform 83"/>
          <p:cNvSpPr/>
          <p:nvPr/>
        </p:nvSpPr>
        <p:spPr>
          <a:xfrm>
            <a:off x="3678849" y="4518527"/>
            <a:ext cx="951771" cy="463362"/>
          </a:xfrm>
          <a:custGeom>
            <a:avLst/>
            <a:gdLst/>
            <a:ahLst/>
            <a:cxnLst/>
            <a:rect l="l" t="t" r="r" b="b"/>
            <a:pathLst>
              <a:path w="951771" h="463362">
                <a:moveTo>
                  <a:pt x="0" y="463362"/>
                </a:moveTo>
                <a:lnTo>
                  <a:pt x="651212" y="463362"/>
                </a:lnTo>
                <a:lnTo>
                  <a:pt x="651212" y="0"/>
                </a:lnTo>
                <a:lnTo>
                  <a:pt x="951771" y="0"/>
                </a:lnTo>
              </a:path>
            </a:pathLst>
          </a:custGeom>
          <a:noFill/>
          <a:ln w="14784">
            <a:solidFill>
              <a:srgbClr val="263B72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3678849" y="4706377"/>
            <a:ext cx="3782038" cy="463362"/>
          </a:xfrm>
          <a:custGeom>
            <a:avLst/>
            <a:gdLst/>
            <a:ahLst/>
            <a:cxnLst/>
            <a:rect l="l" t="t" r="r" b="b"/>
            <a:pathLst>
              <a:path w="3782038" h="463362">
                <a:moveTo>
                  <a:pt x="0" y="463362"/>
                </a:moveTo>
                <a:lnTo>
                  <a:pt x="3356246" y="463362"/>
                </a:lnTo>
                <a:lnTo>
                  <a:pt x="3356246" y="0"/>
                </a:lnTo>
                <a:lnTo>
                  <a:pt x="3782038" y="0"/>
                </a:lnTo>
              </a:path>
            </a:pathLst>
          </a:custGeom>
          <a:noFill/>
          <a:ln w="14784">
            <a:solidFill>
              <a:srgbClr val="245597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62951" y="5010623"/>
            <a:ext cx="1514767" cy="16795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2" b="0">
                <a:solidFill>
                  <a:srgbClr val="245597"/>
                </a:solidFill>
                <a:latin typeface="DejaVu Sans"/>
              </a:rPr>
              <a:t>current keyframe poses</a:t>
            </a:r>
          </a:p>
        </p:txBody>
      </p:sp>
      <p:sp>
        <p:nvSpPr>
          <p:cNvPr id="87" name="Freeform 86"/>
          <p:cNvSpPr/>
          <p:nvPr/>
        </p:nvSpPr>
        <p:spPr>
          <a:xfrm>
            <a:off x="8324995" y="3103394"/>
            <a:ext cx="3293629" cy="2128961"/>
          </a:xfrm>
          <a:custGeom>
            <a:avLst/>
            <a:gdLst/>
            <a:ahLst/>
            <a:cxnLst/>
            <a:rect l="l" t="t" r="r" b="b"/>
            <a:pathLst>
              <a:path w="3293629" h="2128961">
                <a:moveTo>
                  <a:pt x="0" y="1878495"/>
                </a:moveTo>
                <a:lnTo>
                  <a:pt x="0" y="2128961"/>
                </a:lnTo>
                <a:lnTo>
                  <a:pt x="3293629" y="2128961"/>
                </a:lnTo>
                <a:lnTo>
                  <a:pt x="3293629" y="0"/>
                </a:lnTo>
                <a:lnTo>
                  <a:pt x="3143350" y="0"/>
                </a:lnTo>
              </a:path>
            </a:pathLst>
          </a:custGeom>
          <a:noFill/>
          <a:ln w="15654">
            <a:solidFill>
              <a:srgbClr val="B53D3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11468345" y="4756470"/>
            <a:ext cx="150279" cy="0"/>
          </a:xfrm>
          <a:custGeom>
            <a:avLst/>
            <a:gdLst/>
            <a:ahLst/>
            <a:cxnLst/>
            <a:rect l="l" t="t" r="r" b="b"/>
            <a:pathLst>
              <a:path w="150279" h="0">
                <a:moveTo>
                  <a:pt x="150279" y="0"/>
                </a:moveTo>
                <a:lnTo>
                  <a:pt x="0" y="0"/>
                </a:lnTo>
              </a:path>
            </a:pathLst>
          </a:custGeom>
          <a:noFill/>
          <a:ln w="15654">
            <a:solidFill>
              <a:srgbClr val="B53D3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5757718" y="2201716"/>
            <a:ext cx="4333063" cy="363175"/>
          </a:xfrm>
          <a:custGeom>
            <a:avLst/>
            <a:gdLst/>
            <a:ahLst/>
            <a:cxnLst/>
            <a:rect l="l" t="t" r="r" b="b"/>
            <a:pathLst>
              <a:path w="4333063" h="363175">
                <a:moveTo>
                  <a:pt x="0" y="363175"/>
                </a:moveTo>
                <a:lnTo>
                  <a:pt x="0" y="0"/>
                </a:lnTo>
                <a:lnTo>
                  <a:pt x="4120167" y="0"/>
                </a:lnTo>
                <a:lnTo>
                  <a:pt x="4120167" y="275512"/>
                </a:lnTo>
                <a:lnTo>
                  <a:pt x="4333063" y="275512"/>
                </a:lnTo>
              </a:path>
            </a:pathLst>
          </a:custGeom>
          <a:noFill/>
          <a:ln w="14784">
            <a:solidFill>
              <a:srgbClr val="B53D38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64690" y="1991324"/>
            <a:ext cx="1969211" cy="1703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6" b="0">
                <a:solidFill>
                  <a:srgbClr val="B53D38"/>
                </a:solidFill>
                <a:latin typeface="DejaVu Sans"/>
              </a:rPr>
              <a:t>optimise Gaussian parameters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39040" y="5518165"/>
            <a:ext cx="2099072" cy="1797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245597"/>
                </a:solidFill>
                <a:latin typeface="DejaVu Sans"/>
              </a:rPr>
              <a:t>Blue: geometry / fixed network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06958" y="5518165"/>
            <a:ext cx="4284303" cy="1797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B53D38"/>
                </a:solidFill>
                <a:latin typeface="DejaVu Sans"/>
              </a:rPr>
              <a:t>Red: map refinement  ·  map + cameras share the same anchor</a:t>
            </a:r>
          </a:p>
        </p:txBody>
      </p:sp>
      <p:grpSp>
        <p:nvGrpSpPr>
          <p:cNvPr id="93" name="Mapping module boundary and tab"/>
          <p:cNvGrpSpPr/>
          <p:nvPr/>
        </p:nvGrpSpPr>
        <p:grpSpPr>
          <a:xfrm>
            <a:off x="4154735" y="1162281"/>
            <a:ext cx="7626692" cy="4195307"/>
            <a:chOff x="4154735" y="1162281"/>
            <a:chExt cx="7626692" cy="4195307"/>
          </a:xfrm>
        </p:grpSpPr>
        <p:sp>
          <p:nvSpPr>
            <p:cNvPr id="2" name="Rounded Rectangle 1"/>
            <p:cNvSpPr/>
            <p:nvPr/>
          </p:nvSpPr>
          <p:spPr>
            <a:xfrm>
              <a:off x="4154735" y="1412748"/>
              <a:ext cx="7626692" cy="3944840"/>
            </a:xfrm>
            <a:prstGeom prst="roundRect">
              <a:avLst>
                <a:gd name="adj" fmla="val 2857"/>
              </a:avLst>
            </a:prstGeom>
            <a:noFill/>
            <a:ln w="34786">
              <a:solidFill>
                <a:srgbClr val="B53D3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6196034" y="1162281"/>
              <a:ext cx="2654940" cy="500932"/>
            </a:xfrm>
            <a:prstGeom prst="roundRect">
              <a:avLst>
                <a:gd name="adj" fmla="val 50000"/>
              </a:avLst>
            </a:prstGeom>
            <a:solidFill>
              <a:srgbClr val="FFF0ED"/>
            </a:solidFill>
            <a:ln w="34786">
              <a:solidFill>
                <a:srgbClr val="B53D3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670979" y="1292106"/>
              <a:ext cx="1705049" cy="2412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396" b="1">
                  <a:solidFill>
                    <a:srgbClr val="20282C"/>
                  </a:solidFill>
                  <a:latin typeface="DejaVu Sans"/>
                </a:rPr>
                <a:t>Mapping module</a:t>
              </a:r>
            </a:p>
          </p:txBody>
        </p:sp>
      </p:grpSp>
      <p:grpSp>
        <p:nvGrpSpPr>
          <p:cNvPr id="94" name="Tracking module"/>
          <p:cNvGrpSpPr/>
          <p:nvPr/>
        </p:nvGrpSpPr>
        <p:grpSpPr>
          <a:xfrm>
            <a:off x="410267" y="4368247"/>
            <a:ext cx="3506525" cy="976817"/>
            <a:chOff x="410267" y="4368247"/>
            <a:chExt cx="3506525" cy="976817"/>
          </a:xfrm>
        </p:grpSpPr>
        <p:sp>
          <p:nvSpPr>
            <p:cNvPr id="5" name="Rounded Rectangle 4"/>
            <p:cNvSpPr/>
            <p:nvPr/>
          </p:nvSpPr>
          <p:spPr>
            <a:xfrm>
              <a:off x="410267" y="4618713"/>
              <a:ext cx="3506525" cy="726351"/>
            </a:xfrm>
            <a:prstGeom prst="roundRect">
              <a:avLst>
                <a:gd name="adj" fmla="val 15517"/>
              </a:avLst>
            </a:prstGeom>
            <a:noFill/>
            <a:ln w="31308">
              <a:solidFill>
                <a:srgbClr val="24559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36246" y="4368247"/>
              <a:ext cx="2454567" cy="438315"/>
            </a:xfrm>
            <a:prstGeom prst="roundRect">
              <a:avLst>
                <a:gd name="adj" fmla="val 50000"/>
              </a:avLst>
            </a:prstGeom>
            <a:solidFill>
              <a:srgbClr val="EDF2FB"/>
            </a:solidFill>
            <a:ln w="31308">
              <a:solidFill>
                <a:srgbClr val="24559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00866" y="4486036"/>
              <a:ext cx="1525327" cy="2152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46" b="1">
                  <a:solidFill>
                    <a:srgbClr val="20282C"/>
                  </a:solidFill>
                  <a:latin typeface="DejaVu Sans"/>
                </a:rPr>
                <a:t>Tracking module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3163" y="4869180"/>
              <a:ext cx="3055686" cy="325605"/>
            </a:xfrm>
            <a:prstGeom prst="roundRect">
              <a:avLst>
                <a:gd name="adj" fmla="val 34615"/>
              </a:avLst>
            </a:prstGeom>
            <a:solidFill>
              <a:srgbClr val="DCE7F7"/>
            </a:solidFill>
            <a:ln w="12175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16121" y="4944458"/>
              <a:ext cx="1869769" cy="1750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13" b="0">
                  <a:solidFill>
                    <a:srgbClr val="263B72"/>
                  </a:solidFill>
                  <a:latin typeface="DejaVu Sans"/>
                </a:rPr>
                <a:t>MASt3R-SLAM  /  pose graph</a:t>
              </a:r>
            </a:p>
          </p:txBody>
        </p:sp>
      </p:grpSp>
      <p:grpSp>
        <p:nvGrpSpPr>
          <p:cNvPr id="95" name="Input RGB filmstrip"/>
          <p:cNvGrpSpPr/>
          <p:nvPr/>
        </p:nvGrpSpPr>
        <p:grpSpPr>
          <a:xfrm>
            <a:off x="460360" y="1334894"/>
            <a:ext cx="926724" cy="2745317"/>
            <a:chOff x="460360" y="1334894"/>
            <a:chExt cx="926724" cy="2745317"/>
          </a:xfrm>
        </p:grpSpPr>
        <p:sp>
          <p:nvSpPr>
            <p:cNvPr id="10" name="TextBox 9"/>
            <p:cNvSpPr txBox="1"/>
            <p:nvPr/>
          </p:nvSpPr>
          <p:spPr>
            <a:xfrm>
              <a:off x="522121" y="1334894"/>
              <a:ext cx="803202" cy="2057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1" b="0">
                  <a:solidFill>
                    <a:srgbClr val="263B72"/>
                  </a:solidFill>
                  <a:latin typeface="DejaVu Sans"/>
                </a:rPr>
                <a:t>Input RGB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0360" y="1700784"/>
              <a:ext cx="926724" cy="2379427"/>
            </a:xfrm>
            <a:prstGeom prst="rect">
              <a:avLst/>
            </a:prstGeom>
            <a:solidFill>
              <a:srgbClr val="E6EBF5"/>
            </a:solidFill>
            <a:ln w="8696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2" name="Picture 11" descr="desk_24_g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547" y="1851063"/>
              <a:ext cx="726351" cy="544763"/>
            </a:xfrm>
            <a:prstGeom prst="rect">
              <a:avLst/>
            </a:prstGeom>
          </p:spPr>
        </p:pic>
        <p:pic>
          <p:nvPicPr>
            <p:cNvPr id="13" name="Picture 12" descr="desk_377_g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547" y="2564891"/>
              <a:ext cx="726351" cy="544763"/>
            </a:xfrm>
            <a:prstGeom prst="rect">
              <a:avLst/>
            </a:prstGeom>
          </p:spPr>
        </p:pic>
        <p:pic>
          <p:nvPicPr>
            <p:cNvPr id="14" name="Picture 13" descr="desk_478_g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547" y="3278720"/>
              <a:ext cx="726351" cy="544763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479145" y="1800970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318206" y="1800970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9145" y="1976296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318206" y="1976296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79145" y="2151622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318206" y="2151622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79145" y="2326949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318206" y="2326949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9145" y="2502275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318206" y="2502275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79145" y="2677601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318206" y="2677601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79145" y="2852928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318206" y="2852928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79145" y="3028254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318206" y="3028254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79145" y="3203580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318206" y="3203580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79145" y="3378906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318206" y="3378906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79145" y="3554233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318206" y="3554233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79145" y="3729559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318206" y="3729559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79145" y="3904885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318206" y="3904885"/>
              <a:ext cx="42579" cy="92672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Frozen shared predictor"/>
          <p:cNvGrpSpPr/>
          <p:nvPr/>
        </p:nvGrpSpPr>
        <p:grpSpPr>
          <a:xfrm>
            <a:off x="1775307" y="2051436"/>
            <a:ext cx="1815879" cy="763921"/>
            <a:chOff x="1775307" y="2051436"/>
            <a:chExt cx="1815879" cy="763921"/>
          </a:xfrm>
        </p:grpSpPr>
        <p:sp>
          <p:nvSpPr>
            <p:cNvPr id="41" name="Rounded Rectangle 40"/>
            <p:cNvSpPr/>
            <p:nvPr/>
          </p:nvSpPr>
          <p:spPr>
            <a:xfrm>
              <a:off x="1775307" y="2051436"/>
              <a:ext cx="1815879" cy="763921"/>
            </a:xfrm>
            <a:prstGeom prst="roundRect">
              <a:avLst>
                <a:gd name="adj" fmla="val 14754"/>
              </a:avLst>
            </a:prstGeom>
            <a:solidFill>
              <a:srgbClr val="EDF2FB"/>
            </a:solidFill>
            <a:ln w="15654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979827" y="2199002"/>
              <a:ext cx="1406839" cy="2057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91" b="1">
                  <a:solidFill>
                    <a:srgbClr val="263B72"/>
                  </a:solidFill>
                  <a:latin typeface="DejaVu Sans"/>
                </a:rPr>
                <a:t>Frozen Splatt3R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139515" y="2512572"/>
              <a:ext cx="1087464" cy="1797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40" b="0">
                  <a:solidFill>
                    <a:srgbClr val="263B72"/>
                  </a:solidFill>
                  <a:latin typeface="DejaVu Sans"/>
                </a:rPr>
                <a:t>shared features</a:t>
              </a:r>
            </a:p>
          </p:txBody>
        </p:sp>
      </p:grpSp>
      <p:grpSp>
        <p:nvGrpSpPr>
          <p:cNvPr id="97" name="Pointmap + matches image card"/>
          <p:cNvGrpSpPr/>
          <p:nvPr/>
        </p:nvGrpSpPr>
        <p:grpSpPr>
          <a:xfrm>
            <a:off x="1931848" y="3028254"/>
            <a:ext cx="1502796" cy="1264853"/>
            <a:chOff x="1931848" y="3028254"/>
            <a:chExt cx="1502796" cy="1264853"/>
          </a:xfrm>
        </p:grpSpPr>
        <p:sp>
          <p:nvSpPr>
            <p:cNvPr id="45" name="Rounded Rectangle 44"/>
            <p:cNvSpPr/>
            <p:nvPr/>
          </p:nvSpPr>
          <p:spPr>
            <a:xfrm>
              <a:off x="1931848" y="3028254"/>
              <a:ext cx="1502796" cy="1264853"/>
            </a:xfrm>
            <a:prstGeom prst="roundRect">
              <a:avLst>
                <a:gd name="adj" fmla="val 8910"/>
              </a:avLst>
            </a:prstGeom>
            <a:solidFill>
              <a:srgbClr val="EDF2FB"/>
            </a:solidFill>
            <a:ln w="14784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933240" y="3134006"/>
              <a:ext cx="1500013" cy="18924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95" b="0">
                  <a:solidFill>
                    <a:srgbClr val="263B72"/>
                  </a:solidFill>
                  <a:latin typeface="DejaVu Sans"/>
                </a:rPr>
                <a:t>Pointmap + matches</a:t>
              </a:r>
            </a:p>
          </p:txBody>
        </p:sp>
        <p:pic>
          <p:nvPicPr>
            <p:cNvPr id="47" name="Picture 46" descr="stage_pointmap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8919" y="3403953"/>
              <a:ext cx="1068655" cy="801491"/>
            </a:xfrm>
            <a:prstGeom prst="rect">
              <a:avLst/>
            </a:prstGeom>
          </p:spPr>
        </p:pic>
      </p:grpSp>
      <p:grpSp>
        <p:nvGrpSpPr>
          <p:cNvPr id="98" name="Rendered RGB image card"/>
          <p:cNvGrpSpPr/>
          <p:nvPr/>
        </p:nvGrpSpPr>
        <p:grpSpPr>
          <a:xfrm>
            <a:off x="7335654" y="2452182"/>
            <a:ext cx="1740739" cy="1440180"/>
            <a:chOff x="7335654" y="2452182"/>
            <a:chExt cx="1740739" cy="1440180"/>
          </a:xfrm>
        </p:grpSpPr>
        <p:sp>
          <p:nvSpPr>
            <p:cNvPr id="52" name="Rounded Rectangle 51"/>
            <p:cNvSpPr/>
            <p:nvPr/>
          </p:nvSpPr>
          <p:spPr>
            <a:xfrm>
              <a:off x="7335654" y="2452182"/>
              <a:ext cx="1740739" cy="1440180"/>
            </a:xfrm>
            <a:prstGeom prst="roundRect">
              <a:avLst>
                <a:gd name="adj" fmla="val 7826"/>
              </a:avLst>
            </a:prstGeom>
            <a:solidFill>
              <a:srgbClr val="FFF0ED"/>
            </a:solidFill>
            <a:ln w="14784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681219" y="2557934"/>
              <a:ext cx="1049609" cy="18924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95" b="0">
                  <a:solidFill>
                    <a:srgbClr val="263B72"/>
                  </a:solidFill>
                  <a:latin typeface="DejaVu Sans"/>
                </a:rPr>
                <a:t>Rendered RGB</a:t>
              </a:r>
            </a:p>
          </p:txBody>
        </p:sp>
        <p:pic>
          <p:nvPicPr>
            <p:cNvPr id="54" name="Picture 53" descr="desk_24_ours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54812" y="2827881"/>
              <a:ext cx="1302423" cy="976817"/>
            </a:xfrm>
            <a:prstGeom prst="rect">
              <a:avLst/>
            </a:prstGeom>
          </p:spPr>
        </p:pic>
      </p:grpSp>
      <p:grpSp>
        <p:nvGrpSpPr>
          <p:cNvPr id="99" name="Sampled RGB image card"/>
          <p:cNvGrpSpPr/>
          <p:nvPr/>
        </p:nvGrpSpPr>
        <p:grpSpPr>
          <a:xfrm>
            <a:off x="4630620" y="3616849"/>
            <a:ext cx="1753262" cy="1415133"/>
            <a:chOff x="4630620" y="3616849"/>
            <a:chExt cx="1753262" cy="1415133"/>
          </a:xfrm>
        </p:grpSpPr>
        <p:sp>
          <p:nvSpPr>
            <p:cNvPr id="55" name="Rounded Rectangle 54"/>
            <p:cNvSpPr/>
            <p:nvPr/>
          </p:nvSpPr>
          <p:spPr>
            <a:xfrm>
              <a:off x="4630620" y="3616849"/>
              <a:ext cx="1753262" cy="1415133"/>
            </a:xfrm>
            <a:prstGeom prst="roundRect">
              <a:avLst>
                <a:gd name="adj" fmla="val 7964"/>
              </a:avLst>
            </a:prstGeom>
            <a:solidFill>
              <a:srgbClr val="FFF0ED"/>
            </a:solidFill>
            <a:ln w="14784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08309" y="3722601"/>
              <a:ext cx="997885" cy="18924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95" b="0">
                  <a:solidFill>
                    <a:srgbClr val="263B72"/>
                  </a:solidFill>
                  <a:latin typeface="DejaVu Sans"/>
                </a:rPr>
                <a:t>Sampled RGB</a:t>
              </a:r>
            </a:p>
          </p:txBody>
        </p:sp>
        <p:pic>
          <p:nvPicPr>
            <p:cNvPr id="57" name="Picture 56" descr="desk_24_g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72738" y="3992548"/>
              <a:ext cx="1269028" cy="951771"/>
            </a:xfrm>
            <a:prstGeom prst="rect">
              <a:avLst/>
            </a:prstGeom>
          </p:spPr>
        </p:pic>
      </p:grpSp>
      <p:grpSp>
        <p:nvGrpSpPr>
          <p:cNvPr id="100" name="Photometric loss block"/>
          <p:cNvGrpSpPr/>
          <p:nvPr/>
        </p:nvGrpSpPr>
        <p:grpSpPr>
          <a:xfrm>
            <a:off x="4843517" y="2564891"/>
            <a:ext cx="1828402" cy="726351"/>
            <a:chOff x="4843517" y="2564891"/>
            <a:chExt cx="1828402" cy="726351"/>
          </a:xfrm>
        </p:grpSpPr>
        <p:sp>
          <p:nvSpPr>
            <p:cNvPr id="58" name="Parallelogram 57"/>
            <p:cNvSpPr/>
            <p:nvPr/>
          </p:nvSpPr>
          <p:spPr>
            <a:xfrm>
              <a:off x="4843517" y="2564891"/>
              <a:ext cx="1828402" cy="726351"/>
            </a:xfrm>
            <a:prstGeom prst="parallelogram">
              <a:avLst>
                <a:gd name="adj" fmla="val 24137"/>
              </a:avLst>
            </a:prstGeom>
            <a:solidFill>
              <a:srgbClr val="F5C9C5"/>
            </a:solidFill>
            <a:ln w="15654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06027" y="2704665"/>
              <a:ext cx="1103381" cy="1963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36" b="0">
                  <a:solidFill>
                    <a:srgbClr val="263B72"/>
                  </a:solidFill>
                  <a:latin typeface="DejaVu Sans"/>
                </a:rPr>
                <a:t>Rendering loss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312155" y="3009956"/>
              <a:ext cx="891125" cy="1868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81" b="0">
                  <a:solidFill>
                    <a:srgbClr val="263B72"/>
                  </a:solidFill>
                  <a:latin typeface="DejaVu Sans"/>
                </a:rPr>
                <a:t>L1 + D-SSIM</a:t>
              </a:r>
            </a:p>
          </p:txBody>
        </p:sp>
      </p:grpSp>
      <p:grpSp>
        <p:nvGrpSpPr>
          <p:cNvPr id="101" name="Differentiable renderer bar"/>
          <p:cNvGrpSpPr/>
          <p:nvPr/>
        </p:nvGrpSpPr>
        <p:grpSpPr>
          <a:xfrm>
            <a:off x="8771582" y="2314425"/>
            <a:ext cx="1598963" cy="2830266"/>
            <a:chOff x="8771582" y="2314425"/>
            <a:chExt cx="1598963" cy="2830266"/>
          </a:xfrm>
        </p:grpSpPr>
        <p:sp>
          <p:nvSpPr>
            <p:cNvPr id="61" name="Rounded Rectangle 60"/>
            <p:cNvSpPr/>
            <p:nvPr/>
          </p:nvSpPr>
          <p:spPr>
            <a:xfrm>
              <a:off x="9414523" y="2314425"/>
              <a:ext cx="313082" cy="2830266"/>
            </a:xfrm>
            <a:prstGeom prst="roundRect">
              <a:avLst>
                <a:gd name="adj" fmla="val 35000"/>
              </a:avLst>
            </a:prstGeom>
            <a:solidFill>
              <a:srgbClr val="D9E3F6"/>
            </a:solidFill>
            <a:ln w="13914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 rot="16200000">
              <a:off x="8771582" y="3637304"/>
              <a:ext cx="1598963" cy="1845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68" b="0">
                  <a:solidFill>
                    <a:srgbClr val="263B72"/>
                  </a:solidFill>
                  <a:latin typeface="DejaVu Sans"/>
                </a:rPr>
                <a:t>Differentiable renderer</a:t>
              </a:r>
            </a:p>
          </p:txBody>
        </p:sp>
      </p:grpSp>
      <p:grpSp>
        <p:nvGrpSpPr>
          <p:cNvPr id="102" name="Local Gaussian map store"/>
          <p:cNvGrpSpPr/>
          <p:nvPr/>
        </p:nvGrpSpPr>
        <p:grpSpPr>
          <a:xfrm>
            <a:off x="10090781" y="2214239"/>
            <a:ext cx="1377563" cy="1778309"/>
            <a:chOff x="10090781" y="2214239"/>
            <a:chExt cx="1377563" cy="1778309"/>
          </a:xfrm>
        </p:grpSpPr>
        <p:sp>
          <p:nvSpPr>
            <p:cNvPr id="63" name="Can 62"/>
            <p:cNvSpPr/>
            <p:nvPr/>
          </p:nvSpPr>
          <p:spPr>
            <a:xfrm>
              <a:off x="10090781" y="2214239"/>
              <a:ext cx="1377563" cy="1778309"/>
            </a:xfrm>
            <a:prstGeom prst="can">
              <a:avLst>
                <a:gd name="adj" fmla="val 20000"/>
              </a:avLst>
            </a:prstGeom>
            <a:solidFill>
              <a:srgbClr val="FAE5D5"/>
            </a:solidFill>
            <a:ln w="16523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384544" y="2490587"/>
              <a:ext cx="790037" cy="19870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50" b="0">
                  <a:solidFill>
                    <a:srgbClr val="263B72"/>
                  </a:solidFill>
                  <a:latin typeface="DejaVu Sans"/>
                </a:rPr>
                <a:t>Local map</a:t>
              </a:r>
            </a:p>
          </p:txBody>
        </p:sp>
        <p:pic>
          <p:nvPicPr>
            <p:cNvPr id="65" name="Picture 64" descr="stage_local_gaussians_tight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66294" y="2740218"/>
              <a:ext cx="826538" cy="921158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10549402" y="3719053"/>
              <a:ext cx="460321" cy="1963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136" b="0">
                  <a:solidFill>
                    <a:srgbClr val="B53D38"/>
                  </a:solidFill>
                  <a:latin typeface="DejaVu Sans"/>
                </a:rPr>
                <a:t>Gₖ, θₖ</a:t>
              </a:r>
            </a:p>
          </p:txBody>
        </p:sp>
      </p:grpSp>
      <p:grpSp>
        <p:nvGrpSpPr>
          <p:cNvPr id="103" name="Anchor-relative camera store"/>
          <p:cNvGrpSpPr/>
          <p:nvPr/>
        </p:nvGrpSpPr>
        <p:grpSpPr>
          <a:xfrm>
            <a:off x="10090781" y="4343201"/>
            <a:ext cx="1377563" cy="826538"/>
            <a:chOff x="10090781" y="4343201"/>
            <a:chExt cx="1377563" cy="826538"/>
          </a:xfrm>
        </p:grpSpPr>
        <p:sp>
          <p:nvSpPr>
            <p:cNvPr id="67" name="Can 66"/>
            <p:cNvSpPr/>
            <p:nvPr/>
          </p:nvSpPr>
          <p:spPr>
            <a:xfrm>
              <a:off x="10090781" y="4343201"/>
              <a:ext cx="1377563" cy="826538"/>
            </a:xfrm>
            <a:prstGeom prst="can">
              <a:avLst>
                <a:gd name="adj" fmla="val 21999"/>
              </a:avLst>
            </a:prstGeom>
            <a:solidFill>
              <a:srgbClr val="FAE5D5"/>
            </a:solidFill>
            <a:ln w="16523">
              <a:solidFill>
                <a:srgbClr val="263B7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10316201" y="4567117"/>
              <a:ext cx="188851" cy="203379"/>
            </a:xfrm>
            <a:custGeom>
              <a:avLst/>
              <a:gdLst/>
              <a:ahLst/>
              <a:cxnLst/>
              <a:rect l="l" t="t" r="r" b="b"/>
              <a:pathLst>
                <a:path w="188851" h="203379">
                  <a:moveTo>
                    <a:pt x="0" y="101690"/>
                  </a:moveTo>
                  <a:lnTo>
                    <a:pt x="188851" y="0"/>
                  </a:lnTo>
                  <a:lnTo>
                    <a:pt x="188851" y="203379"/>
                  </a:lnTo>
                  <a:lnTo>
                    <a:pt x="0" y="101690"/>
                  </a:lnTo>
                </a:path>
              </a:pathLst>
            </a:custGeom>
            <a:noFill/>
            <a:ln w="13914">
              <a:solidFill>
                <a:srgbClr val="24559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10505052" y="4523536"/>
              <a:ext cx="101689" cy="290541"/>
            </a:xfrm>
            <a:custGeom>
              <a:avLst/>
              <a:gdLst/>
              <a:ahLst/>
              <a:cxnLst/>
              <a:rect l="l" t="t" r="r" b="b"/>
              <a:pathLst>
                <a:path w="101689" h="290541">
                  <a:moveTo>
                    <a:pt x="0" y="43581"/>
                  </a:moveTo>
                  <a:lnTo>
                    <a:pt x="101689" y="0"/>
                  </a:lnTo>
                  <a:lnTo>
                    <a:pt x="101689" y="290541"/>
                  </a:lnTo>
                  <a:lnTo>
                    <a:pt x="0" y="246960"/>
                  </a:lnTo>
                </a:path>
              </a:pathLst>
            </a:custGeom>
            <a:noFill/>
            <a:ln w="10436">
              <a:solidFill>
                <a:srgbClr val="24559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10917319" y="4567117"/>
              <a:ext cx="188852" cy="203379"/>
            </a:xfrm>
            <a:custGeom>
              <a:avLst/>
              <a:gdLst/>
              <a:ahLst/>
              <a:cxnLst/>
              <a:rect l="l" t="t" r="r" b="b"/>
              <a:pathLst>
                <a:path w="188852" h="203379">
                  <a:moveTo>
                    <a:pt x="0" y="101690"/>
                  </a:moveTo>
                  <a:lnTo>
                    <a:pt x="188852" y="0"/>
                  </a:lnTo>
                  <a:lnTo>
                    <a:pt x="188852" y="203379"/>
                  </a:lnTo>
                  <a:lnTo>
                    <a:pt x="0" y="101690"/>
                  </a:lnTo>
                </a:path>
              </a:pathLst>
            </a:custGeom>
            <a:noFill/>
            <a:ln w="13914">
              <a:solidFill>
                <a:srgbClr val="24559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11106171" y="4523536"/>
              <a:ext cx="101689" cy="290541"/>
            </a:xfrm>
            <a:custGeom>
              <a:avLst/>
              <a:gdLst/>
              <a:ahLst/>
              <a:cxnLst/>
              <a:rect l="l" t="t" r="r" b="b"/>
              <a:pathLst>
                <a:path w="101689" h="290541">
                  <a:moveTo>
                    <a:pt x="0" y="43581"/>
                  </a:moveTo>
                  <a:lnTo>
                    <a:pt x="101689" y="0"/>
                  </a:lnTo>
                  <a:lnTo>
                    <a:pt x="101689" y="290541"/>
                  </a:lnTo>
                  <a:lnTo>
                    <a:pt x="0" y="246960"/>
                  </a:lnTo>
                </a:path>
              </a:pathLst>
            </a:custGeom>
            <a:noFill/>
            <a:ln w="10436">
              <a:solidFill>
                <a:srgbClr val="24559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304706" y="4890817"/>
              <a:ext cx="949712" cy="1821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4" b="0">
                  <a:solidFill>
                    <a:srgbClr val="263B72"/>
                  </a:solidFill>
                  <a:latin typeface="DejaVu Sans"/>
                </a:rPr>
                <a:t>RGB cameras</a:t>
              </a:r>
            </a:p>
          </p:txBody>
        </p:sp>
      </p:grpSp>
      <p:grpSp>
        <p:nvGrpSpPr>
          <p:cNvPr id="104" name="Shared anchor"/>
          <p:cNvGrpSpPr/>
          <p:nvPr/>
        </p:nvGrpSpPr>
        <p:grpSpPr>
          <a:xfrm>
            <a:off x="7460887" y="4405817"/>
            <a:ext cx="1728216" cy="576072"/>
            <a:chOff x="7460887" y="4405817"/>
            <a:chExt cx="1728216" cy="576072"/>
          </a:xfrm>
        </p:grpSpPr>
        <p:sp>
          <p:nvSpPr>
            <p:cNvPr id="73" name="Rounded Rectangle 72"/>
            <p:cNvSpPr/>
            <p:nvPr/>
          </p:nvSpPr>
          <p:spPr>
            <a:xfrm>
              <a:off x="7460887" y="4405817"/>
              <a:ext cx="1728216" cy="576072"/>
            </a:xfrm>
            <a:prstGeom prst="roundRect">
              <a:avLst>
                <a:gd name="adj" fmla="val 19565"/>
              </a:avLst>
            </a:prstGeom>
            <a:solidFill>
              <a:srgbClr val="FFF0ED"/>
            </a:solidFill>
            <a:ln w="23481">
              <a:solidFill>
                <a:srgbClr val="B53D3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7655401" y="4511570"/>
              <a:ext cx="1339189" cy="18924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95" b="1">
                  <a:solidFill>
                    <a:srgbClr val="B53D38"/>
                  </a:solidFill>
                  <a:latin typeface="DejaVu Sans"/>
                </a:rPr>
                <a:t>Shared anchor k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707508" y="4746451"/>
              <a:ext cx="1234973" cy="1703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986" b="0">
                  <a:solidFill>
                    <a:srgbClr val="B53D38"/>
                  </a:solidFill>
                  <a:latin typeface="DejaVu Sans"/>
                </a:rPr>
                <a:t>one pose snapshot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83925" y="388065"/>
            <a:ext cx="3823844" cy="198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0282C"/>
                </a:solidFill>
                <a:latin typeface="DejaVu Sans"/>
              </a:rPr>
              <a:t>Real-data reconstruction and matched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73826" y="735298"/>
            <a:ext cx="867684" cy="1739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6" b="0">
                <a:solidFill>
                  <a:srgbClr val="20282C"/>
                </a:solidFill>
                <a:latin typeface="DejaVu Sans"/>
              </a:rPr>
              <a:t>Ground truth</a:t>
            </a:r>
          </a:p>
        </p:txBody>
      </p:sp>
      <p:pic>
        <p:nvPicPr>
          <p:cNvPr id="4" name="Picture 3" descr="desk_24_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72" y="1013577"/>
            <a:ext cx="2029792" cy="15223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62546" y="1955527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8419" y="1963233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02815" y="1140439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8688" y="1148145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507" y="735298"/>
            <a:ext cx="801227" cy="1739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6" b="0">
                <a:solidFill>
                  <a:srgbClr val="20282C"/>
                </a:solidFill>
                <a:latin typeface="DejaVu Sans"/>
              </a:rPr>
              <a:t>Photo-SLAM</a:t>
            </a:r>
          </a:p>
        </p:txBody>
      </p:sp>
      <p:pic>
        <p:nvPicPr>
          <p:cNvPr id="10" name="Picture 9" descr="desk_24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225" y="1013577"/>
            <a:ext cx="2029792" cy="152234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87999" y="1955527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872" y="1963233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267" y="1140439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4140" y="1148145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4450" y="735298"/>
            <a:ext cx="568247" cy="1739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6" b="0">
                <a:solidFill>
                  <a:srgbClr val="20282C"/>
                </a:solidFill>
                <a:latin typeface="DejaVu Sans"/>
              </a:rPr>
              <a:t>MonoGS</a:t>
            </a:r>
          </a:p>
        </p:txBody>
      </p:sp>
      <p:pic>
        <p:nvPicPr>
          <p:cNvPr id="16" name="Picture 15" descr="desk_24_m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77" y="1013577"/>
            <a:ext cx="2029792" cy="152234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13451" y="1955527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324" y="1963233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53720" y="1140439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9592" y="1148145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0388" y="735298"/>
            <a:ext cx="347276" cy="1739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6" b="0">
                <a:solidFill>
                  <a:srgbClr val="167568"/>
                </a:solidFill>
                <a:latin typeface="DejaVu Sans"/>
              </a:rPr>
              <a:t>Ours</a:t>
            </a:r>
          </a:p>
        </p:txBody>
      </p:sp>
      <p:pic>
        <p:nvPicPr>
          <p:cNvPr id="22" name="Picture 21" descr="desk_24_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130" y="1013577"/>
            <a:ext cx="2029792" cy="152234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338904" y="1955527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4776" y="1963233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9172" y="1140439"/>
            <a:ext cx="507448" cy="380586"/>
          </a:xfrm>
          <a:prstGeom prst="rect">
            <a:avLst/>
          </a:prstGeom>
          <a:noFill/>
          <a:ln w="11625">
            <a:solidFill>
              <a:srgbClr val="AA77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5045" y="1148145"/>
            <a:ext cx="334811" cy="1400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AA772C"/>
                </a:solidFill>
                <a:latin typeface="DejaVu Sans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92772" y="2663717"/>
            <a:ext cx="8406149" cy="203278"/>
          </a:xfrm>
          <a:prstGeom prst="rect">
            <a:avLst/>
          </a:prstGeom>
          <a:solidFill>
            <a:srgbClr val="F0F3F4"/>
          </a:solidFill>
          <a:ln>
            <a:solidFill>
              <a:srgbClr val="F0F3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3157" y="2685174"/>
            <a:ext cx="3585379" cy="160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59636A"/>
                </a:solidFill>
                <a:latin typeface="DejaVu Sans"/>
              </a:rPr>
              <a:t>Detail crops — method names are shown below each image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2071" y="4031062"/>
            <a:ext cx="2807552" cy="182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9" b="1">
                <a:solidFill>
                  <a:srgbClr val="20282C"/>
                </a:solidFill>
                <a:latin typeface="DejaVu Sans"/>
              </a:rPr>
              <a:t>Additional real-data reconstructions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34303" y="4311732"/>
            <a:ext cx="830331" cy="1716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3" b="0">
                <a:solidFill>
                  <a:srgbClr val="376687"/>
                </a:solidFill>
                <a:latin typeface="DejaVu Sans"/>
              </a:rPr>
              <a:t>TUM fr1/360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05303" y="4616317"/>
            <a:ext cx="804731" cy="160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20282C"/>
                </a:solidFill>
                <a:latin typeface="DejaVu Sans"/>
              </a:rPr>
              <a:t>Ground truth</a:t>
            </a:r>
          </a:p>
        </p:txBody>
      </p:sp>
      <p:pic>
        <p:nvPicPr>
          <p:cNvPr id="64" name="Picture 63" descr="extra_360_g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772" y="4911734"/>
            <a:ext cx="2029792" cy="152234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865715" y="4616317"/>
            <a:ext cx="334811" cy="160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167568"/>
                </a:solidFill>
                <a:latin typeface="DejaVu Sans"/>
              </a:rPr>
              <a:t>Ours</a:t>
            </a:r>
          </a:p>
        </p:txBody>
      </p:sp>
      <p:pic>
        <p:nvPicPr>
          <p:cNvPr id="66" name="Picture 65" descr="extra_360_ou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8225" y="4911734"/>
            <a:ext cx="2029792" cy="152234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827355" y="4311732"/>
            <a:ext cx="829740" cy="1716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3" b="0">
                <a:solidFill>
                  <a:srgbClr val="376687"/>
                </a:solidFill>
                <a:latin typeface="DejaVu Sans"/>
              </a:rPr>
              <a:t>ETH3D table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56207" y="4616317"/>
            <a:ext cx="804731" cy="160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20282C"/>
                </a:solidFill>
                <a:latin typeface="DejaVu Sans"/>
              </a:rPr>
              <a:t>Ground truth</a:t>
            </a:r>
          </a:p>
        </p:txBody>
      </p:sp>
      <p:pic>
        <p:nvPicPr>
          <p:cNvPr id="69" name="Picture 68" descr="extra_table_g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77" y="4911734"/>
            <a:ext cx="2029792" cy="152234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16620" y="4616317"/>
            <a:ext cx="334811" cy="1603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28" b="0">
                <a:solidFill>
                  <a:srgbClr val="167568"/>
                </a:solidFill>
                <a:latin typeface="DejaVu Sans"/>
              </a:rPr>
              <a:t>Ours</a:t>
            </a:r>
          </a:p>
        </p:txBody>
      </p:sp>
      <p:pic>
        <p:nvPicPr>
          <p:cNvPr id="71" name="Picture 70" descr="extra_table_ou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9130" y="4911734"/>
            <a:ext cx="2029792" cy="1522344"/>
          </a:xfrm>
          <a:prstGeom prst="rect">
            <a:avLst/>
          </a:prstGeom>
        </p:spPr>
      </p:pic>
      <p:grpSp>
        <p:nvGrpSpPr>
          <p:cNvPr id="72" name="Detail 1: Ground truth (display slot gt)"/>
          <p:cNvGrpSpPr/>
          <p:nvPr/>
        </p:nvGrpSpPr>
        <p:grpSpPr>
          <a:xfrm>
            <a:off x="1892772" y="2938740"/>
            <a:ext cx="979023" cy="937736"/>
            <a:chOff x="1892772" y="2938740"/>
            <a:chExt cx="979023" cy="937736"/>
          </a:xfrm>
        </p:grpSpPr>
        <p:pic>
          <p:nvPicPr>
            <p:cNvPr id="29" name="Picture 28" descr="desk_24_gt.png"/>
            <p:cNvPicPr>
              <a:picLocks noChangeAspect="1"/>
            </p:cNvPicPr>
            <p:nvPr/>
          </p:nvPicPr>
          <p:blipFill>
            <a:blip r:embed="rId2"/>
            <a:srcRect l="3438" r="71562" t="61875" b="13125"/>
            <a:stretch>
              <a:fillRect/>
            </a:stretch>
          </p:blipFill>
          <p:spPr>
            <a:xfrm>
              <a:off x="1892772" y="2938740"/>
              <a:ext cx="979023" cy="734267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1892772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934624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175139" y="3722889"/>
              <a:ext cx="414289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20282C"/>
                  </a:solidFill>
                  <a:latin typeface="DejaVu Sans"/>
                </a:rPr>
                <a:t>1 · GT</a:t>
              </a:r>
            </a:p>
          </p:txBody>
        </p:sp>
      </p:grpSp>
      <p:grpSp>
        <p:nvGrpSpPr>
          <p:cNvPr id="73" name="Detail 2: Ground truth (display slot gt)"/>
          <p:cNvGrpSpPr/>
          <p:nvPr/>
        </p:nvGrpSpPr>
        <p:grpSpPr>
          <a:xfrm>
            <a:off x="2943541" y="2938740"/>
            <a:ext cx="979023" cy="937736"/>
            <a:chOff x="2943541" y="2938740"/>
            <a:chExt cx="979023" cy="937736"/>
          </a:xfrm>
        </p:grpSpPr>
        <p:pic>
          <p:nvPicPr>
            <p:cNvPr id="33" name="Picture 32" descr="desk_24_gt.png"/>
            <p:cNvPicPr>
              <a:picLocks noChangeAspect="1"/>
            </p:cNvPicPr>
            <p:nvPr/>
          </p:nvPicPr>
          <p:blipFill>
            <a:blip r:embed="rId2"/>
            <a:srcRect l="54688" r="20312" t="8333" b="66667"/>
            <a:stretch>
              <a:fillRect/>
            </a:stretch>
          </p:blipFill>
          <p:spPr>
            <a:xfrm>
              <a:off x="2943541" y="2938740"/>
              <a:ext cx="979023" cy="734267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2943541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985392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224002" y="3722889"/>
              <a:ext cx="418100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20282C"/>
                  </a:solidFill>
                  <a:latin typeface="DejaVu Sans"/>
                </a:rPr>
                <a:t>2 · GT</a:t>
              </a:r>
            </a:p>
          </p:txBody>
        </p:sp>
      </p:grpSp>
      <p:grpSp>
        <p:nvGrpSpPr>
          <p:cNvPr id="74" name="Detail 1: Photo-SLAM (display slot photo)"/>
          <p:cNvGrpSpPr/>
          <p:nvPr/>
        </p:nvGrpSpPr>
        <p:grpSpPr>
          <a:xfrm>
            <a:off x="4003245" y="2938740"/>
            <a:ext cx="1008983" cy="937736"/>
            <a:chOff x="4003245" y="2938740"/>
            <a:chExt cx="1008983" cy="937736"/>
          </a:xfrm>
        </p:grpSpPr>
        <p:pic>
          <p:nvPicPr>
            <p:cNvPr id="37" name="Picture 36" descr="desk_24_photo.png"/>
            <p:cNvPicPr>
              <a:picLocks noChangeAspect="1"/>
            </p:cNvPicPr>
            <p:nvPr/>
          </p:nvPicPr>
          <p:blipFill>
            <a:blip r:embed="rId3"/>
            <a:srcRect l="3438" r="71562" t="61875" b="13125"/>
            <a:stretch>
              <a:fillRect/>
            </a:stretch>
          </p:blipFill>
          <p:spPr>
            <a:xfrm>
              <a:off x="4018225" y="2938740"/>
              <a:ext cx="979023" cy="734267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4018225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60076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03245" y="3722889"/>
              <a:ext cx="1008983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20282C"/>
                  </a:solidFill>
                  <a:latin typeface="DejaVu Sans"/>
                </a:rPr>
                <a:t>1 · Photo-SLAM</a:t>
              </a:r>
            </a:p>
          </p:txBody>
        </p:sp>
      </p:grpSp>
      <p:grpSp>
        <p:nvGrpSpPr>
          <p:cNvPr id="75" name="Detail 2: Ours (display slot photo)"/>
          <p:cNvGrpSpPr/>
          <p:nvPr/>
        </p:nvGrpSpPr>
        <p:grpSpPr>
          <a:xfrm>
            <a:off x="5068993" y="2938740"/>
            <a:ext cx="979023" cy="937736"/>
            <a:chOff x="5068993" y="2938740"/>
            <a:chExt cx="979023" cy="937736"/>
          </a:xfrm>
        </p:grpSpPr>
        <p:pic>
          <p:nvPicPr>
            <p:cNvPr id="41" name="Picture 40" descr="desk_24_ours.png"/>
            <p:cNvPicPr>
              <a:picLocks noChangeAspect="1"/>
            </p:cNvPicPr>
            <p:nvPr/>
          </p:nvPicPr>
          <p:blipFill>
            <a:blip r:embed="rId5"/>
            <a:srcRect l="54688" r="20312" t="8333" b="66667"/>
            <a:stretch>
              <a:fillRect/>
            </a:stretch>
          </p:blipFill>
          <p:spPr>
            <a:xfrm>
              <a:off x="5068993" y="2938740"/>
              <a:ext cx="979023" cy="734267"/>
            </a:xfrm>
            <a:prstGeom prst="rect">
              <a:avLst/>
            </a:prstGeom>
          </p:spPr>
        </p:pic>
        <p:sp>
          <p:nvSpPr>
            <p:cNvPr id="42" name="Rectangle 41"/>
            <p:cNvSpPr/>
            <p:nvPr/>
          </p:nvSpPr>
          <p:spPr>
            <a:xfrm>
              <a:off x="5068993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10845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286045" y="3722889"/>
              <a:ext cx="544920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167568"/>
                  </a:solidFill>
                  <a:latin typeface="DejaVu Sans"/>
                </a:rPr>
                <a:t>2 · Ours</a:t>
              </a:r>
            </a:p>
          </p:txBody>
        </p:sp>
      </p:grpSp>
      <p:grpSp>
        <p:nvGrpSpPr>
          <p:cNvPr id="76" name="Detail 1: MonoGS (display slot mono)"/>
          <p:cNvGrpSpPr/>
          <p:nvPr/>
        </p:nvGrpSpPr>
        <p:grpSpPr>
          <a:xfrm>
            <a:off x="6143677" y="2938740"/>
            <a:ext cx="979023" cy="937736"/>
            <a:chOff x="6143677" y="2938740"/>
            <a:chExt cx="979023" cy="937736"/>
          </a:xfrm>
        </p:grpSpPr>
        <p:pic>
          <p:nvPicPr>
            <p:cNvPr id="45" name="Picture 44" descr="desk_24_mono.png"/>
            <p:cNvPicPr>
              <a:picLocks noChangeAspect="1"/>
            </p:cNvPicPr>
            <p:nvPr/>
          </p:nvPicPr>
          <p:blipFill>
            <a:blip r:embed="rId4"/>
            <a:srcRect l="3438" r="71562" t="61875" b="13125"/>
            <a:stretch>
              <a:fillRect/>
            </a:stretch>
          </p:blipFill>
          <p:spPr>
            <a:xfrm>
              <a:off x="6143677" y="2938740"/>
              <a:ext cx="979023" cy="734267"/>
            </a:xfrm>
            <a:prstGeom prst="rect">
              <a:avLst/>
            </a:prstGeom>
          </p:spPr>
        </p:pic>
        <p:sp>
          <p:nvSpPr>
            <p:cNvPr id="46" name="Rectangle 45"/>
            <p:cNvSpPr/>
            <p:nvPr/>
          </p:nvSpPr>
          <p:spPr>
            <a:xfrm>
              <a:off x="6143677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185529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52755" y="3722889"/>
              <a:ext cx="760867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20282C"/>
                  </a:solidFill>
                  <a:latin typeface="DejaVu Sans"/>
                </a:rPr>
                <a:t>1 · MonoGS</a:t>
              </a:r>
            </a:p>
          </p:txBody>
        </p:sp>
      </p:grpSp>
      <p:grpSp>
        <p:nvGrpSpPr>
          <p:cNvPr id="77" name="Detail 2: MonoGS (display slot mono)"/>
          <p:cNvGrpSpPr/>
          <p:nvPr/>
        </p:nvGrpSpPr>
        <p:grpSpPr>
          <a:xfrm>
            <a:off x="7194446" y="2938740"/>
            <a:ext cx="979023" cy="937736"/>
            <a:chOff x="7194446" y="2938740"/>
            <a:chExt cx="979023" cy="937736"/>
          </a:xfrm>
        </p:grpSpPr>
        <p:pic>
          <p:nvPicPr>
            <p:cNvPr id="49" name="Picture 48" descr="desk_24_mono.png"/>
            <p:cNvPicPr>
              <a:picLocks noChangeAspect="1"/>
            </p:cNvPicPr>
            <p:nvPr/>
          </p:nvPicPr>
          <p:blipFill>
            <a:blip r:embed="rId4"/>
            <a:srcRect l="54688" r="20312" t="8333" b="66667"/>
            <a:stretch>
              <a:fillRect/>
            </a:stretch>
          </p:blipFill>
          <p:spPr>
            <a:xfrm>
              <a:off x="7194446" y="2938740"/>
              <a:ext cx="979023" cy="734267"/>
            </a:xfrm>
            <a:prstGeom prst="rect">
              <a:avLst/>
            </a:prstGeom>
          </p:spPr>
        </p:pic>
        <p:sp>
          <p:nvSpPr>
            <p:cNvPr id="50" name="Rectangle 49"/>
            <p:cNvSpPr/>
            <p:nvPr/>
          </p:nvSpPr>
          <p:spPr>
            <a:xfrm>
              <a:off x="7194446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236297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301618" y="3722889"/>
              <a:ext cx="764679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20282C"/>
                  </a:solidFill>
                  <a:latin typeface="DejaVu Sans"/>
                </a:rPr>
                <a:t>2 · MonoGS</a:t>
              </a:r>
            </a:p>
          </p:txBody>
        </p:sp>
      </p:grpSp>
      <p:grpSp>
        <p:nvGrpSpPr>
          <p:cNvPr id="78" name="Detail 1: Ours (display slot ours)"/>
          <p:cNvGrpSpPr/>
          <p:nvPr/>
        </p:nvGrpSpPr>
        <p:grpSpPr>
          <a:xfrm>
            <a:off x="8269130" y="2938740"/>
            <a:ext cx="979023" cy="937736"/>
            <a:chOff x="8269130" y="2938740"/>
            <a:chExt cx="979023" cy="937736"/>
          </a:xfrm>
        </p:grpSpPr>
        <p:pic>
          <p:nvPicPr>
            <p:cNvPr id="53" name="Picture 52" descr="desk_24_ours.png"/>
            <p:cNvPicPr>
              <a:picLocks noChangeAspect="1"/>
            </p:cNvPicPr>
            <p:nvPr/>
          </p:nvPicPr>
          <p:blipFill>
            <a:blip r:embed="rId5"/>
            <a:srcRect l="3438" r="71562" t="61875" b="13125"/>
            <a:stretch>
              <a:fillRect/>
            </a:stretch>
          </p:blipFill>
          <p:spPr>
            <a:xfrm>
              <a:off x="8269130" y="2938740"/>
              <a:ext cx="979023" cy="734267"/>
            </a:xfrm>
            <a:prstGeom prst="rect">
              <a:avLst/>
            </a:prstGeom>
          </p:spPr>
        </p:pic>
        <p:sp>
          <p:nvSpPr>
            <p:cNvPr id="54" name="Rectangle 53"/>
            <p:cNvSpPr/>
            <p:nvPr/>
          </p:nvSpPr>
          <p:spPr>
            <a:xfrm>
              <a:off x="8269130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10981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488087" y="3722889"/>
              <a:ext cx="541108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167568"/>
                  </a:solidFill>
                  <a:latin typeface="DejaVu Sans"/>
                </a:rPr>
                <a:t>1 · Ours</a:t>
              </a:r>
            </a:p>
          </p:txBody>
        </p:sp>
      </p:grpSp>
      <p:grpSp>
        <p:nvGrpSpPr>
          <p:cNvPr id="79" name="Detail 2: Photo-SLAM (display slot ours)"/>
          <p:cNvGrpSpPr/>
          <p:nvPr/>
        </p:nvGrpSpPr>
        <p:grpSpPr>
          <a:xfrm>
            <a:off x="9303013" y="2938740"/>
            <a:ext cx="1012795" cy="937736"/>
            <a:chOff x="9303013" y="2938740"/>
            <a:chExt cx="1012795" cy="937736"/>
          </a:xfrm>
        </p:grpSpPr>
        <p:pic>
          <p:nvPicPr>
            <p:cNvPr id="57" name="Picture 56" descr="desk_24_photo.png"/>
            <p:cNvPicPr>
              <a:picLocks noChangeAspect="1"/>
            </p:cNvPicPr>
            <p:nvPr/>
          </p:nvPicPr>
          <p:blipFill>
            <a:blip r:embed="rId3"/>
            <a:srcRect l="54688" r="20312" t="8333" b="66667"/>
            <a:stretch>
              <a:fillRect/>
            </a:stretch>
          </p:blipFill>
          <p:spPr>
            <a:xfrm>
              <a:off x="9319898" y="2938740"/>
              <a:ext cx="979023" cy="734267"/>
            </a:xfrm>
            <a:prstGeom prst="rect">
              <a:avLst/>
            </a:prstGeom>
          </p:spPr>
        </p:pic>
        <p:sp>
          <p:nvSpPr>
            <p:cNvPr id="58" name="Rectangle 57"/>
            <p:cNvSpPr/>
            <p:nvPr/>
          </p:nvSpPr>
          <p:spPr>
            <a:xfrm>
              <a:off x="9319898" y="2938740"/>
              <a:ext cx="979023" cy="734267"/>
            </a:xfrm>
            <a:prstGeom prst="rect">
              <a:avLst/>
            </a:prstGeom>
            <a:noFill/>
            <a:ln w="10795">
              <a:solidFill>
                <a:srgbClr val="AA772C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9361750" y="2952425"/>
              <a:ext cx="334811" cy="14003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10" b="1">
                  <a:solidFill>
                    <a:srgbClr val="AA772C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303013" y="3722889"/>
              <a:ext cx="1012795" cy="1535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889" b="1">
                  <a:solidFill>
                    <a:srgbClr val="20282C"/>
                  </a:solidFill>
                  <a:latin typeface="DejaVu Sans"/>
                </a:rPr>
                <a:t>2 · Photo-SLAM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Splatt3R-SLAM — current paper figures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